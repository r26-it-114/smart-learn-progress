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</p:sldIdLst>
  <p:sldSz cx="18288000" cy="10287000"/>
  <p:notesSz cx="6858000" cy="9144000"/>
  <p:embeddedFontLst>
    <p:embeddedFont>
      <p:font typeface="Arimo" panose="020B0604020202020204" pitchFamily="34" charset="0"/>
      <p:regular r:id="rId26"/>
    </p:embeddedFont>
    <p:embeddedFont>
      <p:font typeface="Arimo Bold" panose="020B0704020202020204" pitchFamily="34" charset="0"/>
      <p:regular r:id="rId27"/>
      <p:bold r:id="rId28"/>
    </p:embeddedFont>
    <p:embeddedFont>
      <p:font typeface="Gram Bold" pitchFamily="2" charset="0"/>
      <p:regular r:id="rId29"/>
      <p:bold r:id="rId30"/>
    </p:embeddedFont>
    <p:embeddedFont>
      <p:font typeface="Helios" panose="020B0504020202020204" pitchFamily="34" charset="0"/>
      <p:regular r:id="rId31"/>
    </p:embeddedFont>
    <p:embeddedFont>
      <p:font typeface="Helios Bold" panose="020B0704020202020204" pitchFamily="34" charset="0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 autoAdjust="0"/>
    <p:restoredTop sz="94610" autoAdjust="0"/>
  </p:normalViewPr>
  <p:slideViewPr>
    <p:cSldViewPr>
      <p:cViewPr>
        <p:scale>
          <a:sx n="74" d="100"/>
          <a:sy n="74" d="100"/>
        </p:scale>
        <p:origin x="1464" y="9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jpe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377009" y="1338457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8100000">
            <a:off x="6124705" y="8674244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7" name="Group 7"/>
          <p:cNvGrpSpPr/>
          <p:nvPr/>
        </p:nvGrpSpPr>
        <p:grpSpPr>
          <a:xfrm rot="-2700000">
            <a:off x="8380054" y="7730212"/>
            <a:ext cx="5776308" cy="3366163"/>
            <a:chOff x="0" y="0"/>
            <a:chExt cx="1721191" cy="10030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21191" cy="1003030"/>
            </a:xfrm>
            <a:custGeom>
              <a:avLst/>
              <a:gdLst/>
              <a:ahLst/>
              <a:cxnLst/>
              <a:rect l="l" t="t" r="r" b="b"/>
              <a:pathLst>
                <a:path w="1721191" h="1003030">
                  <a:moveTo>
                    <a:pt x="0" y="0"/>
                  </a:moveTo>
                  <a:lnTo>
                    <a:pt x="1721191" y="0"/>
                  </a:lnTo>
                  <a:lnTo>
                    <a:pt x="1721191" y="1003030"/>
                  </a:lnTo>
                  <a:lnTo>
                    <a:pt x="0" y="1003030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721191" cy="1050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2700000">
            <a:off x="4526162" y="-302985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1" name="Group 11"/>
          <p:cNvGrpSpPr/>
          <p:nvPr/>
        </p:nvGrpSpPr>
        <p:grpSpPr>
          <a:xfrm rot="-8100000">
            <a:off x="7037046" y="-1748062"/>
            <a:ext cx="4007001" cy="2511321"/>
            <a:chOff x="0" y="0"/>
            <a:chExt cx="1193983" cy="7483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93983" cy="748309"/>
            </a:xfrm>
            <a:custGeom>
              <a:avLst/>
              <a:gdLst/>
              <a:ahLst/>
              <a:cxnLst/>
              <a:rect l="l" t="t" r="r" b="b"/>
              <a:pathLst>
                <a:path w="1193983" h="748309">
                  <a:moveTo>
                    <a:pt x="0" y="0"/>
                  </a:moveTo>
                  <a:lnTo>
                    <a:pt x="1193983" y="0"/>
                  </a:lnTo>
                  <a:lnTo>
                    <a:pt x="1193983" y="748309"/>
                  </a:lnTo>
                  <a:lnTo>
                    <a:pt x="0" y="748309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193983" cy="795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2700000">
            <a:off x="11627109" y="-3237042"/>
            <a:ext cx="10830820" cy="10723057"/>
            <a:chOff x="0" y="0"/>
            <a:chExt cx="2035474" cy="20152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5474" cy="2015221"/>
            </a:xfrm>
            <a:custGeom>
              <a:avLst/>
              <a:gdLst/>
              <a:ahLst/>
              <a:cxnLst/>
              <a:rect l="l" t="t" r="r" b="b"/>
              <a:pathLst>
                <a:path w="2035474" h="2015221">
                  <a:moveTo>
                    <a:pt x="71480" y="0"/>
                  </a:moveTo>
                  <a:lnTo>
                    <a:pt x="1963993" y="0"/>
                  </a:lnTo>
                  <a:cubicBezTo>
                    <a:pt x="1982951" y="0"/>
                    <a:pt x="2001132" y="7531"/>
                    <a:pt x="2014538" y="20936"/>
                  </a:cubicBezTo>
                  <a:cubicBezTo>
                    <a:pt x="2027943" y="34341"/>
                    <a:pt x="2035474" y="52523"/>
                    <a:pt x="2035474" y="71480"/>
                  </a:cubicBezTo>
                  <a:lnTo>
                    <a:pt x="2035474" y="1943741"/>
                  </a:lnTo>
                  <a:cubicBezTo>
                    <a:pt x="2035474" y="1962699"/>
                    <a:pt x="2027943" y="1980880"/>
                    <a:pt x="2014538" y="1994285"/>
                  </a:cubicBezTo>
                  <a:cubicBezTo>
                    <a:pt x="2001132" y="2007690"/>
                    <a:pt x="1982951" y="2015221"/>
                    <a:pt x="1963993" y="2015221"/>
                  </a:cubicBezTo>
                  <a:lnTo>
                    <a:pt x="71480" y="2015221"/>
                  </a:lnTo>
                  <a:cubicBezTo>
                    <a:pt x="52523" y="2015221"/>
                    <a:pt x="34341" y="2007690"/>
                    <a:pt x="20936" y="1994285"/>
                  </a:cubicBezTo>
                  <a:cubicBezTo>
                    <a:pt x="7531" y="1980880"/>
                    <a:pt x="0" y="1962699"/>
                    <a:pt x="0" y="1943741"/>
                  </a:cubicBezTo>
                  <a:lnTo>
                    <a:pt x="0" y="71480"/>
                  </a:lnTo>
                  <a:cubicBezTo>
                    <a:pt x="0" y="52523"/>
                    <a:pt x="7531" y="34341"/>
                    <a:pt x="20936" y="20936"/>
                  </a:cubicBezTo>
                  <a:cubicBezTo>
                    <a:pt x="34341" y="7531"/>
                    <a:pt x="52523" y="0"/>
                    <a:pt x="7148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035474" cy="2062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93408" y="-2097367"/>
            <a:ext cx="10136472" cy="10136472"/>
            <a:chOff x="18711" y="40659"/>
            <a:chExt cx="775377" cy="775377"/>
          </a:xfrm>
        </p:grpSpPr>
        <p:sp>
          <p:nvSpPr>
            <p:cNvPr id="18" name="Freeform 18"/>
            <p:cNvSpPr/>
            <p:nvPr/>
          </p:nvSpPr>
          <p:spPr>
            <a:xfrm>
              <a:off x="18711" y="40659"/>
              <a:ext cx="775377" cy="775377"/>
            </a:xfrm>
            <a:custGeom>
              <a:avLst/>
              <a:gdLst/>
              <a:ahLst/>
              <a:cxnLst/>
              <a:rect l="l" t="t" r="r" b="b"/>
              <a:pathLst>
                <a:path w="775377" h="775377">
                  <a:moveTo>
                    <a:pt x="419631" y="13231"/>
                  </a:moveTo>
                  <a:lnTo>
                    <a:pt x="762147" y="355747"/>
                  </a:lnTo>
                  <a:cubicBezTo>
                    <a:pt x="770618" y="364218"/>
                    <a:pt x="775378" y="375708"/>
                    <a:pt x="775378" y="387689"/>
                  </a:cubicBezTo>
                  <a:cubicBezTo>
                    <a:pt x="775378" y="399670"/>
                    <a:pt x="770618" y="411160"/>
                    <a:pt x="762147" y="419631"/>
                  </a:cubicBezTo>
                  <a:lnTo>
                    <a:pt x="419631" y="762147"/>
                  </a:lnTo>
                  <a:cubicBezTo>
                    <a:pt x="411160" y="770618"/>
                    <a:pt x="399670" y="775378"/>
                    <a:pt x="387689" y="775378"/>
                  </a:cubicBezTo>
                  <a:cubicBezTo>
                    <a:pt x="375708" y="775378"/>
                    <a:pt x="364218" y="770618"/>
                    <a:pt x="355747" y="762147"/>
                  </a:cubicBezTo>
                  <a:lnTo>
                    <a:pt x="13231" y="419631"/>
                  </a:lnTo>
                  <a:cubicBezTo>
                    <a:pt x="4760" y="411160"/>
                    <a:pt x="0" y="399670"/>
                    <a:pt x="0" y="387689"/>
                  </a:cubicBezTo>
                  <a:cubicBezTo>
                    <a:pt x="0" y="375708"/>
                    <a:pt x="4760" y="364218"/>
                    <a:pt x="13231" y="355747"/>
                  </a:cubicBezTo>
                  <a:lnTo>
                    <a:pt x="355747" y="13231"/>
                  </a:lnTo>
                  <a:cubicBezTo>
                    <a:pt x="364218" y="4760"/>
                    <a:pt x="375708" y="0"/>
                    <a:pt x="387689" y="0"/>
                  </a:cubicBezTo>
                  <a:cubicBezTo>
                    <a:pt x="399670" y="0"/>
                    <a:pt x="411160" y="4760"/>
                    <a:pt x="419631" y="13231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19" name="Freeform 19"/>
          <p:cNvSpPr/>
          <p:nvPr/>
        </p:nvSpPr>
        <p:spPr>
          <a:xfrm rot="8100000">
            <a:off x="7965362" y="10637768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0" name="Group 20"/>
          <p:cNvGrpSpPr/>
          <p:nvPr/>
        </p:nvGrpSpPr>
        <p:grpSpPr>
          <a:xfrm rot="-2700000">
            <a:off x="11433694" y="6980262"/>
            <a:ext cx="10211745" cy="2440924"/>
            <a:chOff x="0" y="0"/>
            <a:chExt cx="3042837" cy="7273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42837" cy="727333"/>
            </a:xfrm>
            <a:custGeom>
              <a:avLst/>
              <a:gdLst/>
              <a:ahLst/>
              <a:cxnLst/>
              <a:rect l="l" t="t" r="r" b="b"/>
              <a:pathLst>
                <a:path w="3042837" h="727333">
                  <a:moveTo>
                    <a:pt x="0" y="0"/>
                  </a:moveTo>
                  <a:lnTo>
                    <a:pt x="3042837" y="0"/>
                  </a:lnTo>
                  <a:lnTo>
                    <a:pt x="3042837" y="727333"/>
                  </a:lnTo>
                  <a:lnTo>
                    <a:pt x="0" y="727333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042837" cy="774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8100000">
            <a:off x="13721104" y="8138017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4" name="Group 24"/>
          <p:cNvGrpSpPr/>
          <p:nvPr/>
        </p:nvGrpSpPr>
        <p:grpSpPr>
          <a:xfrm rot="-2700000">
            <a:off x="14773604" y="8138004"/>
            <a:ext cx="5641848" cy="2550578"/>
            <a:chOff x="0" y="0"/>
            <a:chExt cx="1681125" cy="7600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81125" cy="760006"/>
            </a:xfrm>
            <a:custGeom>
              <a:avLst/>
              <a:gdLst/>
              <a:ahLst/>
              <a:cxnLst/>
              <a:rect l="l" t="t" r="r" b="b"/>
              <a:pathLst>
                <a:path w="1681125" h="760006">
                  <a:moveTo>
                    <a:pt x="0" y="0"/>
                  </a:moveTo>
                  <a:lnTo>
                    <a:pt x="1681125" y="0"/>
                  </a:lnTo>
                  <a:lnTo>
                    <a:pt x="1681125" y="760006"/>
                  </a:lnTo>
                  <a:lnTo>
                    <a:pt x="0" y="760006"/>
                  </a:lnTo>
                  <a:close/>
                </a:path>
              </a:pathLst>
            </a:custGeom>
            <a:solidFill>
              <a:srgbClr val="B7A98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681125" cy="807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10800000">
            <a:off x="1990008" y="8860639"/>
            <a:ext cx="1854742" cy="48684"/>
            <a:chOff x="0" y="0"/>
            <a:chExt cx="552665" cy="145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52665" cy="14507"/>
            </a:xfrm>
            <a:custGeom>
              <a:avLst/>
              <a:gdLst/>
              <a:ahLst/>
              <a:cxnLst/>
              <a:rect l="l" t="t" r="r" b="b"/>
              <a:pathLst>
                <a:path w="552665" h="14507">
                  <a:moveTo>
                    <a:pt x="7253" y="0"/>
                  </a:moveTo>
                  <a:lnTo>
                    <a:pt x="545412" y="0"/>
                  </a:lnTo>
                  <a:cubicBezTo>
                    <a:pt x="547336" y="0"/>
                    <a:pt x="549181" y="764"/>
                    <a:pt x="550541" y="2124"/>
                  </a:cubicBezTo>
                  <a:cubicBezTo>
                    <a:pt x="551901" y="3485"/>
                    <a:pt x="552665" y="5330"/>
                    <a:pt x="552665" y="7253"/>
                  </a:cubicBezTo>
                  <a:lnTo>
                    <a:pt x="552665" y="7253"/>
                  </a:lnTo>
                  <a:cubicBezTo>
                    <a:pt x="552665" y="11259"/>
                    <a:pt x="549418" y="14507"/>
                    <a:pt x="545412" y="14507"/>
                  </a:cubicBezTo>
                  <a:lnTo>
                    <a:pt x="7253" y="14507"/>
                  </a:lnTo>
                  <a:cubicBezTo>
                    <a:pt x="3247" y="14507"/>
                    <a:pt x="0" y="11259"/>
                    <a:pt x="0" y="7253"/>
                  </a:cubicBezTo>
                  <a:lnTo>
                    <a:pt x="0" y="7253"/>
                  </a:lnTo>
                  <a:cubicBezTo>
                    <a:pt x="0" y="3247"/>
                    <a:pt x="3247" y="0"/>
                    <a:pt x="7253" y="0"/>
                  </a:cubicBezTo>
                  <a:close/>
                </a:path>
              </a:pathLst>
            </a:custGeom>
            <a:solidFill>
              <a:srgbClr val="582C82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552665" cy="62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10800000">
            <a:off x="4326222" y="8885510"/>
            <a:ext cx="916749" cy="47625"/>
            <a:chOff x="0" y="0"/>
            <a:chExt cx="273168" cy="1419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3168" cy="14191"/>
            </a:xfrm>
            <a:custGeom>
              <a:avLst/>
              <a:gdLst/>
              <a:ahLst/>
              <a:cxnLst/>
              <a:rect l="l" t="t" r="r" b="b"/>
              <a:pathLst>
                <a:path w="273168" h="14191">
                  <a:moveTo>
                    <a:pt x="7096" y="0"/>
                  </a:moveTo>
                  <a:lnTo>
                    <a:pt x="266072" y="0"/>
                  </a:lnTo>
                  <a:cubicBezTo>
                    <a:pt x="267954" y="0"/>
                    <a:pt x="269759" y="748"/>
                    <a:pt x="271089" y="2078"/>
                  </a:cubicBezTo>
                  <a:cubicBezTo>
                    <a:pt x="272420" y="3409"/>
                    <a:pt x="273168" y="5214"/>
                    <a:pt x="273168" y="7096"/>
                  </a:cubicBezTo>
                  <a:lnTo>
                    <a:pt x="273168" y="7096"/>
                  </a:lnTo>
                  <a:cubicBezTo>
                    <a:pt x="273168" y="8977"/>
                    <a:pt x="272420" y="10782"/>
                    <a:pt x="271089" y="12113"/>
                  </a:cubicBezTo>
                  <a:cubicBezTo>
                    <a:pt x="269759" y="13443"/>
                    <a:pt x="267954" y="14191"/>
                    <a:pt x="266072" y="14191"/>
                  </a:cubicBezTo>
                  <a:lnTo>
                    <a:pt x="7096" y="14191"/>
                  </a:lnTo>
                  <a:cubicBezTo>
                    <a:pt x="5214" y="14191"/>
                    <a:pt x="3409" y="13443"/>
                    <a:pt x="2078" y="12113"/>
                  </a:cubicBezTo>
                  <a:cubicBezTo>
                    <a:pt x="748" y="10782"/>
                    <a:pt x="0" y="8977"/>
                    <a:pt x="0" y="7096"/>
                  </a:cubicBezTo>
                  <a:lnTo>
                    <a:pt x="0" y="7096"/>
                  </a:lnTo>
                  <a:cubicBezTo>
                    <a:pt x="0" y="5214"/>
                    <a:pt x="748" y="3409"/>
                    <a:pt x="2078" y="2078"/>
                  </a:cubicBezTo>
                  <a:cubicBezTo>
                    <a:pt x="3409" y="748"/>
                    <a:pt x="5214" y="0"/>
                    <a:pt x="7096" y="0"/>
                  </a:cubicBezTo>
                  <a:close/>
                </a:path>
              </a:pathLst>
            </a:custGeom>
            <a:solidFill>
              <a:srgbClr val="292A2B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273168" cy="61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28700" y="2162587"/>
            <a:ext cx="11037473" cy="495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6100" b="1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SMART LEARN:</a:t>
            </a:r>
          </a:p>
          <a:p>
            <a:pPr algn="l">
              <a:lnSpc>
                <a:spcPts val="6600"/>
              </a:lnSpc>
            </a:pPr>
            <a:endParaRPr lang="en-US" sz="6100" b="1">
              <a:solidFill>
                <a:srgbClr val="1E1E1E"/>
              </a:solidFill>
              <a:latin typeface="Helios Bold"/>
              <a:ea typeface="Helios Bold"/>
              <a:cs typeface="Helios Bold"/>
              <a:sym typeface="Helios Bold"/>
            </a:endParaRPr>
          </a:p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454242"/>
                </a:solidFill>
                <a:latin typeface="Helios Bold"/>
                <a:ea typeface="Helios Bold"/>
                <a:cs typeface="Helios Bold"/>
                <a:sym typeface="Helios Bold"/>
              </a:rPr>
              <a:t>An Adaptive Mobile Platform for Neurodevelopmental Learning Disorders</a:t>
            </a:r>
          </a:p>
          <a:p>
            <a:pPr algn="l">
              <a:lnSpc>
                <a:spcPts val="5500"/>
              </a:lnSpc>
            </a:pPr>
            <a:endParaRPr lang="en-US" sz="6000" b="1">
              <a:solidFill>
                <a:srgbClr val="454242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410418" y="7663866"/>
            <a:ext cx="4399736" cy="869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R26-IT-114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7001768" y="1126950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8515005" y="-553860"/>
            <a:ext cx="5359870" cy="2511321"/>
            <a:chOff x="0" y="0"/>
            <a:chExt cx="1597103" cy="7483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97103" cy="748309"/>
            </a:xfrm>
            <a:custGeom>
              <a:avLst/>
              <a:gdLst/>
              <a:ahLst/>
              <a:cxnLst/>
              <a:rect l="l" t="t" r="r" b="b"/>
              <a:pathLst>
                <a:path w="1597103" h="748309">
                  <a:moveTo>
                    <a:pt x="0" y="0"/>
                  </a:moveTo>
                  <a:lnTo>
                    <a:pt x="1597103" y="0"/>
                  </a:lnTo>
                  <a:lnTo>
                    <a:pt x="1597103" y="748309"/>
                  </a:lnTo>
                  <a:lnTo>
                    <a:pt x="0" y="748309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597103" cy="795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2700000">
            <a:off x="9928259" y="810181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Freeform 7"/>
          <p:cNvSpPr/>
          <p:nvPr/>
        </p:nvSpPr>
        <p:spPr>
          <a:xfrm rot="-2700000">
            <a:off x="-4317047" y="-3837181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8" name="Group 8"/>
          <p:cNvGrpSpPr/>
          <p:nvPr/>
        </p:nvGrpSpPr>
        <p:grpSpPr>
          <a:xfrm rot="-2700000">
            <a:off x="-3985629" y="-3505764"/>
            <a:ext cx="10863149" cy="10863149"/>
            <a:chOff x="0" y="0"/>
            <a:chExt cx="2041549" cy="20415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2700000">
            <a:off x="9790314" y="2257197"/>
            <a:ext cx="10898709" cy="10898709"/>
          </a:xfrm>
          <a:custGeom>
            <a:avLst/>
            <a:gdLst/>
            <a:ahLst/>
            <a:cxnLst/>
            <a:rect l="l" t="t" r="r" b="b"/>
            <a:pathLst>
              <a:path w="10898709" h="10898709">
                <a:moveTo>
                  <a:pt x="0" y="0"/>
                </a:moveTo>
                <a:lnTo>
                  <a:pt x="10898710" y="0"/>
                </a:lnTo>
                <a:lnTo>
                  <a:pt x="10898710" y="10898709"/>
                </a:lnTo>
                <a:lnTo>
                  <a:pt x="0" y="108987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2" name="Group 12"/>
          <p:cNvGrpSpPr/>
          <p:nvPr/>
        </p:nvGrpSpPr>
        <p:grpSpPr>
          <a:xfrm rot="-2700000">
            <a:off x="10100574" y="2567456"/>
            <a:ext cx="10169646" cy="10169646"/>
            <a:chOff x="0" y="0"/>
            <a:chExt cx="2041549" cy="20415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6128" y="0"/>
                  </a:moveTo>
                  <a:lnTo>
                    <a:pt x="1965422" y="0"/>
                  </a:lnTo>
                  <a:cubicBezTo>
                    <a:pt x="1985612" y="0"/>
                    <a:pt x="2004975" y="8021"/>
                    <a:pt x="2019252" y="22297"/>
                  </a:cubicBezTo>
                  <a:cubicBezTo>
                    <a:pt x="2033529" y="36574"/>
                    <a:pt x="2041549" y="55937"/>
                    <a:pt x="2041549" y="76128"/>
                  </a:cubicBezTo>
                  <a:lnTo>
                    <a:pt x="2041549" y="1965422"/>
                  </a:lnTo>
                  <a:cubicBezTo>
                    <a:pt x="2041549" y="1985612"/>
                    <a:pt x="2033529" y="2004975"/>
                    <a:pt x="2019252" y="2019252"/>
                  </a:cubicBezTo>
                  <a:cubicBezTo>
                    <a:pt x="2004975" y="2033529"/>
                    <a:pt x="1985612" y="2041549"/>
                    <a:pt x="1965422" y="2041549"/>
                  </a:cubicBezTo>
                  <a:lnTo>
                    <a:pt x="76128" y="2041549"/>
                  </a:lnTo>
                  <a:cubicBezTo>
                    <a:pt x="55937" y="2041549"/>
                    <a:pt x="36574" y="2033529"/>
                    <a:pt x="22297" y="2019252"/>
                  </a:cubicBezTo>
                  <a:cubicBezTo>
                    <a:pt x="8021" y="2004975"/>
                    <a:pt x="0" y="1985612"/>
                    <a:pt x="0" y="1965422"/>
                  </a:cubicBezTo>
                  <a:lnTo>
                    <a:pt x="0" y="76128"/>
                  </a:lnTo>
                  <a:cubicBezTo>
                    <a:pt x="0" y="55937"/>
                    <a:pt x="8021" y="36574"/>
                    <a:pt x="22297" y="22297"/>
                  </a:cubicBezTo>
                  <a:cubicBezTo>
                    <a:pt x="36574" y="8021"/>
                    <a:pt x="55937" y="0"/>
                    <a:pt x="7612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11588" y="1378470"/>
            <a:ext cx="12547618" cy="1254761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15845" y="15845"/>
              <a:ext cx="781109" cy="781109"/>
            </a:xfrm>
            <a:custGeom>
              <a:avLst/>
              <a:gdLst/>
              <a:ahLst/>
              <a:cxnLst/>
              <a:rect l="l" t="t" r="r" b="b"/>
              <a:pathLst>
                <a:path w="781109" h="781109">
                  <a:moveTo>
                    <a:pt x="417605" y="11205"/>
                  </a:moveTo>
                  <a:lnTo>
                    <a:pt x="769905" y="363505"/>
                  </a:lnTo>
                  <a:cubicBezTo>
                    <a:pt x="784844" y="378444"/>
                    <a:pt x="784844" y="402666"/>
                    <a:pt x="769905" y="417605"/>
                  </a:cubicBezTo>
                  <a:lnTo>
                    <a:pt x="417605" y="769905"/>
                  </a:lnTo>
                  <a:cubicBezTo>
                    <a:pt x="402666" y="784844"/>
                    <a:pt x="378444" y="784844"/>
                    <a:pt x="363505" y="769905"/>
                  </a:cubicBezTo>
                  <a:lnTo>
                    <a:pt x="11205" y="417605"/>
                  </a:lnTo>
                  <a:cubicBezTo>
                    <a:pt x="-3734" y="402666"/>
                    <a:pt x="-3734" y="378444"/>
                    <a:pt x="11205" y="363505"/>
                  </a:cubicBezTo>
                  <a:lnTo>
                    <a:pt x="363505" y="11205"/>
                  </a:lnTo>
                  <a:cubicBezTo>
                    <a:pt x="378444" y="-3734"/>
                    <a:pt x="402666" y="-3734"/>
                    <a:pt x="417605" y="11205"/>
                  </a:cubicBezTo>
                  <a:close/>
                </a:path>
              </a:pathLst>
            </a:custGeom>
            <a:blipFill>
              <a:blip r:embed="rId6"/>
              <a:stretch>
                <a:fillRect l="-24906" r="-24906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grpSp>
        <p:nvGrpSpPr>
          <p:cNvPr id="17" name="Group 17"/>
          <p:cNvGrpSpPr/>
          <p:nvPr/>
        </p:nvGrpSpPr>
        <p:grpSpPr>
          <a:xfrm rot="-8100000">
            <a:off x="10669360" y="993471"/>
            <a:ext cx="10132302" cy="2304198"/>
            <a:chOff x="0" y="0"/>
            <a:chExt cx="3019165" cy="6865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19165" cy="686592"/>
            </a:xfrm>
            <a:custGeom>
              <a:avLst/>
              <a:gdLst/>
              <a:ahLst/>
              <a:cxnLst/>
              <a:rect l="l" t="t" r="r" b="b"/>
              <a:pathLst>
                <a:path w="3019165" h="686592">
                  <a:moveTo>
                    <a:pt x="0" y="0"/>
                  </a:moveTo>
                  <a:lnTo>
                    <a:pt x="3019165" y="0"/>
                  </a:lnTo>
                  <a:lnTo>
                    <a:pt x="3019165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B7A98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019165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1" name="Group 21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1189974"/>
            <a:ext cx="6615789" cy="80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INTRODUCTION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14600" y="1302270"/>
            <a:ext cx="7249850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54242"/>
                </a:solidFill>
                <a:latin typeface="Helios"/>
                <a:ea typeface="Helios"/>
                <a:cs typeface="Helios"/>
                <a:sym typeface="Helios"/>
              </a:rPr>
              <a:t>VIDEO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88264" y="9713594"/>
            <a:ext cx="4399736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R26-IT-114</a:t>
            </a:r>
          </a:p>
        </p:txBody>
      </p:sp>
      <p:pic>
        <p:nvPicPr>
          <p:cNvPr id="27" name="Nurodevelopment.mp4">
            <a:hlinkClick r:id="" action="ppaction://media"/>
            <a:extLst>
              <a:ext uri="{FF2B5EF4-FFF2-40B4-BE49-F238E27FC236}">
                <a16:creationId xmlns:a16="http://schemas.microsoft.com/office/drawing/2014/main" id="{95424C1E-B0D4-3631-E839-714406FF79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036588" y="1919554"/>
            <a:ext cx="13856071" cy="7794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0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0335" y="-1790700"/>
            <a:ext cx="17972144" cy="11811000"/>
            <a:chOff x="0" y="109820"/>
            <a:chExt cx="23962859" cy="15748000"/>
          </a:xfrm>
        </p:grpSpPr>
        <p:sp>
          <p:nvSpPr>
            <p:cNvPr id="3" name="Freeform 3"/>
            <p:cNvSpPr/>
            <p:nvPr/>
          </p:nvSpPr>
          <p:spPr>
            <a:xfrm rot="2700000">
              <a:off x="17102925" y="4082104"/>
              <a:ext cx="7515902" cy="807959"/>
            </a:xfrm>
            <a:custGeom>
              <a:avLst/>
              <a:gdLst/>
              <a:ahLst/>
              <a:cxnLst/>
              <a:rect l="l" t="t" r="r" b="b"/>
              <a:pathLst>
                <a:path w="7515902" h="807959">
                  <a:moveTo>
                    <a:pt x="0" y="0"/>
                  </a:moveTo>
                  <a:lnTo>
                    <a:pt x="7515902" y="0"/>
                  </a:lnTo>
                  <a:lnTo>
                    <a:pt x="7515902" y="807959"/>
                  </a:lnTo>
                  <a:lnTo>
                    <a:pt x="0" y="807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grpSp>
          <p:nvGrpSpPr>
            <p:cNvPr id="4" name="Group 4"/>
            <p:cNvGrpSpPr/>
            <p:nvPr/>
          </p:nvGrpSpPr>
          <p:grpSpPr>
            <a:xfrm rot="-8100000">
              <a:off x="19093126" y="1907289"/>
              <a:ext cx="6667202" cy="3072264"/>
              <a:chOff x="0" y="0"/>
              <a:chExt cx="1489991" cy="6865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89991" cy="686592"/>
              </a:xfrm>
              <a:custGeom>
                <a:avLst/>
                <a:gdLst/>
                <a:ahLst/>
                <a:cxnLst/>
                <a:rect l="l" t="t" r="r" b="b"/>
                <a:pathLst>
                  <a:path w="1489991" h="686592">
                    <a:moveTo>
                      <a:pt x="0" y="0"/>
                    </a:moveTo>
                    <a:lnTo>
                      <a:pt x="1489991" y="0"/>
                    </a:lnTo>
                    <a:lnTo>
                      <a:pt x="1489991" y="686592"/>
                    </a:lnTo>
                    <a:lnTo>
                      <a:pt x="0" y="686592"/>
                    </a:lnTo>
                    <a:close/>
                  </a:path>
                </a:pathLst>
              </a:custGeom>
              <a:solidFill>
                <a:srgbClr val="C7B898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1489991" cy="7342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91643" y="3585230"/>
              <a:ext cx="10160766" cy="899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60"/>
                </a:lnSpc>
              </a:pPr>
              <a:r>
                <a:rPr lang="en-US" sz="4600" b="1" u="sng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PROBLEM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1643" y="10894660"/>
              <a:ext cx="18584862" cy="899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60"/>
                </a:lnSpc>
              </a:pPr>
              <a:r>
                <a:rPr lang="en-US" sz="4600" b="1" u="sng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IMPACT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1643" y="11954473"/>
              <a:ext cx="22335084" cy="39033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26104" lvl="1" indent="-313052" algn="l">
                <a:lnSpc>
                  <a:spcPts val="4784"/>
                </a:lnSpc>
                <a:buFont typeface="Arial"/>
                <a:buChar char="•"/>
              </a:pPr>
              <a:r>
                <a:rPr lang="en-US" sz="2899" dirty="0">
                  <a:solidFill>
                    <a:srgbClr val="292A2B"/>
                  </a:solidFill>
                  <a:latin typeface="Helios"/>
                  <a:ea typeface="Helios"/>
                  <a:cs typeface="Helios"/>
                  <a:sym typeface="Helios"/>
                </a:rPr>
                <a:t>Leads to poor academic performance, low self-confidence, and reduced motivation to learn</a:t>
              </a:r>
            </a:p>
            <a:p>
              <a:pPr marL="626104" lvl="1" indent="-313052" algn="l">
                <a:lnSpc>
                  <a:spcPts val="4784"/>
                </a:lnSpc>
                <a:buFont typeface="Arial"/>
                <a:buChar char="•"/>
              </a:pPr>
              <a:r>
                <a:rPr lang="en-US" sz="2899" dirty="0">
                  <a:solidFill>
                    <a:srgbClr val="292A2B"/>
                  </a:solidFill>
                  <a:latin typeface="Helios"/>
                  <a:ea typeface="Helios"/>
                  <a:cs typeface="Helios"/>
                  <a:sym typeface="Helios"/>
                </a:rPr>
                <a:t>Parents lack affordable and accessible tools to support learning at home</a:t>
              </a:r>
            </a:p>
            <a:p>
              <a:pPr marL="626104" lvl="1" indent="-313052" algn="l">
                <a:lnSpc>
                  <a:spcPts val="4784"/>
                </a:lnSpc>
                <a:buFont typeface="Arial"/>
                <a:buChar char="•"/>
              </a:pPr>
              <a:r>
                <a:rPr lang="en-US" sz="2899" dirty="0">
                  <a:solidFill>
                    <a:srgbClr val="292A2B"/>
                  </a:solidFill>
                  <a:latin typeface="Helios"/>
                  <a:ea typeface="Helios"/>
                  <a:cs typeface="Helios"/>
                  <a:sym typeface="Helios"/>
                </a:rPr>
                <a:t>Absence of Sinhala-based digital learning systems creates barriers for many children in Sri Lanka</a:t>
              </a:r>
            </a:p>
            <a:p>
              <a:pPr marL="626104" lvl="1" indent="-313052" algn="l">
                <a:lnSpc>
                  <a:spcPts val="4784"/>
                </a:lnSpc>
                <a:buFont typeface="Arial"/>
                <a:buChar char="•"/>
              </a:pPr>
              <a:r>
                <a:rPr lang="en-US" sz="2899" dirty="0">
                  <a:solidFill>
                    <a:srgbClr val="292A2B"/>
                  </a:solidFill>
                  <a:latin typeface="Helios"/>
                  <a:ea typeface="Helios"/>
                  <a:cs typeface="Helios"/>
                  <a:sym typeface="Helios"/>
                </a:rPr>
                <a:t>Overall limits early intervention and effective support for children with learning difficulties</a:t>
              </a:r>
            </a:p>
            <a:p>
              <a:pPr algn="l">
                <a:lnSpc>
                  <a:spcPts val="4784"/>
                </a:lnSpc>
              </a:pPr>
              <a:endParaRPr lang="en-US" sz="2899" dirty="0">
                <a:solidFill>
                  <a:srgbClr val="292A2B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361120"/>
              <a:ext cx="22039244" cy="61538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5" lvl="1" indent="-302257" algn="l">
                <a:lnSpc>
                  <a:spcPts val="4703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292A2B"/>
                  </a:solidFill>
                  <a:latin typeface="Helios"/>
                  <a:ea typeface="Helios"/>
                  <a:cs typeface="Helios"/>
                  <a:sym typeface="Helios"/>
                </a:rPr>
                <a:t>No Sinhala digital apps support therapists, most tools focus only on detection, not adaptive treatment</a:t>
              </a:r>
            </a:p>
            <a:p>
              <a:pPr marL="604515" lvl="1" indent="-302257" algn="l">
                <a:lnSpc>
                  <a:spcPts val="4703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292A2B"/>
                  </a:solidFill>
                  <a:latin typeface="Helios"/>
                  <a:ea typeface="Helios"/>
                  <a:cs typeface="Helios"/>
                  <a:sym typeface="Helios"/>
                </a:rPr>
                <a:t>Current NLD interventions rely on costly therapist-led programs, limiting access for low- and middle-income families</a:t>
              </a:r>
            </a:p>
            <a:p>
              <a:pPr marL="604515" lvl="1" indent="-302257" algn="l">
                <a:lnSpc>
                  <a:spcPts val="4703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292A2B"/>
                  </a:solidFill>
                  <a:latin typeface="Helios"/>
                  <a:ea typeface="Helios"/>
                  <a:cs typeface="Helios"/>
                  <a:sym typeface="Helios"/>
                </a:rPr>
                <a:t>Most apps use text-based instructions, which are difficult for young children with limited reading skills</a:t>
              </a:r>
            </a:p>
            <a:p>
              <a:pPr marL="604515" lvl="1" indent="-302257" algn="l">
                <a:lnSpc>
                  <a:spcPts val="4703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292A2B"/>
                  </a:solidFill>
                  <a:latin typeface="Helios"/>
                  <a:ea typeface="Helios"/>
                  <a:cs typeface="Helios"/>
                  <a:sym typeface="Helios"/>
                </a:rPr>
                <a:t>No single digital tool supports multiple conditions like Dyslexia, Dyscalculia, Dysgraphia, and Working Memory Disorder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endParaRPr lang="en-US" sz="2799" dirty="0">
                <a:solidFill>
                  <a:srgbClr val="292A2B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629775"/>
            <a:ext cx="18288000" cy="680085"/>
            <a:chOff x="0" y="0"/>
            <a:chExt cx="24384000" cy="90678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4384000" cy="906780"/>
              <a:chOff x="0" y="0"/>
              <a:chExt cx="5449352" cy="2026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49353" cy="202648"/>
              </a:xfrm>
              <a:custGeom>
                <a:avLst/>
                <a:gdLst/>
                <a:ahLst/>
                <a:cxnLst/>
                <a:rect l="l" t="t" r="r" b="b"/>
                <a:pathLst>
                  <a:path w="5449353" h="202648">
                    <a:moveTo>
                      <a:pt x="0" y="0"/>
                    </a:moveTo>
                    <a:lnTo>
                      <a:pt x="5449353" y="0"/>
                    </a:lnTo>
                    <a:lnTo>
                      <a:pt x="5449353" y="202648"/>
                    </a:lnTo>
                    <a:lnTo>
                      <a:pt x="0" y="202648"/>
                    </a:lnTo>
                    <a:close/>
                  </a:path>
                </a:pathLst>
              </a:custGeom>
              <a:solidFill>
                <a:srgbClr val="A79A7D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449352" cy="250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3149904" y="151765"/>
              <a:ext cx="10553884" cy="555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R26-IT-114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61236" y="533717"/>
            <a:ext cx="13938646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sz="4600" b="1" u="sng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PEOPLE WHO BENEFIT FROM THE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1236" y="4479754"/>
            <a:ext cx="16398064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sz="4600" b="1" u="sng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DESIGN EXCELLENCE OF THE OVERALL 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1329" y="1436516"/>
            <a:ext cx="15009362" cy="3357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2" lvl="1" indent="-345436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Children with neurodevelopmental disorders</a:t>
            </a:r>
          </a:p>
          <a:p>
            <a:pPr marL="690872" lvl="1" indent="-345436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Parents of children with neurodevelopmental disorders</a:t>
            </a:r>
          </a:p>
          <a:p>
            <a:pPr marL="690872" lvl="1" indent="-345436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People in rural areas</a:t>
            </a:r>
          </a:p>
          <a:p>
            <a:pPr marL="690872" lvl="1" indent="-345436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People who cannot afford therapy sessions for neurodevelopmental disorders</a:t>
            </a:r>
          </a:p>
          <a:p>
            <a:pPr marL="690872" lvl="1" indent="-345436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Therapists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>
              <a:solidFill>
                <a:srgbClr val="1E1E1E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5383994"/>
            <a:ext cx="16688677" cy="4481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2" lvl="1" indent="-345436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Sinhala-medium web-based learning support system for children aged 6–8 with neurodevelopmental learning disorders.</a:t>
            </a:r>
          </a:p>
          <a:p>
            <a:pPr marL="690872" lvl="1" indent="-345436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Voice-guided learning activities with Reward systems and progress tracking</a:t>
            </a:r>
          </a:p>
          <a:p>
            <a:pPr marL="690872" lvl="1" indent="-345436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292A2B"/>
                </a:solidFill>
                <a:latin typeface="Helios"/>
                <a:ea typeface="Helios"/>
                <a:cs typeface="Helios"/>
                <a:sym typeface="Helios"/>
              </a:rPr>
              <a:t>Multiple disorder support</a:t>
            </a:r>
          </a:p>
          <a:p>
            <a:pPr marL="690872" lvl="1" indent="-345436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Child-friendly colorful UI/UX</a:t>
            </a:r>
          </a:p>
          <a:p>
            <a:pPr marL="690872" lvl="1" indent="-345436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Learning through play approach</a:t>
            </a:r>
          </a:p>
          <a:p>
            <a:pPr marL="690872" lvl="1" indent="-345436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Personalized learning modules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>
              <a:solidFill>
                <a:srgbClr val="1E1E1E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9629775"/>
            <a:ext cx="18288000" cy="680085"/>
            <a:chOff x="0" y="0"/>
            <a:chExt cx="24384000" cy="90678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384000" cy="906780"/>
              <a:chOff x="0" y="0"/>
              <a:chExt cx="5449352" cy="20264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449353" cy="202648"/>
              </a:xfrm>
              <a:custGeom>
                <a:avLst/>
                <a:gdLst/>
                <a:ahLst/>
                <a:cxnLst/>
                <a:rect l="l" t="t" r="r" b="b"/>
                <a:pathLst>
                  <a:path w="5449353" h="202648">
                    <a:moveTo>
                      <a:pt x="0" y="0"/>
                    </a:moveTo>
                    <a:lnTo>
                      <a:pt x="5449353" y="0"/>
                    </a:lnTo>
                    <a:lnTo>
                      <a:pt x="5449353" y="202648"/>
                    </a:lnTo>
                    <a:lnTo>
                      <a:pt x="0" y="202648"/>
                    </a:lnTo>
                    <a:close/>
                  </a:path>
                </a:pathLst>
              </a:custGeom>
              <a:solidFill>
                <a:srgbClr val="A79A7D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5449352" cy="250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3149904" y="151765"/>
              <a:ext cx="10553884" cy="555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R26-IT-114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377009" y="1338457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8100000">
            <a:off x="7965362" y="10637768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TextBox 7"/>
          <p:cNvSpPr txBox="1"/>
          <p:nvPr/>
        </p:nvSpPr>
        <p:spPr>
          <a:xfrm>
            <a:off x="266165" y="5325119"/>
            <a:ext cx="14701181" cy="1217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435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DYSLEXIA INTERVENTION MODULE</a:t>
            </a:r>
          </a:p>
          <a:p>
            <a:pPr algn="l">
              <a:lnSpc>
                <a:spcPts val="4795"/>
              </a:lnSpc>
            </a:pPr>
            <a:endParaRPr lang="en-US" sz="4359" b="1">
              <a:solidFill>
                <a:srgbClr val="000000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8965020"/>
            <a:ext cx="18288000" cy="1321980"/>
            <a:chOff x="0" y="0"/>
            <a:chExt cx="5449352" cy="3939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49353" cy="393916"/>
            </a:xfrm>
            <a:custGeom>
              <a:avLst/>
              <a:gdLst/>
              <a:ahLst/>
              <a:cxnLst/>
              <a:rect l="l" t="t" r="r" b="b"/>
              <a:pathLst>
                <a:path w="5449353" h="393916">
                  <a:moveTo>
                    <a:pt x="0" y="0"/>
                  </a:moveTo>
                  <a:lnTo>
                    <a:pt x="5449353" y="0"/>
                  </a:lnTo>
                  <a:lnTo>
                    <a:pt x="5449353" y="393916"/>
                  </a:lnTo>
                  <a:lnTo>
                    <a:pt x="0" y="393916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49352" cy="441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5203" y="1686112"/>
            <a:ext cx="12117608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0"/>
              </a:lnSpc>
            </a:pPr>
            <a:r>
              <a:rPr lang="en-US" sz="62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H.A.P.D MADHURANGI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5203" y="2860949"/>
            <a:ext cx="4386142" cy="79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3"/>
              </a:lnSpc>
              <a:spcBef>
                <a:spcPct val="0"/>
              </a:spcBef>
            </a:pPr>
            <a:r>
              <a:rPr lang="en-US" sz="4645">
                <a:solidFill>
                  <a:srgbClr val="454242"/>
                </a:solidFill>
                <a:latin typeface="Helios"/>
                <a:ea typeface="Helios"/>
                <a:cs typeface="Helios"/>
                <a:sym typeface="Helios"/>
              </a:rPr>
              <a:t>IT22252418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505116" y="262935"/>
            <a:ext cx="4528416" cy="4554504"/>
            <a:chOff x="0" y="0"/>
            <a:chExt cx="851041" cy="8559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1041" cy="855944"/>
            </a:xfrm>
            <a:custGeom>
              <a:avLst/>
              <a:gdLst/>
              <a:ahLst/>
              <a:cxnLst/>
              <a:rect l="l" t="t" r="r" b="b"/>
              <a:pathLst>
                <a:path w="851041" h="855944">
                  <a:moveTo>
                    <a:pt x="170963" y="0"/>
                  </a:moveTo>
                  <a:lnTo>
                    <a:pt x="680078" y="0"/>
                  </a:lnTo>
                  <a:cubicBezTo>
                    <a:pt x="774498" y="0"/>
                    <a:pt x="851041" y="76543"/>
                    <a:pt x="851041" y="170963"/>
                  </a:cubicBezTo>
                  <a:lnTo>
                    <a:pt x="851041" y="684981"/>
                  </a:lnTo>
                  <a:cubicBezTo>
                    <a:pt x="851041" y="779401"/>
                    <a:pt x="774498" y="855944"/>
                    <a:pt x="680078" y="855944"/>
                  </a:cubicBezTo>
                  <a:lnTo>
                    <a:pt x="170963" y="855944"/>
                  </a:lnTo>
                  <a:cubicBezTo>
                    <a:pt x="125621" y="855944"/>
                    <a:pt x="82136" y="837932"/>
                    <a:pt x="50074" y="805870"/>
                  </a:cubicBezTo>
                  <a:cubicBezTo>
                    <a:pt x="18012" y="773808"/>
                    <a:pt x="0" y="730323"/>
                    <a:pt x="0" y="684981"/>
                  </a:cubicBezTo>
                  <a:lnTo>
                    <a:pt x="0" y="170963"/>
                  </a:lnTo>
                  <a:cubicBezTo>
                    <a:pt x="0" y="76543"/>
                    <a:pt x="76543" y="0"/>
                    <a:pt x="1709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51041" cy="90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8100000">
            <a:off x="10669360" y="993471"/>
            <a:ext cx="10132302" cy="2304198"/>
            <a:chOff x="0" y="0"/>
            <a:chExt cx="3019165" cy="6865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19165" cy="686592"/>
            </a:xfrm>
            <a:custGeom>
              <a:avLst/>
              <a:gdLst/>
              <a:ahLst/>
              <a:cxnLst/>
              <a:rect l="l" t="t" r="r" b="b"/>
              <a:pathLst>
                <a:path w="3019165" h="686592">
                  <a:moveTo>
                    <a:pt x="0" y="0"/>
                  </a:moveTo>
                  <a:lnTo>
                    <a:pt x="3019165" y="0"/>
                  </a:lnTo>
                  <a:lnTo>
                    <a:pt x="3019165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B7A98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019165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3" name="TextBox 23"/>
          <p:cNvSpPr txBox="1"/>
          <p:nvPr/>
        </p:nvSpPr>
        <p:spPr>
          <a:xfrm>
            <a:off x="415203" y="7575375"/>
            <a:ext cx="833121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454242"/>
                </a:solidFill>
                <a:latin typeface="Helios"/>
                <a:ea typeface="Helios"/>
                <a:cs typeface="Helios"/>
                <a:sym typeface="Helios"/>
              </a:rPr>
              <a:t>Specialization :- Information Technology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205778" y="869581"/>
            <a:ext cx="4173235" cy="417323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2668" y="0"/>
                  </a:moveTo>
                  <a:lnTo>
                    <a:pt x="770132" y="0"/>
                  </a:lnTo>
                  <a:cubicBezTo>
                    <a:pt x="793697" y="0"/>
                    <a:pt x="812800" y="19103"/>
                    <a:pt x="812800" y="42668"/>
                  </a:cubicBezTo>
                  <a:lnTo>
                    <a:pt x="812800" y="770132"/>
                  </a:lnTo>
                  <a:cubicBezTo>
                    <a:pt x="812800" y="793697"/>
                    <a:pt x="793697" y="812800"/>
                    <a:pt x="770132" y="812800"/>
                  </a:cubicBezTo>
                  <a:lnTo>
                    <a:pt x="42668" y="812800"/>
                  </a:lnTo>
                  <a:cubicBezTo>
                    <a:pt x="19103" y="812800"/>
                    <a:pt x="0" y="793697"/>
                    <a:pt x="0" y="770132"/>
                  </a:cubicBezTo>
                  <a:lnTo>
                    <a:pt x="0" y="42668"/>
                  </a:lnTo>
                  <a:cubicBezTo>
                    <a:pt x="0" y="19103"/>
                    <a:pt x="19103" y="0"/>
                    <a:pt x="42668" y="0"/>
                  </a:cubicBezTo>
                  <a:close/>
                </a:path>
              </a:pathLst>
            </a:custGeom>
            <a:blipFill>
              <a:blip r:embed="rId4"/>
              <a:stretch>
                <a:fillRect t="-10408" b="-22924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372587" y="9568860"/>
            <a:ext cx="791541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IT22252418 | </a:t>
            </a:r>
            <a:r>
              <a:rPr lang="en-US" sz="2399" b="1" dirty="0" err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H.A.P.D.Madhurangi</a:t>
            </a:r>
            <a:r>
              <a:rPr lang="en-US" sz="23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 | R26-IT-114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6048" y="1402289"/>
            <a:ext cx="16546448" cy="58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1" u="sng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COMMENTS FOR THE PROPOSAL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0159" y="479425"/>
            <a:ext cx="17267682" cy="66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DYSLEXIA INTERVENTION  MODULE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43173" y="2318405"/>
          <a:ext cx="17601655" cy="7214317"/>
        </p:xfrm>
        <a:graphic>
          <a:graphicData uri="http://schemas.openxmlformats.org/drawingml/2006/table">
            <a:tbl>
              <a:tblPr/>
              <a:tblGrid>
                <a:gridCol w="5933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3383"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>
                          <a:solidFill>
                            <a:srgbClr val="0101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Comments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A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>
                          <a:solidFill>
                            <a:srgbClr val="0101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A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934">
                <a:tc>
                  <a:txBody>
                    <a:bodyPr/>
                    <a:lstStyle/>
                    <a:p>
                      <a:pPr algn="l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Support for Dyslexia children. Have a good understanding about the individual scope.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04515" lvl="1" indent="-302257" algn="l">
                        <a:lnSpc>
                          <a:spcPts val="39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Clearly defined the project scope specific to Dyslexia learning challenges.</a:t>
                      </a:r>
                      <a:endParaRPr lang="en-US" sz="1100"/>
                    </a:p>
                    <a:p>
                      <a:pPr marL="604515" lvl="1" indent="-302257" algn="l">
                        <a:lnSpc>
                          <a:spcPts val="3919"/>
                        </a:lnSpc>
                        <a:buFont typeface="Arial"/>
                        <a:buChar char="•"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Designed features such as:</a:t>
                      </a:r>
                    </a:p>
                    <a:p>
                      <a:pPr algn="l">
                        <a:lnSpc>
                          <a:spcPts val="391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               Text-to-speech support ,Audio-assisted reading,Letter and word recognition activities ,Phonics-based exercises</a:t>
                      </a:r>
                    </a:p>
                    <a:p>
                      <a:pPr marL="604515" lvl="1" indent="-302257" algn="l">
                        <a:lnSpc>
                          <a:spcPts val="3919"/>
                        </a:lnSpc>
                        <a:buFont typeface="Arial"/>
                        <a:buChar char="•"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Used dyslexia-friendly fonts, spacing, and color combinations to improve readability.</a:t>
                      </a:r>
                    </a:p>
                    <a:p>
                      <a:pPr marL="604515" lvl="1" indent="-302257" algn="l">
                        <a:lnSpc>
                          <a:spcPts val="3919"/>
                        </a:lnSpc>
                        <a:buFont typeface="Arial"/>
                        <a:buChar char="•"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Developed adaptive reading exercises based on the learner’s performance level.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0" y="9629775"/>
            <a:ext cx="18288000" cy="657225"/>
            <a:chOff x="0" y="0"/>
            <a:chExt cx="5449352" cy="1958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49353" cy="195836"/>
            </a:xfrm>
            <a:custGeom>
              <a:avLst/>
              <a:gdLst/>
              <a:ahLst/>
              <a:cxnLst/>
              <a:rect l="l" t="t" r="r" b="b"/>
              <a:pathLst>
                <a:path w="5449353" h="195836">
                  <a:moveTo>
                    <a:pt x="0" y="0"/>
                  </a:moveTo>
                  <a:lnTo>
                    <a:pt x="5449353" y="0"/>
                  </a:lnTo>
                  <a:lnTo>
                    <a:pt x="5449353" y="195836"/>
                  </a:lnTo>
                  <a:lnTo>
                    <a:pt x="0" y="195836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449352" cy="243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5">
            <a:extLst>
              <a:ext uri="{FF2B5EF4-FFF2-40B4-BE49-F238E27FC236}">
                <a16:creationId xmlns:a16="http://schemas.microsoft.com/office/drawing/2014/main" id="{558CEE3B-D5BD-9AE5-E30B-4956867A8EA1}"/>
              </a:ext>
            </a:extLst>
          </p:cNvPr>
          <p:cNvSpPr txBox="1"/>
          <p:nvPr/>
        </p:nvSpPr>
        <p:spPr>
          <a:xfrm>
            <a:off x="9862428" y="9736455"/>
            <a:ext cx="7915413" cy="40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IT22252418    |    </a:t>
            </a:r>
            <a:r>
              <a:rPr lang="en-US" sz="2399" b="1" dirty="0" err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H.A.P.D.Madhurangi</a:t>
            </a:r>
            <a:r>
              <a:rPr lang="en-US" sz="23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   |   R26-IT-114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12852" y="499319"/>
            <a:ext cx="16546448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47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DYSLEXIA INTERVENTION  MODULE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464483" y="1260049"/>
            <a:ext cx="12579313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u="sng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How the Solution Addresses the Sub-Problem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2038" y="2133758"/>
            <a:ext cx="16747262" cy="40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Developed a game-based learning system for Sinhala-speaking children with Dyslexia.</a:t>
            </a:r>
          </a:p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Designed interactive games for letter recognition, sound matching, word reading, and pronunciation practice.</a:t>
            </a:r>
          </a:p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Added voice-guided Sinhala instructions and pronunciation accuracy checking.</a:t>
            </a:r>
          </a:p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Includes progress tracking for parents, teachers, and therapists.</a:t>
            </a:r>
          </a:p>
          <a:p>
            <a:pPr algn="l">
              <a:lnSpc>
                <a:spcPts val="4607"/>
              </a:lnSpc>
            </a:pPr>
            <a:endParaRPr lang="en-US" sz="32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12038" y="6712585"/>
            <a:ext cx="13495087" cy="336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Easy navigation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Child-friendly interface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Audio guidance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Gamified learning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Mobile responsiveness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1E1E1E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2123353" y="5945888"/>
            <a:ext cx="12579313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u="sng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User Requirements Addressed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9629775"/>
            <a:ext cx="18288000" cy="657225"/>
            <a:chOff x="0" y="0"/>
            <a:chExt cx="24384000" cy="8763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4384000" cy="876300"/>
              <a:chOff x="0" y="0"/>
              <a:chExt cx="5449352" cy="1958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49353" cy="195836"/>
              </a:xfrm>
              <a:custGeom>
                <a:avLst/>
                <a:gdLst/>
                <a:ahLst/>
                <a:cxnLst/>
                <a:rect l="l" t="t" r="r" b="b"/>
                <a:pathLst>
                  <a:path w="5449353" h="195836">
                    <a:moveTo>
                      <a:pt x="0" y="0"/>
                    </a:moveTo>
                    <a:lnTo>
                      <a:pt x="5449353" y="0"/>
                    </a:lnTo>
                    <a:lnTo>
                      <a:pt x="5449353" y="195836"/>
                    </a:lnTo>
                    <a:lnTo>
                      <a:pt x="0" y="195836"/>
                    </a:lnTo>
                    <a:close/>
                  </a:path>
                </a:pathLst>
              </a:custGeom>
              <a:solidFill>
                <a:srgbClr val="A79A7D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449352" cy="243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3149904" y="142240"/>
              <a:ext cx="10553884" cy="534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dirty="0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IT22252418    |    </a:t>
              </a:r>
              <a:r>
                <a:rPr lang="en-US" sz="2399" b="1" dirty="0" err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H.A.P.D.Madhurangi</a:t>
              </a:r>
              <a:r>
                <a:rPr lang="en-US" sz="2399" b="1" dirty="0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   |   R26-IT-114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7980" y="280259"/>
            <a:ext cx="16546448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47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DYSLEXIA INTERVENTION MODULE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7980" y="1165116"/>
            <a:ext cx="10097980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 u="sng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Design Excellence/Contribution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2038" y="2011269"/>
            <a:ext cx="16747262" cy="4650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Sinhala language support                                             </a:t>
            </a:r>
          </a:p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Gamified learning experience</a:t>
            </a:r>
          </a:p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Interactive educational games</a:t>
            </a:r>
          </a:p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Voice-guided activities</a:t>
            </a:r>
          </a:p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Reward and progress tracking system</a:t>
            </a:r>
          </a:p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Jungle-themed colorful interface</a:t>
            </a:r>
          </a:p>
          <a:p>
            <a:pPr marL="710553" lvl="1" indent="-355276" algn="l">
              <a:lnSpc>
                <a:spcPts val="4607"/>
              </a:lnSpc>
              <a:buFont typeface="Arial"/>
              <a:buChar char="•"/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Take sinhala voice inputs </a:t>
            </a:r>
          </a:p>
          <a:p>
            <a:pPr algn="l">
              <a:lnSpc>
                <a:spcPts val="4607"/>
              </a:lnSpc>
            </a:pPr>
            <a:r>
              <a:rPr lang="en-US" sz="32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7980" y="7239576"/>
            <a:ext cx="14928269" cy="168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Parents:   “Children stayed engaged longer than traditional exercises.”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Teachers: “The voice guidance and visuals improve student interaction.”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Children: “Fun and easy to play!”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4087" y="6355655"/>
            <a:ext cx="6655494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 u="sng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User Feedback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9629775"/>
            <a:ext cx="18288000" cy="657225"/>
            <a:chOff x="0" y="0"/>
            <a:chExt cx="24384000" cy="8763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4384000" cy="876300"/>
              <a:chOff x="0" y="0"/>
              <a:chExt cx="5449352" cy="1958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49353" cy="195836"/>
              </a:xfrm>
              <a:custGeom>
                <a:avLst/>
                <a:gdLst/>
                <a:ahLst/>
                <a:cxnLst/>
                <a:rect l="l" t="t" r="r" b="b"/>
                <a:pathLst>
                  <a:path w="5449353" h="195836">
                    <a:moveTo>
                      <a:pt x="0" y="0"/>
                    </a:moveTo>
                    <a:lnTo>
                      <a:pt x="5449353" y="0"/>
                    </a:lnTo>
                    <a:lnTo>
                      <a:pt x="5449353" y="195836"/>
                    </a:lnTo>
                    <a:lnTo>
                      <a:pt x="0" y="195836"/>
                    </a:lnTo>
                    <a:close/>
                  </a:path>
                </a:pathLst>
              </a:custGeom>
              <a:solidFill>
                <a:srgbClr val="A79A7D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449352" cy="243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3149904" y="142240"/>
              <a:ext cx="10553884" cy="534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IT22252418    |    H.A.P.D.Madhurangi   |   R26-IT-114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377009" y="1338457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8100000">
            <a:off x="7965362" y="10637768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TextBox 7"/>
          <p:cNvSpPr txBox="1"/>
          <p:nvPr/>
        </p:nvSpPr>
        <p:spPr>
          <a:xfrm>
            <a:off x="266165" y="5181600"/>
            <a:ext cx="12939613" cy="123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4359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DYSCALCULIA INTERVENTION MODULE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8965020"/>
            <a:ext cx="18288000" cy="1321980"/>
            <a:chOff x="0" y="0"/>
            <a:chExt cx="5449352" cy="3939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49353" cy="393916"/>
            </a:xfrm>
            <a:custGeom>
              <a:avLst/>
              <a:gdLst/>
              <a:ahLst/>
              <a:cxnLst/>
              <a:rect l="l" t="t" r="r" b="b"/>
              <a:pathLst>
                <a:path w="5449353" h="393916">
                  <a:moveTo>
                    <a:pt x="0" y="0"/>
                  </a:moveTo>
                  <a:lnTo>
                    <a:pt x="5449353" y="0"/>
                  </a:lnTo>
                  <a:lnTo>
                    <a:pt x="5449353" y="393916"/>
                  </a:lnTo>
                  <a:lnTo>
                    <a:pt x="0" y="393916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49352" cy="441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5203" y="1686112"/>
            <a:ext cx="12117608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0"/>
              </a:lnSpc>
            </a:pPr>
            <a:r>
              <a:rPr lang="en-US" sz="62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A.H.M.P.D ABEYSINGHE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5203" y="2860949"/>
            <a:ext cx="4386142" cy="79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3"/>
              </a:lnSpc>
              <a:spcBef>
                <a:spcPct val="0"/>
              </a:spcBef>
            </a:pPr>
            <a:r>
              <a:rPr lang="en-US" sz="4645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IT22062574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505116" y="262935"/>
            <a:ext cx="4528416" cy="4554504"/>
            <a:chOff x="0" y="0"/>
            <a:chExt cx="851041" cy="8559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1041" cy="855944"/>
            </a:xfrm>
            <a:custGeom>
              <a:avLst/>
              <a:gdLst/>
              <a:ahLst/>
              <a:cxnLst/>
              <a:rect l="l" t="t" r="r" b="b"/>
              <a:pathLst>
                <a:path w="851041" h="855944">
                  <a:moveTo>
                    <a:pt x="170963" y="0"/>
                  </a:moveTo>
                  <a:lnTo>
                    <a:pt x="680078" y="0"/>
                  </a:lnTo>
                  <a:cubicBezTo>
                    <a:pt x="774498" y="0"/>
                    <a:pt x="851041" y="76543"/>
                    <a:pt x="851041" y="170963"/>
                  </a:cubicBezTo>
                  <a:lnTo>
                    <a:pt x="851041" y="684981"/>
                  </a:lnTo>
                  <a:cubicBezTo>
                    <a:pt x="851041" y="779401"/>
                    <a:pt x="774498" y="855944"/>
                    <a:pt x="680078" y="855944"/>
                  </a:cubicBezTo>
                  <a:lnTo>
                    <a:pt x="170963" y="855944"/>
                  </a:lnTo>
                  <a:cubicBezTo>
                    <a:pt x="125621" y="855944"/>
                    <a:pt x="82136" y="837932"/>
                    <a:pt x="50074" y="805870"/>
                  </a:cubicBezTo>
                  <a:cubicBezTo>
                    <a:pt x="18012" y="773808"/>
                    <a:pt x="0" y="730323"/>
                    <a:pt x="0" y="684981"/>
                  </a:cubicBezTo>
                  <a:lnTo>
                    <a:pt x="0" y="170963"/>
                  </a:lnTo>
                  <a:cubicBezTo>
                    <a:pt x="0" y="76543"/>
                    <a:pt x="76543" y="0"/>
                    <a:pt x="1709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51041" cy="90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8100000">
            <a:off x="10669360" y="993471"/>
            <a:ext cx="10132302" cy="2304198"/>
            <a:chOff x="0" y="0"/>
            <a:chExt cx="3019165" cy="6865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19165" cy="686592"/>
            </a:xfrm>
            <a:custGeom>
              <a:avLst/>
              <a:gdLst/>
              <a:ahLst/>
              <a:cxnLst/>
              <a:rect l="l" t="t" r="r" b="b"/>
              <a:pathLst>
                <a:path w="3019165" h="686592">
                  <a:moveTo>
                    <a:pt x="0" y="0"/>
                  </a:moveTo>
                  <a:lnTo>
                    <a:pt x="3019165" y="0"/>
                  </a:lnTo>
                  <a:lnTo>
                    <a:pt x="3019165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B7A98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019165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3" name="TextBox 23"/>
          <p:cNvSpPr txBox="1"/>
          <p:nvPr/>
        </p:nvSpPr>
        <p:spPr>
          <a:xfrm>
            <a:off x="415203" y="7575375"/>
            <a:ext cx="833121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Specialization :- Information Technology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991023" y="801267"/>
            <a:ext cx="4554504" cy="455450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9096" y="0"/>
                  </a:moveTo>
                  <a:lnTo>
                    <a:pt x="773704" y="0"/>
                  </a:lnTo>
                  <a:cubicBezTo>
                    <a:pt x="784073" y="0"/>
                    <a:pt x="794017" y="4119"/>
                    <a:pt x="801349" y="11451"/>
                  </a:cubicBezTo>
                  <a:cubicBezTo>
                    <a:pt x="808681" y="18783"/>
                    <a:pt x="812800" y="28727"/>
                    <a:pt x="812800" y="39096"/>
                  </a:cubicBezTo>
                  <a:lnTo>
                    <a:pt x="812800" y="773704"/>
                  </a:lnTo>
                  <a:cubicBezTo>
                    <a:pt x="812800" y="784073"/>
                    <a:pt x="808681" y="794017"/>
                    <a:pt x="801349" y="801349"/>
                  </a:cubicBezTo>
                  <a:cubicBezTo>
                    <a:pt x="794017" y="808681"/>
                    <a:pt x="784073" y="812800"/>
                    <a:pt x="773704" y="812800"/>
                  </a:cubicBezTo>
                  <a:lnTo>
                    <a:pt x="39096" y="812800"/>
                  </a:lnTo>
                  <a:cubicBezTo>
                    <a:pt x="28727" y="812800"/>
                    <a:pt x="18783" y="808681"/>
                    <a:pt x="11451" y="801349"/>
                  </a:cubicBezTo>
                  <a:cubicBezTo>
                    <a:pt x="4119" y="794017"/>
                    <a:pt x="0" y="784073"/>
                    <a:pt x="0" y="773704"/>
                  </a:cubicBezTo>
                  <a:lnTo>
                    <a:pt x="0" y="39096"/>
                  </a:lnTo>
                  <a:cubicBezTo>
                    <a:pt x="0" y="28727"/>
                    <a:pt x="4119" y="18783"/>
                    <a:pt x="11451" y="11451"/>
                  </a:cubicBezTo>
                  <a:cubicBezTo>
                    <a:pt x="18783" y="4119"/>
                    <a:pt x="28727" y="0"/>
                    <a:pt x="39096" y="0"/>
                  </a:cubicBezTo>
                  <a:close/>
                </a:path>
              </a:pathLst>
            </a:custGeom>
            <a:blipFill>
              <a:blip r:embed="rId4"/>
              <a:stretch>
                <a:fillRect l="-37989" t="-32364" r="-3431" b="-56197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391539"/>
              </p:ext>
            </p:extLst>
          </p:nvPr>
        </p:nvGraphicFramePr>
        <p:xfrm>
          <a:off x="838200" y="3209925"/>
          <a:ext cx="16653288" cy="5286375"/>
        </p:xfrm>
        <a:graphic>
          <a:graphicData uri="http://schemas.openxmlformats.org/drawingml/2006/table">
            <a:tbl>
              <a:tblPr/>
              <a:tblGrid>
                <a:gridCol w="614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8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3327"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>
                          <a:solidFill>
                            <a:srgbClr val="FFFFFF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Comments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49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>
                          <a:solidFill>
                            <a:srgbClr val="FFFFFF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4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3048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Support for children with Dyscalculia. Might need to analyze the emotion of the child. Need to think about emotional support and HCI. Include sort of reward system.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u="none" strike="noStrike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Designed child-friendly UI/UX with Sinhala voice guidance and interactive numeracy games.</a:t>
                      </a:r>
                      <a:endParaRPr lang="en-US" sz="1100" dirty="0"/>
                    </a:p>
                    <a:p>
                      <a:pPr algn="l">
                        <a:lnSpc>
                          <a:spcPts val="3639"/>
                        </a:lnSpc>
                      </a:pPr>
                      <a:r>
                        <a:rPr lang="en-US" sz="2599" u="none" strike="noStrike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Developed activities such as </a:t>
                      </a:r>
                      <a:r>
                        <a:rPr lang="en-US" sz="2599" b="1" u="none" strike="noStrike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number tracing, balloon pop, and number sorting</a:t>
                      </a:r>
                      <a:r>
                        <a:rPr lang="en-US" sz="2599" u="none" strike="noStrike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to improve number recognition and counting skills.</a:t>
                      </a:r>
                    </a:p>
                    <a:p>
                      <a:pPr algn="l">
                        <a:lnSpc>
                          <a:spcPts val="3639"/>
                        </a:lnSpc>
                      </a:pPr>
                      <a:r>
                        <a:rPr lang="en-US" sz="2599" u="none" strike="noStrike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Added reward systems, animations, and positive feedback to improve motivation and engagement.</a:t>
                      </a:r>
                    </a:p>
                    <a:p>
                      <a:pPr algn="l">
                        <a:lnSpc>
                          <a:spcPts val="3639"/>
                        </a:lnSpc>
                      </a:pPr>
                      <a:r>
                        <a:rPr lang="en-US" sz="2599" u="none" strike="noStrike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 Collected feedback from children and guidance from the external supervisor to identify usability and HCI improvements.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449694" y="1904355"/>
            <a:ext cx="16546448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400" b="1" u="sng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COMMENTS FOR THE PROPOSAL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2230" y="545465"/>
            <a:ext cx="16546448" cy="67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47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DYSCALCULIA INTERVENTION MODULE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9629775"/>
            <a:ext cx="18288000" cy="657225"/>
            <a:chOff x="0" y="0"/>
            <a:chExt cx="5449352" cy="1958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49353" cy="195836"/>
            </a:xfrm>
            <a:custGeom>
              <a:avLst/>
              <a:gdLst/>
              <a:ahLst/>
              <a:cxnLst/>
              <a:rect l="l" t="t" r="r" b="b"/>
              <a:pathLst>
                <a:path w="5449353" h="195836">
                  <a:moveTo>
                    <a:pt x="0" y="0"/>
                  </a:moveTo>
                  <a:lnTo>
                    <a:pt x="5449353" y="0"/>
                  </a:lnTo>
                  <a:lnTo>
                    <a:pt x="5449353" y="195836"/>
                  </a:lnTo>
                  <a:lnTo>
                    <a:pt x="0" y="195836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449352" cy="243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874258" y="9731157"/>
            <a:ext cx="674632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IT22062574  |   Abeysinghe A H M P D    |   R26-IT-114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46152" y="329457"/>
            <a:ext cx="1654644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DYSCALCULIA INTERVENTION MODULE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9629775"/>
            <a:ext cx="18288000" cy="657225"/>
            <a:chOff x="0" y="0"/>
            <a:chExt cx="5449352" cy="1958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49353" cy="195836"/>
            </a:xfrm>
            <a:custGeom>
              <a:avLst/>
              <a:gdLst/>
              <a:ahLst/>
              <a:cxnLst/>
              <a:rect l="l" t="t" r="r" b="b"/>
              <a:pathLst>
                <a:path w="5449353" h="195836">
                  <a:moveTo>
                    <a:pt x="0" y="0"/>
                  </a:moveTo>
                  <a:lnTo>
                    <a:pt x="5449353" y="0"/>
                  </a:lnTo>
                  <a:lnTo>
                    <a:pt x="5449353" y="195836"/>
                  </a:lnTo>
                  <a:lnTo>
                    <a:pt x="0" y="195836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449352" cy="243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874258" y="9731157"/>
            <a:ext cx="674632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IT22062574  |   Abeysinghe A H M P D    |   R26-IT-114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2060" y="1091457"/>
            <a:ext cx="9754939" cy="529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How the Solution Addresses the Sub-Problem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780" y="1714500"/>
            <a:ext cx="16747262" cy="433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Developed a game-based adaptive numeracy intervention system for Sinhala-speaking children with Dyscalculia.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Designed interactive activities for:(Number recognition, Counting, Quantity identification, Number sequencing, Number tracing)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Integrated Sinhala audio guidance and visual learning support.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Added adaptive game difficulty based on child performance.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Included progress monitoring dashboards for parents, teachers, and therapists.</a:t>
            </a:r>
          </a:p>
          <a:p>
            <a:pPr algn="l">
              <a:lnSpc>
                <a:spcPts val="4327"/>
              </a:lnSpc>
            </a:pPr>
            <a:endParaRPr lang="en-US" sz="3091" dirty="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2202" y="5650704"/>
            <a:ext cx="3871198" cy="56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User Requirements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2230" y="6326113"/>
            <a:ext cx="16747262" cy="324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Child-friendly colorful interface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Sinhala voice guidance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Mobile responsive design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Interactive touch-based games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Gamified learning experience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Progress tracking and performance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2230" y="435285"/>
            <a:ext cx="1654644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DYSCALCULIA INTERVENTION MODULE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9629775"/>
            <a:ext cx="18288000" cy="657225"/>
            <a:chOff x="0" y="0"/>
            <a:chExt cx="5449352" cy="1958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49353" cy="195836"/>
            </a:xfrm>
            <a:custGeom>
              <a:avLst/>
              <a:gdLst/>
              <a:ahLst/>
              <a:cxnLst/>
              <a:rect l="l" t="t" r="r" b="b"/>
              <a:pathLst>
                <a:path w="5449353" h="195836">
                  <a:moveTo>
                    <a:pt x="0" y="0"/>
                  </a:moveTo>
                  <a:lnTo>
                    <a:pt x="5449353" y="0"/>
                  </a:lnTo>
                  <a:lnTo>
                    <a:pt x="5449353" y="195836"/>
                  </a:lnTo>
                  <a:lnTo>
                    <a:pt x="0" y="195836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449352" cy="243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874258" y="9731157"/>
            <a:ext cx="674632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IT22062574  |   Abeysinghe A H M P D    |   R26-IT-114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2230" y="1340160"/>
            <a:ext cx="4137370" cy="529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Design Excellence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2650" y="2145434"/>
            <a:ext cx="16747262" cy="324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Developed Math Carnival themed learning environment for children.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Added multisensory learning using:(Audio, Visual objects, Touch interaction)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Designed adaptive games such as:(Balloon Pop Quantity Game, Number Sorting Game, Number Listening Game, Interactive Number Tracing)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Created reward systems using stars, badges, and animations.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Integrated performance analytics dashboard for monitoring learning improvement.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2650" y="6345965"/>
            <a:ext cx="16747262" cy="378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Parents:</a:t>
            </a: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“Children stayed engaged and enjoyed learning numbers through games.”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Teachers:</a:t>
            </a: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“The visual activities and Sinhala audio guidance improved numeracy interaction.”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Children:</a:t>
            </a: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“Fun and easy to play!”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0" y="5707851"/>
            <a:ext cx="6524880" cy="56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u="sng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User Feedback on prototype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377009" y="1338457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8100000">
            <a:off x="7965362" y="10637768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TextBox 7"/>
          <p:cNvSpPr txBox="1"/>
          <p:nvPr/>
        </p:nvSpPr>
        <p:spPr>
          <a:xfrm>
            <a:off x="266165" y="5181600"/>
            <a:ext cx="12939613" cy="123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4359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DYSGRAPHIA INTERVENTION </a:t>
            </a:r>
          </a:p>
          <a:p>
            <a:pPr algn="l">
              <a:lnSpc>
                <a:spcPts val="4795"/>
              </a:lnSpc>
            </a:pPr>
            <a:r>
              <a:rPr lang="en-US" sz="4359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MODULE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8965020"/>
            <a:ext cx="18288000" cy="1321980"/>
            <a:chOff x="0" y="0"/>
            <a:chExt cx="5449352" cy="3939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49353" cy="393916"/>
            </a:xfrm>
            <a:custGeom>
              <a:avLst/>
              <a:gdLst/>
              <a:ahLst/>
              <a:cxnLst/>
              <a:rect l="l" t="t" r="r" b="b"/>
              <a:pathLst>
                <a:path w="5449353" h="393916">
                  <a:moveTo>
                    <a:pt x="0" y="0"/>
                  </a:moveTo>
                  <a:lnTo>
                    <a:pt x="5449353" y="0"/>
                  </a:lnTo>
                  <a:lnTo>
                    <a:pt x="5449353" y="393916"/>
                  </a:lnTo>
                  <a:lnTo>
                    <a:pt x="0" y="393916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49352" cy="441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5203" y="1686112"/>
            <a:ext cx="12117608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0"/>
              </a:lnSpc>
            </a:pPr>
            <a:r>
              <a:rPr lang="en-US" sz="62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B.W.J.D SENAVIRATHNA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5203" y="2860949"/>
            <a:ext cx="4386142" cy="79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3"/>
              </a:lnSpc>
              <a:spcBef>
                <a:spcPct val="0"/>
              </a:spcBef>
            </a:pPr>
            <a:r>
              <a:rPr lang="en-US" sz="4645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IT22128836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505116" y="262935"/>
            <a:ext cx="4528416" cy="4554504"/>
            <a:chOff x="0" y="0"/>
            <a:chExt cx="851041" cy="8559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1041" cy="855944"/>
            </a:xfrm>
            <a:custGeom>
              <a:avLst/>
              <a:gdLst/>
              <a:ahLst/>
              <a:cxnLst/>
              <a:rect l="l" t="t" r="r" b="b"/>
              <a:pathLst>
                <a:path w="851041" h="855944">
                  <a:moveTo>
                    <a:pt x="170963" y="0"/>
                  </a:moveTo>
                  <a:lnTo>
                    <a:pt x="680078" y="0"/>
                  </a:lnTo>
                  <a:cubicBezTo>
                    <a:pt x="774498" y="0"/>
                    <a:pt x="851041" y="76543"/>
                    <a:pt x="851041" y="170963"/>
                  </a:cubicBezTo>
                  <a:lnTo>
                    <a:pt x="851041" y="684981"/>
                  </a:lnTo>
                  <a:cubicBezTo>
                    <a:pt x="851041" y="779401"/>
                    <a:pt x="774498" y="855944"/>
                    <a:pt x="680078" y="855944"/>
                  </a:cubicBezTo>
                  <a:lnTo>
                    <a:pt x="170963" y="855944"/>
                  </a:lnTo>
                  <a:cubicBezTo>
                    <a:pt x="125621" y="855944"/>
                    <a:pt x="82136" y="837932"/>
                    <a:pt x="50074" y="805870"/>
                  </a:cubicBezTo>
                  <a:cubicBezTo>
                    <a:pt x="18012" y="773808"/>
                    <a:pt x="0" y="730323"/>
                    <a:pt x="0" y="684981"/>
                  </a:cubicBezTo>
                  <a:lnTo>
                    <a:pt x="0" y="170963"/>
                  </a:lnTo>
                  <a:cubicBezTo>
                    <a:pt x="0" y="76543"/>
                    <a:pt x="76543" y="0"/>
                    <a:pt x="1709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51041" cy="90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8100000">
            <a:off x="10669360" y="993471"/>
            <a:ext cx="10132302" cy="2304198"/>
            <a:chOff x="0" y="0"/>
            <a:chExt cx="3019165" cy="6865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19165" cy="686592"/>
            </a:xfrm>
            <a:custGeom>
              <a:avLst/>
              <a:gdLst/>
              <a:ahLst/>
              <a:cxnLst/>
              <a:rect l="l" t="t" r="r" b="b"/>
              <a:pathLst>
                <a:path w="3019165" h="686592">
                  <a:moveTo>
                    <a:pt x="0" y="0"/>
                  </a:moveTo>
                  <a:lnTo>
                    <a:pt x="3019165" y="0"/>
                  </a:lnTo>
                  <a:lnTo>
                    <a:pt x="3019165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B7A98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019165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3" name="Group 23"/>
          <p:cNvGrpSpPr/>
          <p:nvPr/>
        </p:nvGrpSpPr>
        <p:grpSpPr>
          <a:xfrm>
            <a:off x="13409331" y="801267"/>
            <a:ext cx="4185197" cy="418519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2546" y="0"/>
                  </a:moveTo>
                  <a:lnTo>
                    <a:pt x="770254" y="0"/>
                  </a:lnTo>
                  <a:cubicBezTo>
                    <a:pt x="793751" y="0"/>
                    <a:pt x="812800" y="19049"/>
                    <a:pt x="812800" y="42546"/>
                  </a:cubicBezTo>
                  <a:lnTo>
                    <a:pt x="812800" y="770254"/>
                  </a:lnTo>
                  <a:cubicBezTo>
                    <a:pt x="812800" y="793751"/>
                    <a:pt x="793751" y="812800"/>
                    <a:pt x="770254" y="812800"/>
                  </a:cubicBezTo>
                  <a:lnTo>
                    <a:pt x="42546" y="812800"/>
                  </a:lnTo>
                  <a:cubicBezTo>
                    <a:pt x="19049" y="812800"/>
                    <a:pt x="0" y="793751"/>
                    <a:pt x="0" y="770254"/>
                  </a:cubicBezTo>
                  <a:lnTo>
                    <a:pt x="0" y="42546"/>
                  </a:lnTo>
                  <a:cubicBezTo>
                    <a:pt x="0" y="19049"/>
                    <a:pt x="19049" y="0"/>
                    <a:pt x="42546" y="0"/>
                  </a:cubicBezTo>
                  <a:close/>
                </a:path>
              </a:pathLst>
            </a:custGeom>
            <a:blipFill>
              <a:blip r:embed="rId4"/>
              <a:stretch>
                <a:fillRect l="-32612" t="-70219" r="-35749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15203" y="7575375"/>
            <a:ext cx="833121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Specialization :- Information Technology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06011" y="3383833"/>
          <a:ext cx="16653288" cy="6105524"/>
        </p:xfrm>
        <a:graphic>
          <a:graphicData uri="http://schemas.openxmlformats.org/drawingml/2006/table">
            <a:tbl>
              <a:tblPr/>
              <a:tblGrid>
                <a:gridCol w="614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8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2253"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>
                          <a:solidFill>
                            <a:srgbClr val="FFFFFF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Comments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49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>
                          <a:solidFill>
                            <a:srgbClr val="FFFFFF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4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1043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Find the suitable data sets for sinhala letters.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Collect selected Sinhala handwritten letters from Grade 1 to Grade 3 school children and create a handwriting 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1114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Break down the Sinhala character alphabet to few levels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Break down the selected Sinhala letters into three levels based on the ease of writing, under the guidance of the external supervisor and primary school teachers.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1114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Need to think about the validation plan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Discussed the validation plan with the external supervisor. She is currently verifying the possibility of involving a child under her consultation for system validation.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606011" y="2076025"/>
            <a:ext cx="1654644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u="sng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COMMENTS FOR THE PROPOSAL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929" y="254000"/>
            <a:ext cx="16546448" cy="144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DYSGRAPHIA INTERVENTION MODULE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9629775"/>
            <a:ext cx="18288000" cy="657225"/>
            <a:chOff x="0" y="0"/>
            <a:chExt cx="5449352" cy="1958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49353" cy="195836"/>
            </a:xfrm>
            <a:custGeom>
              <a:avLst/>
              <a:gdLst/>
              <a:ahLst/>
              <a:cxnLst/>
              <a:rect l="l" t="t" r="r" b="b"/>
              <a:pathLst>
                <a:path w="5449353" h="195836">
                  <a:moveTo>
                    <a:pt x="0" y="0"/>
                  </a:moveTo>
                  <a:lnTo>
                    <a:pt x="5449353" y="0"/>
                  </a:lnTo>
                  <a:lnTo>
                    <a:pt x="5449353" y="195836"/>
                  </a:lnTo>
                  <a:lnTo>
                    <a:pt x="0" y="195836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449352" cy="243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48897" y="9796463"/>
            <a:ext cx="762753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IT22128836      |     </a:t>
            </a:r>
            <a:r>
              <a:rPr lang="en-US" sz="1899" b="1" dirty="0" err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Senavirathna</a:t>
            </a:r>
            <a:r>
              <a:rPr lang="en-US" sz="18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 B.W.J.D     |      R26-IT-114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2230" y="342156"/>
            <a:ext cx="17235401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4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DYSGRAPHIA INTERVENTION  MODULE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2060" y="1091457"/>
            <a:ext cx="10288339" cy="529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How the Solution Addresses the Sub-Problem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780" y="1897790"/>
            <a:ext cx="16747262" cy="324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Developed a game-based adaptive handwriting intervention system for Sinhala-medium children.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Design games for letter practice that start with simplified tracing steps and gradually progress up to three-letter words.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Integrated voice-guided Sinhala instructions to support children with limited reading ability.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Supports progress monitoring dashboards for parents, teachers, and therapists.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2230" y="5650704"/>
            <a:ext cx="3871198" cy="56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u="sng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User Requirements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2230" y="6326113"/>
            <a:ext cx="16747262" cy="324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Interactive and colorful UIs for handwriting assessment tasks.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Real-time handwriting capture and analysis. 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Different difficulty levels for gradual learning improvement.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Sinhala voice-guided instructions.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Mobile responsiveness.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Supports progress monitoring dashboards for parents, teachers, and therapists.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9749392"/>
            <a:ext cx="18288000" cy="537608"/>
            <a:chOff x="0" y="0"/>
            <a:chExt cx="5449352" cy="1601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49353" cy="160193"/>
            </a:xfrm>
            <a:custGeom>
              <a:avLst/>
              <a:gdLst/>
              <a:ahLst/>
              <a:cxnLst/>
              <a:rect l="l" t="t" r="r" b="b"/>
              <a:pathLst>
                <a:path w="5449353" h="160193">
                  <a:moveTo>
                    <a:pt x="0" y="0"/>
                  </a:moveTo>
                  <a:lnTo>
                    <a:pt x="5449353" y="0"/>
                  </a:lnTo>
                  <a:lnTo>
                    <a:pt x="5449353" y="160193"/>
                  </a:lnTo>
                  <a:lnTo>
                    <a:pt x="0" y="160193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449352" cy="20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2">
            <a:extLst>
              <a:ext uri="{FF2B5EF4-FFF2-40B4-BE49-F238E27FC236}">
                <a16:creationId xmlns:a16="http://schemas.microsoft.com/office/drawing/2014/main" id="{C1F95665-8E96-5219-76E5-BA434B6BB4BF}"/>
              </a:ext>
            </a:extLst>
          </p:cNvPr>
          <p:cNvSpPr txBox="1"/>
          <p:nvPr/>
        </p:nvSpPr>
        <p:spPr>
          <a:xfrm>
            <a:off x="10248897" y="9791700"/>
            <a:ext cx="762753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IT22128836      |     </a:t>
            </a:r>
            <a:r>
              <a:rPr lang="en-US" sz="1899" b="1" dirty="0" err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Senavirathna</a:t>
            </a:r>
            <a:r>
              <a:rPr lang="en-US" sz="18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 B.W.J.D     |      R26-IT-114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2230" y="464400"/>
            <a:ext cx="14943566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4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DYSGRAPHIA INTERVENTION MODULE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2230" y="1340160"/>
            <a:ext cx="4137370" cy="529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Design Excellence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2650" y="2145434"/>
            <a:ext cx="16747262" cy="270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Added interactive animations to improve engagement.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Combines: Game-based learning , Sensory learning, 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Innovative mirror-letter training to improve visual discrimination skills.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Integration of AI-based handwriting evaluation for personalized learning support.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Created reward system (stars, gems) to motivate learning.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0369" y="6503682"/>
            <a:ext cx="16747262" cy="324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Children show high engagement with audio-based interaction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Children are attracted to watching animated letter writing.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Writing canvas helps improve interest compared to paper-based practice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Some users may need clearer guidance at first use (on how to draw or proceed to next step)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0" y="5707851"/>
            <a:ext cx="4137370" cy="529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User Feedback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9749392"/>
            <a:ext cx="18288000" cy="537608"/>
            <a:chOff x="0" y="0"/>
            <a:chExt cx="5449352" cy="1601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49353" cy="160193"/>
            </a:xfrm>
            <a:custGeom>
              <a:avLst/>
              <a:gdLst/>
              <a:ahLst/>
              <a:cxnLst/>
              <a:rect l="l" t="t" r="r" b="b"/>
              <a:pathLst>
                <a:path w="5449353" h="160193">
                  <a:moveTo>
                    <a:pt x="0" y="0"/>
                  </a:moveTo>
                  <a:lnTo>
                    <a:pt x="5449353" y="0"/>
                  </a:lnTo>
                  <a:lnTo>
                    <a:pt x="5449353" y="160193"/>
                  </a:lnTo>
                  <a:lnTo>
                    <a:pt x="0" y="160193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449352" cy="207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D580D325-B1B4-FDDD-50A8-26029F3AC895}"/>
              </a:ext>
            </a:extLst>
          </p:cNvPr>
          <p:cNvSpPr txBox="1"/>
          <p:nvPr/>
        </p:nvSpPr>
        <p:spPr>
          <a:xfrm>
            <a:off x="10248897" y="9796463"/>
            <a:ext cx="762753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IT22128836      |     </a:t>
            </a:r>
            <a:r>
              <a:rPr lang="en-US" sz="1899" b="1" dirty="0" err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Senavirathna</a:t>
            </a:r>
            <a:r>
              <a:rPr lang="en-US" sz="18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 B.W.J.D     |      R26-IT-114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377009" y="1338457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8100000">
            <a:off x="7965362" y="10637768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TextBox 7"/>
          <p:cNvSpPr txBox="1"/>
          <p:nvPr/>
        </p:nvSpPr>
        <p:spPr>
          <a:xfrm>
            <a:off x="415203" y="4702184"/>
            <a:ext cx="14183634" cy="1840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4359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SUPPORT AND IMPROVEMENT OF WORKING MEMORY SKILLS IN CHILDREN WITH WORKING MEMORY DISORDER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8965020"/>
            <a:ext cx="18288000" cy="1321980"/>
            <a:chOff x="0" y="0"/>
            <a:chExt cx="5449352" cy="3939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49353" cy="393916"/>
            </a:xfrm>
            <a:custGeom>
              <a:avLst/>
              <a:gdLst/>
              <a:ahLst/>
              <a:cxnLst/>
              <a:rect l="l" t="t" r="r" b="b"/>
              <a:pathLst>
                <a:path w="5449353" h="393916">
                  <a:moveTo>
                    <a:pt x="0" y="0"/>
                  </a:moveTo>
                  <a:lnTo>
                    <a:pt x="5449353" y="0"/>
                  </a:lnTo>
                  <a:lnTo>
                    <a:pt x="5449353" y="393916"/>
                  </a:lnTo>
                  <a:lnTo>
                    <a:pt x="0" y="393916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49352" cy="441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5203" y="1686112"/>
            <a:ext cx="12117608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0"/>
              </a:lnSpc>
            </a:pPr>
            <a:r>
              <a:rPr lang="en-US" sz="62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H.A.P.N SENADEERA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5203" y="2860949"/>
            <a:ext cx="4386142" cy="79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3"/>
              </a:lnSpc>
              <a:spcBef>
                <a:spcPct val="0"/>
              </a:spcBef>
            </a:pPr>
            <a:r>
              <a:rPr lang="en-US" sz="4645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IT22502360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505116" y="262935"/>
            <a:ext cx="4528416" cy="4554504"/>
            <a:chOff x="0" y="0"/>
            <a:chExt cx="851041" cy="8559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1041" cy="855944"/>
            </a:xfrm>
            <a:custGeom>
              <a:avLst/>
              <a:gdLst/>
              <a:ahLst/>
              <a:cxnLst/>
              <a:rect l="l" t="t" r="r" b="b"/>
              <a:pathLst>
                <a:path w="851041" h="855944">
                  <a:moveTo>
                    <a:pt x="170963" y="0"/>
                  </a:moveTo>
                  <a:lnTo>
                    <a:pt x="680078" y="0"/>
                  </a:lnTo>
                  <a:cubicBezTo>
                    <a:pt x="774498" y="0"/>
                    <a:pt x="851041" y="76543"/>
                    <a:pt x="851041" y="170963"/>
                  </a:cubicBezTo>
                  <a:lnTo>
                    <a:pt x="851041" y="684981"/>
                  </a:lnTo>
                  <a:cubicBezTo>
                    <a:pt x="851041" y="779401"/>
                    <a:pt x="774498" y="855944"/>
                    <a:pt x="680078" y="855944"/>
                  </a:cubicBezTo>
                  <a:lnTo>
                    <a:pt x="170963" y="855944"/>
                  </a:lnTo>
                  <a:cubicBezTo>
                    <a:pt x="125621" y="855944"/>
                    <a:pt x="82136" y="837932"/>
                    <a:pt x="50074" y="805870"/>
                  </a:cubicBezTo>
                  <a:cubicBezTo>
                    <a:pt x="18012" y="773808"/>
                    <a:pt x="0" y="730323"/>
                    <a:pt x="0" y="684981"/>
                  </a:cubicBezTo>
                  <a:lnTo>
                    <a:pt x="0" y="170963"/>
                  </a:lnTo>
                  <a:cubicBezTo>
                    <a:pt x="0" y="76543"/>
                    <a:pt x="76543" y="0"/>
                    <a:pt x="1709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51041" cy="90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8100000">
            <a:off x="10669360" y="993471"/>
            <a:ext cx="10132302" cy="2304198"/>
            <a:chOff x="0" y="0"/>
            <a:chExt cx="3019165" cy="6865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19165" cy="686592"/>
            </a:xfrm>
            <a:custGeom>
              <a:avLst/>
              <a:gdLst/>
              <a:ahLst/>
              <a:cxnLst/>
              <a:rect l="l" t="t" r="r" b="b"/>
              <a:pathLst>
                <a:path w="3019165" h="686592">
                  <a:moveTo>
                    <a:pt x="0" y="0"/>
                  </a:moveTo>
                  <a:lnTo>
                    <a:pt x="3019165" y="0"/>
                  </a:lnTo>
                  <a:lnTo>
                    <a:pt x="3019165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B7A98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019165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3" name="TextBox 23"/>
          <p:cNvSpPr txBox="1"/>
          <p:nvPr/>
        </p:nvSpPr>
        <p:spPr>
          <a:xfrm>
            <a:off x="415203" y="7575375"/>
            <a:ext cx="833121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Specialization :- Information Technology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812964" y="608363"/>
            <a:ext cx="3945962" cy="394596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5126" y="0"/>
                  </a:moveTo>
                  <a:lnTo>
                    <a:pt x="767674" y="0"/>
                  </a:lnTo>
                  <a:cubicBezTo>
                    <a:pt x="779642" y="0"/>
                    <a:pt x="791120" y="4754"/>
                    <a:pt x="799583" y="13217"/>
                  </a:cubicBezTo>
                  <a:cubicBezTo>
                    <a:pt x="808046" y="21680"/>
                    <a:pt x="812800" y="33158"/>
                    <a:pt x="812800" y="45126"/>
                  </a:cubicBezTo>
                  <a:lnTo>
                    <a:pt x="812800" y="767674"/>
                  </a:lnTo>
                  <a:cubicBezTo>
                    <a:pt x="812800" y="779642"/>
                    <a:pt x="808046" y="791120"/>
                    <a:pt x="799583" y="799583"/>
                  </a:cubicBezTo>
                  <a:cubicBezTo>
                    <a:pt x="791120" y="808046"/>
                    <a:pt x="779642" y="812800"/>
                    <a:pt x="767674" y="812800"/>
                  </a:cubicBezTo>
                  <a:lnTo>
                    <a:pt x="45126" y="812800"/>
                  </a:lnTo>
                  <a:cubicBezTo>
                    <a:pt x="33158" y="812800"/>
                    <a:pt x="21680" y="808046"/>
                    <a:pt x="13217" y="799583"/>
                  </a:cubicBezTo>
                  <a:cubicBezTo>
                    <a:pt x="4754" y="791120"/>
                    <a:pt x="0" y="779642"/>
                    <a:pt x="0" y="767674"/>
                  </a:cubicBezTo>
                  <a:lnTo>
                    <a:pt x="0" y="45126"/>
                  </a:lnTo>
                  <a:cubicBezTo>
                    <a:pt x="0" y="33158"/>
                    <a:pt x="4754" y="21680"/>
                    <a:pt x="13217" y="13217"/>
                  </a:cubicBezTo>
                  <a:cubicBezTo>
                    <a:pt x="21680" y="4754"/>
                    <a:pt x="33158" y="0"/>
                    <a:pt x="45126" y="0"/>
                  </a:cubicBezTo>
                  <a:close/>
                </a:path>
              </a:pathLst>
            </a:custGeom>
            <a:blipFill>
              <a:blip r:embed="rId4"/>
              <a:stretch>
                <a:fillRect l="-14001" t="-4766" r="-15491" b="-24726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372587" y="9568860"/>
            <a:ext cx="791541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IT22502360 | H.A.P.N Senadeera | R26-IT-114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612983"/>
              </p:ext>
            </p:extLst>
          </p:nvPr>
        </p:nvGraphicFramePr>
        <p:xfrm>
          <a:off x="329716" y="2574516"/>
          <a:ext cx="17628568" cy="7229475"/>
        </p:xfrm>
        <a:graphic>
          <a:graphicData uri="http://schemas.openxmlformats.org/drawingml/2006/table">
            <a:tbl>
              <a:tblPr/>
              <a:tblGrid>
                <a:gridCol w="637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2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1178"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>
                          <a:solidFill>
                            <a:srgbClr val="FFFFFF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Comments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49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>
                          <a:solidFill>
                            <a:srgbClr val="FFFFFF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4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8297"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Support for children with working memory disorder. Have a good understanding about the scope.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26109" lvl="1" indent="-313054" algn="l">
                        <a:lnSpc>
                          <a:spcPts val="40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899" dirty="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Developed different game activities such as Sequence recall games, Memory matching games, video story game  </a:t>
                      </a:r>
                      <a:endParaRPr lang="en-US" sz="1100" dirty="0"/>
                    </a:p>
                    <a:p>
                      <a:pPr marL="626109" lvl="1" indent="-313054" algn="l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2899" dirty="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Included Sinhala audio and visual instructions for children</a:t>
                      </a:r>
                    </a:p>
                    <a:p>
                      <a:pPr marL="626109" lvl="1" indent="-313054" algn="l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2899" dirty="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Added cognitive performance tracking such as accuracy level, memory performance, attention performance, response time.</a:t>
                      </a:r>
                    </a:p>
                    <a:p>
                      <a:pPr marL="626109" lvl="1" indent="-313054" algn="l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2899" dirty="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Added rewards and progress tracking features.</a:t>
                      </a:r>
                    </a:p>
                    <a:p>
                      <a:pPr marL="626109" lvl="1" indent="-313054" algn="l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2899" dirty="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Developed adaptive game difficulty based on child performance.</a:t>
                      </a:r>
                    </a:p>
                    <a:p>
                      <a:pPr marL="626109" lvl="1" indent="-313054" algn="l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2899" dirty="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Created an engaging learning environment to support children with working memory difficulties.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712852" y="1860550"/>
            <a:ext cx="16546448" cy="54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0"/>
              </a:lnSpc>
            </a:pPr>
            <a:r>
              <a:rPr lang="en-US" sz="3800" b="1" u="sng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COMMENTS FOR THE PROPOSAL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8306" y="263525"/>
            <a:ext cx="16546448" cy="131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sz="4599" b="1" dirty="0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WORKING MEMORY INTERVENTION </a:t>
            </a:r>
          </a:p>
          <a:p>
            <a:pPr algn="l">
              <a:lnSpc>
                <a:spcPts val="5059"/>
              </a:lnSpc>
            </a:pPr>
            <a:r>
              <a:rPr lang="en-US" sz="4599" b="1" dirty="0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MODULE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9802947"/>
            <a:ext cx="18288000" cy="484053"/>
            <a:chOff x="0" y="0"/>
            <a:chExt cx="5449352" cy="1442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49353" cy="144235"/>
            </a:xfrm>
            <a:custGeom>
              <a:avLst/>
              <a:gdLst/>
              <a:ahLst/>
              <a:cxnLst/>
              <a:rect l="l" t="t" r="r" b="b"/>
              <a:pathLst>
                <a:path w="5449353" h="144235">
                  <a:moveTo>
                    <a:pt x="0" y="0"/>
                  </a:moveTo>
                  <a:lnTo>
                    <a:pt x="5449353" y="0"/>
                  </a:lnTo>
                  <a:lnTo>
                    <a:pt x="5449353" y="144235"/>
                  </a:lnTo>
                  <a:lnTo>
                    <a:pt x="0" y="144235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449352" cy="191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10620" y="9745797"/>
            <a:ext cx="791541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IT22502360 | H.A.P.N Senadeera | R26-IT-114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2230" y="535940"/>
            <a:ext cx="16546448" cy="150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52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WORKING MEMORY INTERVENTION </a:t>
            </a:r>
          </a:p>
          <a:p>
            <a:pPr algn="l">
              <a:lnSpc>
                <a:spcPts val="5720"/>
              </a:lnSpc>
            </a:pPr>
            <a:r>
              <a:rPr lang="en-US" sz="52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MODULE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2060" y="2247669"/>
            <a:ext cx="9907339" cy="529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How the Solution Addresses the Sub-Problem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2650" y="3012209"/>
            <a:ext cx="16747262" cy="324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Helps children improve memory and attention skills through interactive games.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Provides activities to practice remembering sequences, patterns, and objects.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Integrated Sinhala audio and visual guidance to support children with memory and attention difficulties.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Supports progress tracking and performance monitoring for parents, teachers, and therapists.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6800" y="6181720"/>
            <a:ext cx="3871198" cy="56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User Requirements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2038" y="6799263"/>
            <a:ext cx="16747262" cy="324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Easy-to-use and child-friendly game interface.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Visual guidance to support non-readers or early learners.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Mobile responsive.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Progress tracking system for monitoring child performance.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Dashboard access for parents, teachers, and therapists to view progress.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0" y="9802947"/>
            <a:ext cx="18288000" cy="484053"/>
            <a:chOff x="0" y="0"/>
            <a:chExt cx="5449352" cy="144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49353" cy="144235"/>
            </a:xfrm>
            <a:custGeom>
              <a:avLst/>
              <a:gdLst/>
              <a:ahLst/>
              <a:cxnLst/>
              <a:rect l="l" t="t" r="r" b="b"/>
              <a:pathLst>
                <a:path w="5449353" h="144235">
                  <a:moveTo>
                    <a:pt x="0" y="0"/>
                  </a:moveTo>
                  <a:lnTo>
                    <a:pt x="5449353" y="0"/>
                  </a:lnTo>
                  <a:lnTo>
                    <a:pt x="5449353" y="144235"/>
                  </a:lnTo>
                  <a:lnTo>
                    <a:pt x="0" y="144235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449352" cy="191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10620" y="9745797"/>
            <a:ext cx="791541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IT22502360 | H.A.P.N </a:t>
            </a:r>
            <a:r>
              <a:rPr lang="en-US" sz="2399" dirty="0" err="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Senadeera</a:t>
            </a:r>
            <a:r>
              <a:rPr lang="en-US" sz="2399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| R26-IT-114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33499" y="266700"/>
            <a:ext cx="15063701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4700" b="1" dirty="0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WORKING MEMORY INTERVENTION </a:t>
            </a:r>
          </a:p>
          <a:p>
            <a:pPr algn="l">
              <a:lnSpc>
                <a:spcPts val="5170"/>
              </a:lnSpc>
            </a:pPr>
            <a:r>
              <a:rPr lang="en-US" sz="4700" b="1" dirty="0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MODULE</a:t>
            </a:r>
          </a:p>
          <a:p>
            <a:pPr algn="l">
              <a:lnSpc>
                <a:spcPts val="5170"/>
              </a:lnSpc>
            </a:pPr>
            <a:endParaRPr lang="en-US" sz="4700" b="1" dirty="0">
              <a:solidFill>
                <a:srgbClr val="010100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2123353" y="1497539"/>
            <a:ext cx="12579313" cy="1312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u="sng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Design Excellence/Contribution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endParaRPr lang="en-US" sz="3699" b="1" u="sng">
              <a:solidFill>
                <a:srgbClr val="1E1E1E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12038" y="2120474"/>
            <a:ext cx="16747262" cy="392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963" lvl="1" indent="-344482" algn="l">
              <a:lnSpc>
                <a:spcPts val="4467"/>
              </a:lnSpc>
              <a:buFont typeface="Arial"/>
              <a:buChar char="•"/>
            </a:pPr>
            <a:r>
              <a:rPr lang="en-US" sz="31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Designed colorful and engaging UI for children.</a:t>
            </a:r>
          </a:p>
          <a:p>
            <a:pPr marL="688963" lvl="1" indent="-344482" algn="l">
              <a:lnSpc>
                <a:spcPts val="4467"/>
              </a:lnSpc>
              <a:buFont typeface="Arial"/>
              <a:buChar char="•"/>
            </a:pPr>
            <a:r>
              <a:rPr lang="en-US" sz="31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Added interactive animations to improve engagement.</a:t>
            </a:r>
          </a:p>
          <a:p>
            <a:pPr marL="688963" lvl="1" indent="-344482" algn="l">
              <a:lnSpc>
                <a:spcPts val="4467"/>
              </a:lnSpc>
              <a:buFont typeface="Arial"/>
              <a:buChar char="•"/>
            </a:pPr>
            <a:r>
              <a:rPr lang="en-US" sz="31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Integrated Sinhala voice instructions for better accessibility.</a:t>
            </a:r>
          </a:p>
          <a:p>
            <a:pPr marL="688963" lvl="1" indent="-344482" algn="l">
              <a:lnSpc>
                <a:spcPts val="4467"/>
              </a:lnSpc>
              <a:buFont typeface="Arial"/>
              <a:buChar char="•"/>
            </a:pPr>
            <a:r>
              <a:rPr lang="en-US" sz="31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Built adaptive game levels based on child performance.</a:t>
            </a:r>
          </a:p>
          <a:p>
            <a:pPr marL="688963" lvl="1" indent="-344482" algn="l">
              <a:lnSpc>
                <a:spcPts val="4467"/>
              </a:lnSpc>
              <a:buFont typeface="Arial"/>
              <a:buChar char="•"/>
            </a:pPr>
            <a:r>
              <a:rPr lang="en-US" sz="31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Created reward system (stars, badges) to motivate learning.</a:t>
            </a:r>
          </a:p>
          <a:p>
            <a:pPr marL="688963" lvl="1" indent="-344482" algn="l">
              <a:lnSpc>
                <a:spcPts val="4467"/>
              </a:lnSpc>
              <a:buFont typeface="Arial"/>
              <a:buChar char="•"/>
            </a:pPr>
            <a:r>
              <a:rPr lang="en-US" sz="31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Developed progress dashboard for monitoring improvemen</a:t>
            </a:r>
          </a:p>
          <a:p>
            <a:pPr algn="l">
              <a:lnSpc>
                <a:spcPts val="4467"/>
              </a:lnSpc>
            </a:pPr>
            <a:endParaRPr lang="en-US" sz="31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0" y="9729022"/>
            <a:ext cx="18288000" cy="557978"/>
            <a:chOff x="0" y="0"/>
            <a:chExt cx="5449352" cy="1662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49353" cy="166263"/>
            </a:xfrm>
            <a:custGeom>
              <a:avLst/>
              <a:gdLst/>
              <a:ahLst/>
              <a:cxnLst/>
              <a:rect l="l" t="t" r="r" b="b"/>
              <a:pathLst>
                <a:path w="5449353" h="166263">
                  <a:moveTo>
                    <a:pt x="0" y="0"/>
                  </a:moveTo>
                  <a:lnTo>
                    <a:pt x="5449353" y="0"/>
                  </a:lnTo>
                  <a:lnTo>
                    <a:pt x="5449353" y="166263"/>
                  </a:lnTo>
                  <a:lnTo>
                    <a:pt x="0" y="166263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449352" cy="213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12038" y="6377573"/>
            <a:ext cx="17843342" cy="366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6197" lvl="1" indent="-323099" algn="l">
              <a:lnSpc>
                <a:spcPts val="4190"/>
              </a:lnSpc>
              <a:buFont typeface="Arial"/>
              <a:buChar char="•"/>
            </a:pPr>
            <a:r>
              <a:rPr lang="en-US" sz="2993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Parents:</a:t>
            </a:r>
          </a:p>
          <a:p>
            <a:pPr algn="l">
              <a:lnSpc>
                <a:spcPts val="4190"/>
              </a:lnSpc>
            </a:pPr>
            <a:r>
              <a:rPr lang="en-US" sz="2993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           “Children stayed focused and enjoyed the memory games more than normal exercises”</a:t>
            </a:r>
          </a:p>
          <a:p>
            <a:pPr marL="646197" lvl="1" indent="-323099" algn="l">
              <a:lnSpc>
                <a:spcPts val="4190"/>
              </a:lnSpc>
              <a:buFont typeface="Arial"/>
              <a:buChar char="•"/>
            </a:pPr>
            <a:r>
              <a:rPr lang="en-US" sz="2993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Teachers:</a:t>
            </a:r>
          </a:p>
          <a:p>
            <a:pPr algn="l">
              <a:lnSpc>
                <a:spcPts val="4190"/>
              </a:lnSpc>
            </a:pPr>
            <a:r>
              <a:rPr lang="en-US" sz="2993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           “The app helps students improve attention and memory with simple visuals and voice guidance.”</a:t>
            </a:r>
          </a:p>
          <a:p>
            <a:pPr marL="646197" lvl="1" indent="-323099" algn="l">
              <a:lnSpc>
                <a:spcPts val="4190"/>
              </a:lnSpc>
              <a:buFont typeface="Arial"/>
              <a:buChar char="•"/>
            </a:pPr>
            <a:r>
              <a:rPr lang="en-US" sz="2993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Children:</a:t>
            </a:r>
          </a:p>
          <a:p>
            <a:pPr algn="l">
              <a:lnSpc>
                <a:spcPts val="4190"/>
              </a:lnSpc>
            </a:pPr>
            <a:r>
              <a:rPr lang="en-US" sz="2993">
                <a:solidFill>
                  <a:srgbClr val="1E1E1E"/>
                </a:solidFill>
                <a:latin typeface="Helios"/>
                <a:ea typeface="Helios"/>
                <a:cs typeface="Helios"/>
                <a:sym typeface="Helios"/>
              </a:rPr>
              <a:t>           “It is fun and easy to play. I like the games!”</a:t>
            </a:r>
          </a:p>
          <a:p>
            <a:pPr algn="l">
              <a:lnSpc>
                <a:spcPts val="4190"/>
              </a:lnSpc>
              <a:spcBef>
                <a:spcPct val="0"/>
              </a:spcBef>
            </a:pPr>
            <a:endParaRPr lang="en-US" sz="2993">
              <a:solidFill>
                <a:srgbClr val="1E1E1E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12039" y="5554734"/>
            <a:ext cx="3678962" cy="612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79"/>
              </a:lnSpc>
              <a:spcBef>
                <a:spcPct val="0"/>
              </a:spcBef>
            </a:pPr>
            <a:r>
              <a:rPr lang="en-US" sz="3699" b="1" u="sng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User Feedback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0AD5FE-9F0A-62D6-D474-1AC3C264B5E3}"/>
              </a:ext>
            </a:extLst>
          </p:cNvPr>
          <p:cNvSpPr txBox="1"/>
          <p:nvPr/>
        </p:nvSpPr>
        <p:spPr>
          <a:xfrm>
            <a:off x="10210620" y="9745797"/>
            <a:ext cx="791541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IT22502360 | H.A.P.N </a:t>
            </a:r>
            <a:r>
              <a:rPr lang="en-US" sz="2399" dirty="0" err="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Senadeera</a:t>
            </a:r>
            <a:r>
              <a:rPr lang="en-US" sz="2399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| R26-IT-114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2038" y="690245"/>
            <a:ext cx="16546448" cy="70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COMMERCIALIZATION/SUSTAINABILITY OF SOLUTION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70776" y="1840783"/>
            <a:ext cx="7914485" cy="3569411"/>
            <a:chOff x="0" y="0"/>
            <a:chExt cx="2084473" cy="940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84474" cy="940092"/>
            </a:xfrm>
            <a:custGeom>
              <a:avLst/>
              <a:gdLst/>
              <a:ahLst/>
              <a:cxnLst/>
              <a:rect l="l" t="t" r="r" b="b"/>
              <a:pathLst>
                <a:path w="2084474" h="940092">
                  <a:moveTo>
                    <a:pt x="16629" y="0"/>
                  </a:moveTo>
                  <a:lnTo>
                    <a:pt x="2067844" y="0"/>
                  </a:lnTo>
                  <a:cubicBezTo>
                    <a:pt x="2072255" y="0"/>
                    <a:pt x="2076484" y="1752"/>
                    <a:pt x="2079603" y="4871"/>
                  </a:cubicBezTo>
                  <a:cubicBezTo>
                    <a:pt x="2082722" y="7989"/>
                    <a:pt x="2084474" y="12219"/>
                    <a:pt x="2084474" y="16629"/>
                  </a:cubicBezTo>
                  <a:lnTo>
                    <a:pt x="2084474" y="923463"/>
                  </a:lnTo>
                  <a:cubicBezTo>
                    <a:pt x="2084474" y="927873"/>
                    <a:pt x="2082722" y="932103"/>
                    <a:pt x="2079603" y="935221"/>
                  </a:cubicBezTo>
                  <a:cubicBezTo>
                    <a:pt x="2076484" y="938340"/>
                    <a:pt x="2072255" y="940092"/>
                    <a:pt x="2067844" y="940092"/>
                  </a:cubicBezTo>
                  <a:lnTo>
                    <a:pt x="16629" y="940092"/>
                  </a:lnTo>
                  <a:cubicBezTo>
                    <a:pt x="12219" y="940092"/>
                    <a:pt x="7989" y="938340"/>
                    <a:pt x="4871" y="935221"/>
                  </a:cubicBezTo>
                  <a:cubicBezTo>
                    <a:pt x="1752" y="932103"/>
                    <a:pt x="0" y="927873"/>
                    <a:pt x="0" y="923463"/>
                  </a:cubicBezTo>
                  <a:lnTo>
                    <a:pt x="0" y="16629"/>
                  </a:lnTo>
                  <a:cubicBezTo>
                    <a:pt x="0" y="12219"/>
                    <a:pt x="1752" y="7989"/>
                    <a:pt x="4871" y="4871"/>
                  </a:cubicBezTo>
                  <a:cubicBezTo>
                    <a:pt x="7989" y="1752"/>
                    <a:pt x="12219" y="0"/>
                    <a:pt x="16629" y="0"/>
                  </a:cubicBez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84473" cy="987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1840783"/>
            <a:ext cx="7914485" cy="3569411"/>
            <a:chOff x="0" y="0"/>
            <a:chExt cx="2084473" cy="9400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84474" cy="940092"/>
            </a:xfrm>
            <a:custGeom>
              <a:avLst/>
              <a:gdLst/>
              <a:ahLst/>
              <a:cxnLst/>
              <a:rect l="l" t="t" r="r" b="b"/>
              <a:pathLst>
                <a:path w="2084474" h="940092">
                  <a:moveTo>
                    <a:pt x="16629" y="0"/>
                  </a:moveTo>
                  <a:lnTo>
                    <a:pt x="2067844" y="0"/>
                  </a:lnTo>
                  <a:cubicBezTo>
                    <a:pt x="2072255" y="0"/>
                    <a:pt x="2076484" y="1752"/>
                    <a:pt x="2079603" y="4871"/>
                  </a:cubicBezTo>
                  <a:cubicBezTo>
                    <a:pt x="2082722" y="7989"/>
                    <a:pt x="2084474" y="12219"/>
                    <a:pt x="2084474" y="16629"/>
                  </a:cubicBezTo>
                  <a:lnTo>
                    <a:pt x="2084474" y="923463"/>
                  </a:lnTo>
                  <a:cubicBezTo>
                    <a:pt x="2084474" y="927873"/>
                    <a:pt x="2082722" y="932103"/>
                    <a:pt x="2079603" y="935221"/>
                  </a:cubicBezTo>
                  <a:cubicBezTo>
                    <a:pt x="2076484" y="938340"/>
                    <a:pt x="2072255" y="940092"/>
                    <a:pt x="2067844" y="940092"/>
                  </a:cubicBezTo>
                  <a:lnTo>
                    <a:pt x="16629" y="940092"/>
                  </a:lnTo>
                  <a:cubicBezTo>
                    <a:pt x="12219" y="940092"/>
                    <a:pt x="7989" y="938340"/>
                    <a:pt x="4871" y="935221"/>
                  </a:cubicBezTo>
                  <a:cubicBezTo>
                    <a:pt x="1752" y="932103"/>
                    <a:pt x="0" y="927873"/>
                    <a:pt x="0" y="923463"/>
                  </a:cubicBezTo>
                  <a:lnTo>
                    <a:pt x="0" y="16629"/>
                  </a:lnTo>
                  <a:cubicBezTo>
                    <a:pt x="0" y="12219"/>
                    <a:pt x="1752" y="7989"/>
                    <a:pt x="4871" y="4871"/>
                  </a:cubicBezTo>
                  <a:cubicBezTo>
                    <a:pt x="7989" y="1752"/>
                    <a:pt x="12219" y="0"/>
                    <a:pt x="16629" y="0"/>
                  </a:cubicBez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084473" cy="987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0" y="5688889"/>
            <a:ext cx="7914485" cy="3569411"/>
            <a:chOff x="0" y="0"/>
            <a:chExt cx="2084473" cy="9400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84474" cy="940092"/>
            </a:xfrm>
            <a:custGeom>
              <a:avLst/>
              <a:gdLst/>
              <a:ahLst/>
              <a:cxnLst/>
              <a:rect l="l" t="t" r="r" b="b"/>
              <a:pathLst>
                <a:path w="2084474" h="940092">
                  <a:moveTo>
                    <a:pt x="16629" y="0"/>
                  </a:moveTo>
                  <a:lnTo>
                    <a:pt x="2067844" y="0"/>
                  </a:lnTo>
                  <a:cubicBezTo>
                    <a:pt x="2072255" y="0"/>
                    <a:pt x="2076484" y="1752"/>
                    <a:pt x="2079603" y="4871"/>
                  </a:cubicBezTo>
                  <a:cubicBezTo>
                    <a:pt x="2082722" y="7989"/>
                    <a:pt x="2084474" y="12219"/>
                    <a:pt x="2084474" y="16629"/>
                  </a:cubicBezTo>
                  <a:lnTo>
                    <a:pt x="2084474" y="923463"/>
                  </a:lnTo>
                  <a:cubicBezTo>
                    <a:pt x="2084474" y="927873"/>
                    <a:pt x="2082722" y="932103"/>
                    <a:pt x="2079603" y="935221"/>
                  </a:cubicBezTo>
                  <a:cubicBezTo>
                    <a:pt x="2076484" y="938340"/>
                    <a:pt x="2072255" y="940092"/>
                    <a:pt x="2067844" y="940092"/>
                  </a:cubicBezTo>
                  <a:lnTo>
                    <a:pt x="16629" y="940092"/>
                  </a:lnTo>
                  <a:cubicBezTo>
                    <a:pt x="12219" y="940092"/>
                    <a:pt x="7989" y="938340"/>
                    <a:pt x="4871" y="935221"/>
                  </a:cubicBezTo>
                  <a:cubicBezTo>
                    <a:pt x="1752" y="932103"/>
                    <a:pt x="0" y="927873"/>
                    <a:pt x="0" y="923463"/>
                  </a:cubicBezTo>
                  <a:lnTo>
                    <a:pt x="0" y="16629"/>
                  </a:lnTo>
                  <a:cubicBezTo>
                    <a:pt x="0" y="12219"/>
                    <a:pt x="1752" y="7989"/>
                    <a:pt x="4871" y="4871"/>
                  </a:cubicBezTo>
                  <a:cubicBezTo>
                    <a:pt x="7989" y="1752"/>
                    <a:pt x="12219" y="0"/>
                    <a:pt x="16629" y="0"/>
                  </a:cubicBez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084473" cy="987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0776" y="5688889"/>
            <a:ext cx="7914485" cy="3569411"/>
            <a:chOff x="0" y="0"/>
            <a:chExt cx="2084473" cy="9400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84474" cy="940092"/>
            </a:xfrm>
            <a:custGeom>
              <a:avLst/>
              <a:gdLst/>
              <a:ahLst/>
              <a:cxnLst/>
              <a:rect l="l" t="t" r="r" b="b"/>
              <a:pathLst>
                <a:path w="2084474" h="940092">
                  <a:moveTo>
                    <a:pt x="16629" y="0"/>
                  </a:moveTo>
                  <a:lnTo>
                    <a:pt x="2067844" y="0"/>
                  </a:lnTo>
                  <a:cubicBezTo>
                    <a:pt x="2072255" y="0"/>
                    <a:pt x="2076484" y="1752"/>
                    <a:pt x="2079603" y="4871"/>
                  </a:cubicBezTo>
                  <a:cubicBezTo>
                    <a:pt x="2082722" y="7989"/>
                    <a:pt x="2084474" y="12219"/>
                    <a:pt x="2084474" y="16629"/>
                  </a:cubicBezTo>
                  <a:lnTo>
                    <a:pt x="2084474" y="923463"/>
                  </a:lnTo>
                  <a:cubicBezTo>
                    <a:pt x="2084474" y="927873"/>
                    <a:pt x="2082722" y="932103"/>
                    <a:pt x="2079603" y="935221"/>
                  </a:cubicBezTo>
                  <a:cubicBezTo>
                    <a:pt x="2076484" y="938340"/>
                    <a:pt x="2072255" y="940092"/>
                    <a:pt x="2067844" y="940092"/>
                  </a:cubicBezTo>
                  <a:lnTo>
                    <a:pt x="16629" y="940092"/>
                  </a:lnTo>
                  <a:cubicBezTo>
                    <a:pt x="12219" y="940092"/>
                    <a:pt x="7989" y="938340"/>
                    <a:pt x="4871" y="935221"/>
                  </a:cubicBezTo>
                  <a:cubicBezTo>
                    <a:pt x="1752" y="932103"/>
                    <a:pt x="0" y="927873"/>
                    <a:pt x="0" y="923463"/>
                  </a:cubicBezTo>
                  <a:lnTo>
                    <a:pt x="0" y="16629"/>
                  </a:lnTo>
                  <a:cubicBezTo>
                    <a:pt x="0" y="12219"/>
                    <a:pt x="1752" y="7989"/>
                    <a:pt x="4871" y="4871"/>
                  </a:cubicBezTo>
                  <a:cubicBezTo>
                    <a:pt x="7989" y="1752"/>
                    <a:pt x="12219" y="0"/>
                    <a:pt x="16629" y="0"/>
                  </a:cubicBez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084473" cy="987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144000" y="2596372"/>
            <a:ext cx="7914485" cy="2967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Growing EdTech industry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Increasing awareness of neurodevelopmental disorders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High demand for accessible educational platforms</a:t>
            </a:r>
          </a:p>
          <a:p>
            <a:pPr algn="l">
              <a:lnSpc>
                <a:spcPts val="3907"/>
              </a:lnSpc>
            </a:pPr>
            <a:endParaRPr lang="en-US" sz="27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9144000" y="1840783"/>
            <a:ext cx="7914485" cy="697328"/>
            <a:chOff x="0" y="0"/>
            <a:chExt cx="2084473" cy="1836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84474" cy="183658"/>
            </a:xfrm>
            <a:custGeom>
              <a:avLst/>
              <a:gdLst/>
              <a:ahLst/>
              <a:cxnLst/>
              <a:rect l="l" t="t" r="r" b="b"/>
              <a:pathLst>
                <a:path w="2084474" h="183658">
                  <a:moveTo>
                    <a:pt x="16629" y="0"/>
                  </a:moveTo>
                  <a:lnTo>
                    <a:pt x="2067844" y="0"/>
                  </a:lnTo>
                  <a:cubicBezTo>
                    <a:pt x="2072255" y="0"/>
                    <a:pt x="2076484" y="1752"/>
                    <a:pt x="2079603" y="4871"/>
                  </a:cubicBezTo>
                  <a:cubicBezTo>
                    <a:pt x="2082722" y="7989"/>
                    <a:pt x="2084474" y="12219"/>
                    <a:pt x="2084474" y="16629"/>
                  </a:cubicBezTo>
                  <a:lnTo>
                    <a:pt x="2084474" y="167029"/>
                  </a:lnTo>
                  <a:cubicBezTo>
                    <a:pt x="2084474" y="171439"/>
                    <a:pt x="2082722" y="175669"/>
                    <a:pt x="2079603" y="178788"/>
                  </a:cubicBezTo>
                  <a:cubicBezTo>
                    <a:pt x="2076484" y="181906"/>
                    <a:pt x="2072255" y="183658"/>
                    <a:pt x="2067844" y="183658"/>
                  </a:cubicBezTo>
                  <a:lnTo>
                    <a:pt x="16629" y="183658"/>
                  </a:lnTo>
                  <a:cubicBezTo>
                    <a:pt x="12219" y="183658"/>
                    <a:pt x="7989" y="181906"/>
                    <a:pt x="4871" y="178788"/>
                  </a:cubicBezTo>
                  <a:cubicBezTo>
                    <a:pt x="1752" y="175669"/>
                    <a:pt x="0" y="171439"/>
                    <a:pt x="0" y="167029"/>
                  </a:cubicBezTo>
                  <a:lnTo>
                    <a:pt x="0" y="16629"/>
                  </a:lnTo>
                  <a:cubicBezTo>
                    <a:pt x="0" y="12219"/>
                    <a:pt x="1752" y="7989"/>
                    <a:pt x="4871" y="4871"/>
                  </a:cubicBezTo>
                  <a:cubicBezTo>
                    <a:pt x="7989" y="1752"/>
                    <a:pt x="12219" y="0"/>
                    <a:pt x="16629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084473" cy="231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579110" y="1872900"/>
            <a:ext cx="2265759" cy="55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Market Size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70776" y="1840783"/>
            <a:ext cx="7914485" cy="697328"/>
            <a:chOff x="0" y="0"/>
            <a:chExt cx="2084473" cy="18365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84474" cy="183658"/>
            </a:xfrm>
            <a:custGeom>
              <a:avLst/>
              <a:gdLst/>
              <a:ahLst/>
              <a:cxnLst/>
              <a:rect l="l" t="t" r="r" b="b"/>
              <a:pathLst>
                <a:path w="2084474" h="183658">
                  <a:moveTo>
                    <a:pt x="16629" y="0"/>
                  </a:moveTo>
                  <a:lnTo>
                    <a:pt x="2067844" y="0"/>
                  </a:lnTo>
                  <a:cubicBezTo>
                    <a:pt x="2072255" y="0"/>
                    <a:pt x="2076484" y="1752"/>
                    <a:pt x="2079603" y="4871"/>
                  </a:cubicBezTo>
                  <a:cubicBezTo>
                    <a:pt x="2082722" y="7989"/>
                    <a:pt x="2084474" y="12219"/>
                    <a:pt x="2084474" y="16629"/>
                  </a:cubicBezTo>
                  <a:lnTo>
                    <a:pt x="2084474" y="167029"/>
                  </a:lnTo>
                  <a:cubicBezTo>
                    <a:pt x="2084474" y="171439"/>
                    <a:pt x="2082722" y="175669"/>
                    <a:pt x="2079603" y="178788"/>
                  </a:cubicBezTo>
                  <a:cubicBezTo>
                    <a:pt x="2076484" y="181906"/>
                    <a:pt x="2072255" y="183658"/>
                    <a:pt x="2067844" y="183658"/>
                  </a:cubicBezTo>
                  <a:lnTo>
                    <a:pt x="16629" y="183658"/>
                  </a:lnTo>
                  <a:cubicBezTo>
                    <a:pt x="12219" y="183658"/>
                    <a:pt x="7989" y="181906"/>
                    <a:pt x="4871" y="178788"/>
                  </a:cubicBezTo>
                  <a:cubicBezTo>
                    <a:pt x="1752" y="175669"/>
                    <a:pt x="0" y="171439"/>
                    <a:pt x="0" y="167029"/>
                  </a:cubicBezTo>
                  <a:lnTo>
                    <a:pt x="0" y="16629"/>
                  </a:lnTo>
                  <a:cubicBezTo>
                    <a:pt x="0" y="12219"/>
                    <a:pt x="1752" y="7989"/>
                    <a:pt x="4871" y="4871"/>
                  </a:cubicBezTo>
                  <a:cubicBezTo>
                    <a:pt x="7989" y="1752"/>
                    <a:pt x="12219" y="0"/>
                    <a:pt x="16629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2084473" cy="231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002443" y="1872900"/>
            <a:ext cx="3651151" cy="55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Customer Persona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70776" y="5688889"/>
            <a:ext cx="7914485" cy="697328"/>
            <a:chOff x="0" y="0"/>
            <a:chExt cx="2084473" cy="18365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84474" cy="183658"/>
            </a:xfrm>
            <a:custGeom>
              <a:avLst/>
              <a:gdLst/>
              <a:ahLst/>
              <a:cxnLst/>
              <a:rect l="l" t="t" r="r" b="b"/>
              <a:pathLst>
                <a:path w="2084474" h="183658">
                  <a:moveTo>
                    <a:pt x="16629" y="0"/>
                  </a:moveTo>
                  <a:lnTo>
                    <a:pt x="2067844" y="0"/>
                  </a:lnTo>
                  <a:cubicBezTo>
                    <a:pt x="2072255" y="0"/>
                    <a:pt x="2076484" y="1752"/>
                    <a:pt x="2079603" y="4871"/>
                  </a:cubicBezTo>
                  <a:cubicBezTo>
                    <a:pt x="2082722" y="7989"/>
                    <a:pt x="2084474" y="12219"/>
                    <a:pt x="2084474" y="16629"/>
                  </a:cubicBezTo>
                  <a:lnTo>
                    <a:pt x="2084474" y="167029"/>
                  </a:lnTo>
                  <a:cubicBezTo>
                    <a:pt x="2084474" y="171439"/>
                    <a:pt x="2082722" y="175669"/>
                    <a:pt x="2079603" y="178788"/>
                  </a:cubicBezTo>
                  <a:cubicBezTo>
                    <a:pt x="2076484" y="181906"/>
                    <a:pt x="2072255" y="183658"/>
                    <a:pt x="2067844" y="183658"/>
                  </a:cubicBezTo>
                  <a:lnTo>
                    <a:pt x="16629" y="183658"/>
                  </a:lnTo>
                  <a:cubicBezTo>
                    <a:pt x="12219" y="183658"/>
                    <a:pt x="7989" y="181906"/>
                    <a:pt x="4871" y="178788"/>
                  </a:cubicBezTo>
                  <a:cubicBezTo>
                    <a:pt x="1752" y="175669"/>
                    <a:pt x="0" y="171439"/>
                    <a:pt x="0" y="167029"/>
                  </a:cubicBezTo>
                  <a:lnTo>
                    <a:pt x="0" y="16629"/>
                  </a:lnTo>
                  <a:cubicBezTo>
                    <a:pt x="0" y="12219"/>
                    <a:pt x="1752" y="7989"/>
                    <a:pt x="4871" y="4871"/>
                  </a:cubicBezTo>
                  <a:cubicBezTo>
                    <a:pt x="7989" y="1752"/>
                    <a:pt x="12219" y="0"/>
                    <a:pt x="16629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2084473" cy="231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0" y="5688889"/>
            <a:ext cx="7914485" cy="697328"/>
            <a:chOff x="0" y="0"/>
            <a:chExt cx="2084473" cy="18365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84474" cy="183658"/>
            </a:xfrm>
            <a:custGeom>
              <a:avLst/>
              <a:gdLst/>
              <a:ahLst/>
              <a:cxnLst/>
              <a:rect l="l" t="t" r="r" b="b"/>
              <a:pathLst>
                <a:path w="2084474" h="183658">
                  <a:moveTo>
                    <a:pt x="16629" y="0"/>
                  </a:moveTo>
                  <a:lnTo>
                    <a:pt x="2067844" y="0"/>
                  </a:lnTo>
                  <a:cubicBezTo>
                    <a:pt x="2072255" y="0"/>
                    <a:pt x="2076484" y="1752"/>
                    <a:pt x="2079603" y="4871"/>
                  </a:cubicBezTo>
                  <a:cubicBezTo>
                    <a:pt x="2082722" y="7989"/>
                    <a:pt x="2084474" y="12219"/>
                    <a:pt x="2084474" y="16629"/>
                  </a:cubicBezTo>
                  <a:lnTo>
                    <a:pt x="2084474" y="167029"/>
                  </a:lnTo>
                  <a:cubicBezTo>
                    <a:pt x="2084474" y="171439"/>
                    <a:pt x="2082722" y="175669"/>
                    <a:pt x="2079603" y="178788"/>
                  </a:cubicBezTo>
                  <a:cubicBezTo>
                    <a:pt x="2076484" y="181906"/>
                    <a:pt x="2072255" y="183658"/>
                    <a:pt x="2067844" y="183658"/>
                  </a:cubicBezTo>
                  <a:lnTo>
                    <a:pt x="16629" y="183658"/>
                  </a:lnTo>
                  <a:cubicBezTo>
                    <a:pt x="12219" y="183658"/>
                    <a:pt x="7989" y="181906"/>
                    <a:pt x="4871" y="178788"/>
                  </a:cubicBezTo>
                  <a:cubicBezTo>
                    <a:pt x="1752" y="175669"/>
                    <a:pt x="0" y="171439"/>
                    <a:pt x="0" y="167029"/>
                  </a:cubicBezTo>
                  <a:lnTo>
                    <a:pt x="0" y="16629"/>
                  </a:lnTo>
                  <a:cubicBezTo>
                    <a:pt x="0" y="12219"/>
                    <a:pt x="1752" y="7989"/>
                    <a:pt x="4871" y="4871"/>
                  </a:cubicBezTo>
                  <a:cubicBezTo>
                    <a:pt x="7989" y="1752"/>
                    <a:pt x="12219" y="0"/>
                    <a:pt x="16629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2084473" cy="231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3002443" y="5781670"/>
            <a:ext cx="3209032" cy="55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Unique Features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51415" y="5721005"/>
            <a:ext cx="5864423" cy="55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How will be the cost covered?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776" y="2671220"/>
            <a:ext cx="7914485" cy="247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Parents of children with learning difficulties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Special education teachers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Educational institutions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Therapy centers</a:t>
            </a:r>
          </a:p>
          <a:p>
            <a:pPr algn="l">
              <a:lnSpc>
                <a:spcPts val="3907"/>
              </a:lnSpc>
            </a:pPr>
            <a:endParaRPr lang="en-US" sz="27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28700" y="6595767"/>
            <a:ext cx="7914485" cy="247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Sinhala language support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Gamified therapy-based learning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Multi-disorder support in one platform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Child-friendly accessible UI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AI-powered voice interaction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226384" y="6595767"/>
            <a:ext cx="7459939" cy="197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Subscription-based premium features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School partnerships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Therapy center licensing</a:t>
            </a:r>
          </a:p>
          <a:p>
            <a:pPr marL="602606" lvl="1" indent="-301303" algn="l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Freemium mobile app model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0" y="9629775"/>
            <a:ext cx="18288000" cy="680085"/>
            <a:chOff x="0" y="0"/>
            <a:chExt cx="24384000" cy="90678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24384000" cy="906780"/>
              <a:chOff x="0" y="0"/>
              <a:chExt cx="5449352" cy="20264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449353" cy="202648"/>
              </a:xfrm>
              <a:custGeom>
                <a:avLst/>
                <a:gdLst/>
                <a:ahLst/>
                <a:cxnLst/>
                <a:rect l="l" t="t" r="r" b="b"/>
                <a:pathLst>
                  <a:path w="5449353" h="202648">
                    <a:moveTo>
                      <a:pt x="0" y="0"/>
                    </a:moveTo>
                    <a:lnTo>
                      <a:pt x="5449353" y="0"/>
                    </a:lnTo>
                    <a:lnTo>
                      <a:pt x="5449353" y="202648"/>
                    </a:lnTo>
                    <a:lnTo>
                      <a:pt x="0" y="202648"/>
                    </a:lnTo>
                    <a:close/>
                  </a:path>
                </a:pathLst>
              </a:custGeom>
              <a:solidFill>
                <a:srgbClr val="A79A7D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5449352" cy="250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3149904" y="151765"/>
              <a:ext cx="10553884" cy="555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R26-IT-114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209801" y="1302213"/>
            <a:ext cx="12436254" cy="8022762"/>
          </a:xfrm>
          <a:custGeom>
            <a:avLst/>
            <a:gdLst/>
            <a:ahLst/>
            <a:cxnLst/>
            <a:rect l="l" t="t" r="r" b="b"/>
            <a:pathLst>
              <a:path w="12001539" h="7498958">
                <a:moveTo>
                  <a:pt x="0" y="0"/>
                </a:moveTo>
                <a:lnTo>
                  <a:pt x="12001539" y="0"/>
                </a:lnTo>
                <a:lnTo>
                  <a:pt x="12001539" y="7498958"/>
                </a:lnTo>
                <a:lnTo>
                  <a:pt x="0" y="7498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427" b="-180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TextBox 7"/>
          <p:cNvSpPr txBox="1"/>
          <p:nvPr/>
        </p:nvSpPr>
        <p:spPr>
          <a:xfrm>
            <a:off x="1532430" y="725067"/>
            <a:ext cx="6087570" cy="577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u="sng" dirty="0">
                <a:solidFill>
                  <a:srgbClr val="524936"/>
                </a:solidFill>
                <a:latin typeface="Helios Bold"/>
                <a:ea typeface="Helios Bold"/>
                <a:cs typeface="Helios Bold"/>
                <a:sym typeface="Helios Bold"/>
              </a:rPr>
              <a:t>Work Breakdown Chart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9629775"/>
            <a:ext cx="18288000" cy="680085"/>
            <a:chOff x="0" y="0"/>
            <a:chExt cx="24384000" cy="90678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384000" cy="906780"/>
              <a:chOff x="0" y="0"/>
              <a:chExt cx="5449352" cy="2026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449353" cy="202648"/>
              </a:xfrm>
              <a:custGeom>
                <a:avLst/>
                <a:gdLst/>
                <a:ahLst/>
                <a:cxnLst/>
                <a:rect l="l" t="t" r="r" b="b"/>
                <a:pathLst>
                  <a:path w="5449353" h="202648">
                    <a:moveTo>
                      <a:pt x="0" y="0"/>
                    </a:moveTo>
                    <a:lnTo>
                      <a:pt x="5449353" y="0"/>
                    </a:lnTo>
                    <a:lnTo>
                      <a:pt x="5449353" y="202648"/>
                    </a:lnTo>
                    <a:lnTo>
                      <a:pt x="0" y="202648"/>
                    </a:lnTo>
                    <a:close/>
                  </a:path>
                </a:pathLst>
              </a:custGeom>
              <a:solidFill>
                <a:srgbClr val="A79A7D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449352" cy="250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3149904" y="151765"/>
              <a:ext cx="10553884" cy="555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R26-IT-114</a:t>
              </a:r>
            </a:p>
          </p:txBody>
        </p:sp>
      </p:grpSp>
      <p:sp>
        <p:nvSpPr>
          <p:cNvPr id="13" name="Freeform 38">
            <a:extLst>
              <a:ext uri="{FF2B5EF4-FFF2-40B4-BE49-F238E27FC236}">
                <a16:creationId xmlns:a16="http://schemas.microsoft.com/office/drawing/2014/main" id="{572ABE76-EB2D-EBF2-A927-B2C548DC20F3}"/>
              </a:ext>
            </a:extLst>
          </p:cNvPr>
          <p:cNvSpPr/>
          <p:nvPr/>
        </p:nvSpPr>
        <p:spPr>
          <a:xfrm>
            <a:off x="12924782" y="7743952"/>
            <a:ext cx="2398643" cy="2276348"/>
          </a:xfrm>
          <a:custGeom>
            <a:avLst/>
            <a:gdLst/>
            <a:ahLst/>
            <a:cxnLst/>
            <a:rect l="l" t="t" r="r" b="b"/>
            <a:pathLst>
              <a:path w="1304950" h="1304950">
                <a:moveTo>
                  <a:pt x="0" y="0"/>
                </a:moveTo>
                <a:lnTo>
                  <a:pt x="1304950" y="0"/>
                </a:lnTo>
                <a:lnTo>
                  <a:pt x="1304950" y="1304950"/>
                </a:lnTo>
                <a:lnTo>
                  <a:pt x="0" y="13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7E4C0-563B-F411-5B08-DDC67A81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BE2A73-918A-037F-0F14-81D3FC2A4465}"/>
              </a:ext>
            </a:extLst>
          </p:cNvPr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4735484-3DE7-3E93-B223-43A032D695BE}"/>
              </a:ext>
            </a:extLst>
          </p:cNvPr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88C703B-3DD9-91CE-FB49-974C9B9B7874}"/>
                </a:ext>
              </a:extLst>
            </p:cNvPr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C7B89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3A7C09-37DE-20B4-7DFF-6AB3FA675122}"/>
                </a:ext>
              </a:extLst>
            </p:cNvPr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11B3BF1-140D-FDB6-2098-FB44C6DC9737}"/>
              </a:ext>
            </a:extLst>
          </p:cNvPr>
          <p:cNvGrpSpPr/>
          <p:nvPr/>
        </p:nvGrpSpPr>
        <p:grpSpPr>
          <a:xfrm>
            <a:off x="0" y="9629775"/>
            <a:ext cx="18288000" cy="680085"/>
            <a:chOff x="0" y="0"/>
            <a:chExt cx="24384000" cy="906780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617BD93-4873-A2DD-DBB5-44AC86671A65}"/>
                </a:ext>
              </a:extLst>
            </p:cNvPr>
            <p:cNvGrpSpPr/>
            <p:nvPr/>
          </p:nvGrpSpPr>
          <p:grpSpPr>
            <a:xfrm>
              <a:off x="0" y="0"/>
              <a:ext cx="24384000" cy="906780"/>
              <a:chOff x="0" y="0"/>
              <a:chExt cx="5449352" cy="202648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DBF4787-571C-BABE-444A-1A7EE778E832}"/>
                  </a:ext>
                </a:extLst>
              </p:cNvPr>
              <p:cNvSpPr/>
              <p:nvPr/>
            </p:nvSpPr>
            <p:spPr>
              <a:xfrm>
                <a:off x="0" y="0"/>
                <a:ext cx="5449353" cy="202648"/>
              </a:xfrm>
              <a:custGeom>
                <a:avLst/>
                <a:gdLst/>
                <a:ahLst/>
                <a:cxnLst/>
                <a:rect l="l" t="t" r="r" b="b"/>
                <a:pathLst>
                  <a:path w="5449353" h="202648">
                    <a:moveTo>
                      <a:pt x="0" y="0"/>
                    </a:moveTo>
                    <a:lnTo>
                      <a:pt x="5449353" y="0"/>
                    </a:lnTo>
                    <a:lnTo>
                      <a:pt x="5449353" y="202648"/>
                    </a:lnTo>
                    <a:lnTo>
                      <a:pt x="0" y="202648"/>
                    </a:lnTo>
                    <a:close/>
                  </a:path>
                </a:pathLst>
              </a:custGeom>
              <a:solidFill>
                <a:srgbClr val="A79A7D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9619D08-1544-FB54-798B-A52AE75299A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449352" cy="250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F67E491-A0EC-CFE4-5767-FC0C15A4CF12}"/>
                </a:ext>
              </a:extLst>
            </p:cNvPr>
            <p:cNvSpPr txBox="1"/>
            <p:nvPr/>
          </p:nvSpPr>
          <p:spPr>
            <a:xfrm>
              <a:off x="13149904" y="151765"/>
              <a:ext cx="10553884" cy="555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R26-IT-114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009924E3-B8D5-6612-C4BB-72420DF75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615246"/>
            <a:ext cx="6858000" cy="8930356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7B0F1BD7-3E8E-C3F6-6510-900BD1378F80}"/>
              </a:ext>
            </a:extLst>
          </p:cNvPr>
          <p:cNvSpPr txBox="1"/>
          <p:nvPr/>
        </p:nvSpPr>
        <p:spPr>
          <a:xfrm>
            <a:off x="1532430" y="451554"/>
            <a:ext cx="14469570" cy="577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u="sng" dirty="0">
                <a:solidFill>
                  <a:srgbClr val="524936"/>
                </a:solidFill>
                <a:latin typeface="Helios Bold"/>
                <a:ea typeface="Helios Bold"/>
                <a:cs typeface="Helios Bold"/>
                <a:sym typeface="Helios Bold"/>
              </a:rPr>
              <a:t>RECOMMENDATION LETTER FROM EXTERNAL SUPERVISOR</a:t>
            </a:r>
          </a:p>
        </p:txBody>
      </p:sp>
    </p:spTree>
    <p:extLst>
      <p:ext uri="{BB962C8B-B14F-4D97-AF65-F5344CB8AC3E}">
        <p14:creationId xmlns:p14="http://schemas.microsoft.com/office/powerpoint/2010/main" val="343093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243398" y="1373531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2700000">
            <a:off x="3826817" y="519180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7" name="Group 7"/>
          <p:cNvGrpSpPr/>
          <p:nvPr/>
        </p:nvGrpSpPr>
        <p:grpSpPr>
          <a:xfrm rot="-8100000">
            <a:off x="5876289" y="161638"/>
            <a:ext cx="4275519" cy="1410169"/>
            <a:chOff x="0" y="0"/>
            <a:chExt cx="1273995" cy="4201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73995" cy="420194"/>
            </a:xfrm>
            <a:custGeom>
              <a:avLst/>
              <a:gdLst/>
              <a:ahLst/>
              <a:cxnLst/>
              <a:rect l="l" t="t" r="r" b="b"/>
              <a:pathLst>
                <a:path w="1273995" h="420194">
                  <a:moveTo>
                    <a:pt x="0" y="0"/>
                  </a:moveTo>
                  <a:lnTo>
                    <a:pt x="1273995" y="0"/>
                  </a:lnTo>
                  <a:lnTo>
                    <a:pt x="1273995" y="420194"/>
                  </a:lnTo>
                  <a:lnTo>
                    <a:pt x="0" y="420194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73995" cy="467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2700000">
            <a:off x="4743053" y="-28798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1" name="Group 11"/>
          <p:cNvGrpSpPr/>
          <p:nvPr/>
        </p:nvGrpSpPr>
        <p:grpSpPr>
          <a:xfrm rot="-8100000">
            <a:off x="6778257" y="-611085"/>
            <a:ext cx="4275519" cy="1369813"/>
            <a:chOff x="0" y="0"/>
            <a:chExt cx="1273995" cy="4081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73995" cy="408169"/>
            </a:xfrm>
            <a:custGeom>
              <a:avLst/>
              <a:gdLst/>
              <a:ahLst/>
              <a:cxnLst/>
              <a:rect l="l" t="t" r="r" b="b"/>
              <a:pathLst>
                <a:path w="1273995" h="408169">
                  <a:moveTo>
                    <a:pt x="0" y="0"/>
                  </a:moveTo>
                  <a:lnTo>
                    <a:pt x="1273995" y="0"/>
                  </a:lnTo>
                  <a:lnTo>
                    <a:pt x="1273995" y="408169"/>
                  </a:lnTo>
                  <a:lnTo>
                    <a:pt x="0" y="408169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73995" cy="455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2700000">
            <a:off x="9562903" y="-1975037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30"/>
                </a:lnTo>
                <a:lnTo>
                  <a:pt x="0" y="11641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5" name="Group 15"/>
          <p:cNvGrpSpPr/>
          <p:nvPr/>
        </p:nvGrpSpPr>
        <p:grpSpPr>
          <a:xfrm rot="-2700000">
            <a:off x="9894321" y="-1643619"/>
            <a:ext cx="10863149" cy="10863149"/>
            <a:chOff x="0" y="0"/>
            <a:chExt cx="2041549" cy="20415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624254" y="-2913686"/>
            <a:ext cx="13403282" cy="13403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14834" y="14834"/>
              <a:ext cx="783132" cy="783132"/>
            </a:xfrm>
            <a:custGeom>
              <a:avLst/>
              <a:gdLst/>
              <a:ahLst/>
              <a:cxnLst/>
              <a:rect l="l" t="t" r="r" b="b"/>
              <a:pathLst>
                <a:path w="783132" h="783132">
                  <a:moveTo>
                    <a:pt x="416889" y="10489"/>
                  </a:moveTo>
                  <a:lnTo>
                    <a:pt x="772643" y="366243"/>
                  </a:lnTo>
                  <a:cubicBezTo>
                    <a:pt x="779359" y="372959"/>
                    <a:pt x="783132" y="382068"/>
                    <a:pt x="783132" y="391566"/>
                  </a:cubicBezTo>
                  <a:cubicBezTo>
                    <a:pt x="783132" y="401064"/>
                    <a:pt x="779359" y="410173"/>
                    <a:pt x="772643" y="416889"/>
                  </a:cubicBezTo>
                  <a:lnTo>
                    <a:pt x="416889" y="772643"/>
                  </a:lnTo>
                  <a:cubicBezTo>
                    <a:pt x="410173" y="779359"/>
                    <a:pt x="401064" y="783132"/>
                    <a:pt x="391566" y="783132"/>
                  </a:cubicBezTo>
                  <a:cubicBezTo>
                    <a:pt x="382068" y="783132"/>
                    <a:pt x="372959" y="779359"/>
                    <a:pt x="366243" y="772643"/>
                  </a:cubicBezTo>
                  <a:lnTo>
                    <a:pt x="10489" y="416889"/>
                  </a:lnTo>
                  <a:cubicBezTo>
                    <a:pt x="3773" y="410173"/>
                    <a:pt x="0" y="401064"/>
                    <a:pt x="0" y="391566"/>
                  </a:cubicBezTo>
                  <a:cubicBezTo>
                    <a:pt x="0" y="382068"/>
                    <a:pt x="3773" y="372959"/>
                    <a:pt x="10489" y="366243"/>
                  </a:cubicBezTo>
                  <a:lnTo>
                    <a:pt x="366243" y="10489"/>
                  </a:lnTo>
                  <a:cubicBezTo>
                    <a:pt x="372959" y="3773"/>
                    <a:pt x="382068" y="0"/>
                    <a:pt x="391566" y="0"/>
                  </a:cubicBezTo>
                  <a:cubicBezTo>
                    <a:pt x="401064" y="0"/>
                    <a:pt x="410173" y="3773"/>
                    <a:pt x="416889" y="10489"/>
                  </a:cubicBezTo>
                  <a:close/>
                </a:path>
              </a:pathLst>
            </a:custGeom>
            <a:blipFill>
              <a:blip r:embed="rId4"/>
              <a:stretch>
                <a:fillRect l="-22082" t="-3974" r="-36719" b="-1894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20" name="Freeform 20"/>
          <p:cNvSpPr/>
          <p:nvPr/>
        </p:nvSpPr>
        <p:spPr>
          <a:xfrm rot="8100000">
            <a:off x="7965362" y="10637768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1" name="Group 21"/>
          <p:cNvGrpSpPr/>
          <p:nvPr/>
        </p:nvGrpSpPr>
        <p:grpSpPr>
          <a:xfrm rot="-2700000">
            <a:off x="10719628" y="6615897"/>
            <a:ext cx="10211745" cy="2440924"/>
            <a:chOff x="0" y="0"/>
            <a:chExt cx="3042837" cy="7273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42837" cy="727333"/>
            </a:xfrm>
            <a:custGeom>
              <a:avLst/>
              <a:gdLst/>
              <a:ahLst/>
              <a:cxnLst/>
              <a:rect l="l" t="t" r="r" b="b"/>
              <a:pathLst>
                <a:path w="3042837" h="727333">
                  <a:moveTo>
                    <a:pt x="0" y="0"/>
                  </a:moveTo>
                  <a:lnTo>
                    <a:pt x="3042837" y="0"/>
                  </a:lnTo>
                  <a:lnTo>
                    <a:pt x="3042837" y="727333"/>
                  </a:lnTo>
                  <a:lnTo>
                    <a:pt x="0" y="727333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3042837" cy="774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rot="8100000">
            <a:off x="13721104" y="8138017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5" name="Group 25"/>
          <p:cNvGrpSpPr/>
          <p:nvPr/>
        </p:nvGrpSpPr>
        <p:grpSpPr>
          <a:xfrm rot="-2700000">
            <a:off x="14773604" y="8138004"/>
            <a:ext cx="5641848" cy="2550578"/>
            <a:chOff x="0" y="0"/>
            <a:chExt cx="1681125" cy="7600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81125" cy="760006"/>
            </a:xfrm>
            <a:custGeom>
              <a:avLst/>
              <a:gdLst/>
              <a:ahLst/>
              <a:cxnLst/>
              <a:rect l="l" t="t" r="r" b="b"/>
              <a:pathLst>
                <a:path w="1681125" h="760006">
                  <a:moveTo>
                    <a:pt x="0" y="0"/>
                  </a:moveTo>
                  <a:lnTo>
                    <a:pt x="1681125" y="0"/>
                  </a:lnTo>
                  <a:lnTo>
                    <a:pt x="1681125" y="760006"/>
                  </a:lnTo>
                  <a:lnTo>
                    <a:pt x="0" y="760006"/>
                  </a:lnTo>
                  <a:close/>
                </a:path>
              </a:pathLst>
            </a:custGeom>
            <a:solidFill>
              <a:srgbClr val="A79A7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681125" cy="807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10800000">
            <a:off x="1028700" y="5772330"/>
            <a:ext cx="934250" cy="106173"/>
            <a:chOff x="0" y="0"/>
            <a:chExt cx="278383" cy="316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8383" cy="31637"/>
            </a:xfrm>
            <a:custGeom>
              <a:avLst/>
              <a:gdLst/>
              <a:ahLst/>
              <a:cxnLst/>
              <a:rect l="l" t="t" r="r" b="b"/>
              <a:pathLst>
                <a:path w="278383" h="31637">
                  <a:moveTo>
                    <a:pt x="15818" y="0"/>
                  </a:moveTo>
                  <a:lnTo>
                    <a:pt x="262564" y="0"/>
                  </a:lnTo>
                  <a:cubicBezTo>
                    <a:pt x="266759" y="0"/>
                    <a:pt x="270783" y="1667"/>
                    <a:pt x="273749" y="4633"/>
                  </a:cubicBezTo>
                  <a:cubicBezTo>
                    <a:pt x="276716" y="7600"/>
                    <a:pt x="278383" y="11623"/>
                    <a:pt x="278383" y="15818"/>
                  </a:cubicBezTo>
                  <a:lnTo>
                    <a:pt x="278383" y="15818"/>
                  </a:lnTo>
                  <a:cubicBezTo>
                    <a:pt x="278383" y="24555"/>
                    <a:pt x="271300" y="31637"/>
                    <a:pt x="262564" y="31637"/>
                  </a:cubicBezTo>
                  <a:lnTo>
                    <a:pt x="15818" y="31637"/>
                  </a:lnTo>
                  <a:cubicBezTo>
                    <a:pt x="11623" y="31637"/>
                    <a:pt x="7600" y="29970"/>
                    <a:pt x="4633" y="27004"/>
                  </a:cubicBezTo>
                  <a:cubicBezTo>
                    <a:pt x="1667" y="24037"/>
                    <a:pt x="0" y="20014"/>
                    <a:pt x="0" y="15818"/>
                  </a:cubicBezTo>
                  <a:lnTo>
                    <a:pt x="0" y="15818"/>
                  </a:lnTo>
                  <a:cubicBezTo>
                    <a:pt x="0" y="11623"/>
                    <a:pt x="1667" y="7600"/>
                    <a:pt x="4633" y="4633"/>
                  </a:cubicBezTo>
                  <a:cubicBezTo>
                    <a:pt x="7600" y="1667"/>
                    <a:pt x="11623" y="0"/>
                    <a:pt x="15818" y="0"/>
                  </a:cubicBezTo>
                  <a:close/>
                </a:path>
              </a:pathLst>
            </a:custGeom>
            <a:solidFill>
              <a:srgbClr val="504C43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278383" cy="7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-10800000">
            <a:off x="2058200" y="5772330"/>
            <a:ext cx="312889" cy="106173"/>
            <a:chOff x="0" y="0"/>
            <a:chExt cx="93233" cy="3163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3233" cy="31637"/>
            </a:xfrm>
            <a:custGeom>
              <a:avLst/>
              <a:gdLst/>
              <a:ahLst/>
              <a:cxnLst/>
              <a:rect l="l" t="t" r="r" b="b"/>
              <a:pathLst>
                <a:path w="93233" h="31637">
                  <a:moveTo>
                    <a:pt x="15818" y="0"/>
                  </a:moveTo>
                  <a:lnTo>
                    <a:pt x="77415" y="0"/>
                  </a:lnTo>
                  <a:cubicBezTo>
                    <a:pt x="86151" y="0"/>
                    <a:pt x="93233" y="7082"/>
                    <a:pt x="93233" y="15818"/>
                  </a:cubicBezTo>
                  <a:lnTo>
                    <a:pt x="93233" y="15818"/>
                  </a:lnTo>
                  <a:cubicBezTo>
                    <a:pt x="93233" y="20014"/>
                    <a:pt x="91566" y="24037"/>
                    <a:pt x="88600" y="27004"/>
                  </a:cubicBezTo>
                  <a:cubicBezTo>
                    <a:pt x="85633" y="29970"/>
                    <a:pt x="81610" y="31637"/>
                    <a:pt x="77415" y="31637"/>
                  </a:cubicBezTo>
                  <a:lnTo>
                    <a:pt x="15818" y="31637"/>
                  </a:lnTo>
                  <a:cubicBezTo>
                    <a:pt x="11623" y="31637"/>
                    <a:pt x="7600" y="29970"/>
                    <a:pt x="4633" y="27004"/>
                  </a:cubicBezTo>
                  <a:cubicBezTo>
                    <a:pt x="1667" y="24037"/>
                    <a:pt x="0" y="20014"/>
                    <a:pt x="0" y="15818"/>
                  </a:cubicBezTo>
                  <a:lnTo>
                    <a:pt x="0" y="15818"/>
                  </a:lnTo>
                  <a:cubicBezTo>
                    <a:pt x="0" y="11623"/>
                    <a:pt x="1667" y="7600"/>
                    <a:pt x="4633" y="4633"/>
                  </a:cubicBezTo>
                  <a:cubicBezTo>
                    <a:pt x="7600" y="1667"/>
                    <a:pt x="11623" y="0"/>
                    <a:pt x="15818" y="0"/>
                  </a:cubicBezTo>
                  <a:close/>
                </a:path>
              </a:pathLst>
            </a:custGeom>
            <a:solidFill>
              <a:srgbClr val="292A2B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93233" cy="7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629425" y="764798"/>
            <a:ext cx="1304950" cy="1304950"/>
          </a:xfrm>
          <a:custGeom>
            <a:avLst/>
            <a:gdLst/>
            <a:ahLst/>
            <a:cxnLst/>
            <a:rect l="l" t="t" r="r" b="b"/>
            <a:pathLst>
              <a:path w="1304950" h="1304950">
                <a:moveTo>
                  <a:pt x="0" y="0"/>
                </a:moveTo>
                <a:lnTo>
                  <a:pt x="1304950" y="0"/>
                </a:lnTo>
                <a:lnTo>
                  <a:pt x="1304950" y="1304950"/>
                </a:lnTo>
                <a:lnTo>
                  <a:pt x="0" y="13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5" name="TextBox 35"/>
          <p:cNvSpPr txBox="1"/>
          <p:nvPr/>
        </p:nvSpPr>
        <p:spPr>
          <a:xfrm>
            <a:off x="767995" y="3922128"/>
            <a:ext cx="9856281" cy="13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49"/>
              </a:lnSpc>
            </a:pPr>
            <a:r>
              <a:rPr lang="en-US" sz="9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THANK YOU</a:t>
            </a:r>
          </a:p>
        </p:txBody>
      </p:sp>
      <p:sp>
        <p:nvSpPr>
          <p:cNvPr id="37" name="Freeform 37"/>
          <p:cNvSpPr/>
          <p:nvPr/>
        </p:nvSpPr>
        <p:spPr>
          <a:xfrm>
            <a:off x="781825" y="917198"/>
            <a:ext cx="1304950" cy="1304950"/>
          </a:xfrm>
          <a:custGeom>
            <a:avLst/>
            <a:gdLst/>
            <a:ahLst/>
            <a:cxnLst/>
            <a:rect l="l" t="t" r="r" b="b"/>
            <a:pathLst>
              <a:path w="1304950" h="1304950">
                <a:moveTo>
                  <a:pt x="0" y="0"/>
                </a:moveTo>
                <a:lnTo>
                  <a:pt x="1304950" y="0"/>
                </a:lnTo>
                <a:lnTo>
                  <a:pt x="1304950" y="1304950"/>
                </a:lnTo>
                <a:lnTo>
                  <a:pt x="0" y="13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8" name="Freeform 38"/>
          <p:cNvSpPr/>
          <p:nvPr/>
        </p:nvSpPr>
        <p:spPr>
          <a:xfrm>
            <a:off x="934225" y="1069598"/>
            <a:ext cx="2067962" cy="2005932"/>
          </a:xfrm>
          <a:custGeom>
            <a:avLst/>
            <a:gdLst/>
            <a:ahLst/>
            <a:cxnLst/>
            <a:rect l="l" t="t" r="r" b="b"/>
            <a:pathLst>
              <a:path w="1304950" h="1304950">
                <a:moveTo>
                  <a:pt x="0" y="0"/>
                </a:moveTo>
                <a:lnTo>
                  <a:pt x="1304950" y="0"/>
                </a:lnTo>
                <a:lnTo>
                  <a:pt x="1304950" y="1304950"/>
                </a:lnTo>
                <a:lnTo>
                  <a:pt x="0" y="13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6" name="TextBox 36"/>
          <p:cNvSpPr txBox="1"/>
          <p:nvPr/>
        </p:nvSpPr>
        <p:spPr>
          <a:xfrm>
            <a:off x="2713634" y="2037174"/>
            <a:ext cx="5072185" cy="515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4400" b="1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Gram Bold"/>
                <a:ea typeface="Gram Bold"/>
                <a:cs typeface="Gram Bold"/>
                <a:sym typeface="Gram Bold"/>
              </a:rPr>
              <a:t>SMART 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00730A2-76B4-4437-8C92-B91F489A6E60}"/>
</file>

<file path=customXml/itemProps2.xml><?xml version="1.0" encoding="utf-8"?>
<ds:datastoreItem xmlns:ds="http://schemas.openxmlformats.org/officeDocument/2006/customXml" ds:itemID="{12FECAE5-29A4-4EE4-86A1-4BCE14C6E7BF}"/>
</file>

<file path=customXml/itemProps3.xml><?xml version="1.0" encoding="utf-8"?>
<ds:datastoreItem xmlns:ds="http://schemas.openxmlformats.org/officeDocument/2006/customXml" ds:itemID="{17A3C0E8-6B00-4BD3-A811-FC92EE25A9D9}"/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1724</Words>
  <Application>Microsoft Macintosh PowerPoint</Application>
  <PresentationFormat>Custom</PresentationFormat>
  <Paragraphs>240</Paragraphs>
  <Slides>24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Arimo</vt:lpstr>
      <vt:lpstr>Helios Bold</vt:lpstr>
      <vt:lpstr>Helios</vt:lpstr>
      <vt:lpstr>Arial</vt:lpstr>
      <vt:lpstr>Gram Bold</vt:lpstr>
      <vt:lpstr>Arimo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Learn: An Adaptive Mobile Platform for Neurodevelopmental Learning Disorders</dc:title>
  <cp:lastModifiedBy>ABEYSINGHE A H M P D it22062574</cp:lastModifiedBy>
  <cp:revision>4</cp:revision>
  <dcterms:created xsi:type="dcterms:W3CDTF">2006-08-16T00:00:00Z</dcterms:created>
  <dcterms:modified xsi:type="dcterms:W3CDTF">2026-05-11T03:18:20Z</dcterms:modified>
  <dc:identifier>DAHD_RnTt_U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