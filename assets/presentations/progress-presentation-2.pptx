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ptos Bold" panose="020B0604020202020204" charset="0"/>
      <p:regular r:id="rId18"/>
    </p:embeddedFon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  <p:embeddedFont>
      <p:font typeface="Helios" panose="020B0604020202020204" charset="0"/>
      <p:regular r:id="rId21"/>
    </p:embeddedFont>
    <p:embeddedFont>
      <p:font typeface="Helios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2" y="-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2350" y="-52350"/>
            <a:ext cx="18306593" cy="7111641"/>
            <a:chOff x="0" y="0"/>
            <a:chExt cx="24408790" cy="94821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9482189"/>
            </a:xfrm>
            <a:custGeom>
              <a:avLst/>
              <a:gdLst/>
              <a:ahLst/>
              <a:cxnLst/>
              <a:rect l="l" t="t" r="r" b="b"/>
              <a:pathLst>
                <a:path w="24408764" h="9482189">
                  <a:moveTo>
                    <a:pt x="0" y="0"/>
                  </a:moveTo>
                  <a:lnTo>
                    <a:pt x="24408764" y="0"/>
                  </a:lnTo>
                  <a:lnTo>
                    <a:pt x="24408764" y="9482189"/>
                  </a:lnTo>
                  <a:lnTo>
                    <a:pt x="0" y="9482189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5433999" y="2611012"/>
            <a:ext cx="12060576" cy="3617594"/>
            <a:chOff x="0" y="0"/>
            <a:chExt cx="16080768" cy="48234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080767" cy="4823459"/>
            </a:xfrm>
            <a:custGeom>
              <a:avLst/>
              <a:gdLst/>
              <a:ahLst/>
              <a:cxnLst/>
              <a:rect l="l" t="t" r="r" b="b"/>
              <a:pathLst>
                <a:path w="16080767" h="4823459">
                  <a:moveTo>
                    <a:pt x="0" y="0"/>
                  </a:moveTo>
                  <a:lnTo>
                    <a:pt x="16080767" y="0"/>
                  </a:lnTo>
                  <a:lnTo>
                    <a:pt x="16080767" y="4823459"/>
                  </a:lnTo>
                  <a:lnTo>
                    <a:pt x="0" y="482345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021" r="-8608" b="2091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16080768" cy="48139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099"/>
                </a:lnSpc>
              </a:pPr>
              <a:r>
                <a:rPr lang="en-US" sz="674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Smart Learn:</a:t>
              </a:r>
            </a:p>
            <a:p>
              <a:pPr algn="l">
                <a:lnSpc>
                  <a:spcPts val="4739"/>
                </a:lnSpc>
              </a:pPr>
              <a:endParaRPr lang="en-US" sz="674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  <a:p>
              <a:pPr algn="l">
                <a:lnSpc>
                  <a:spcPts val="4739"/>
                </a:lnSpc>
              </a:pPr>
              <a:r>
                <a:rPr lang="en-US" sz="394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 Adaptive Mobile Platform for Neurodevelopmental Learning Disorders</a:t>
              </a:r>
            </a:p>
            <a:p>
              <a:pPr algn="l">
                <a:lnSpc>
                  <a:spcPts val="4739"/>
                </a:lnSpc>
              </a:pPr>
              <a:endParaRPr lang="en-US" sz="3949" b="1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687038" y="4934467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sp>
        <p:nvSpPr>
          <p:cNvPr id="9" name="AutoShape 9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685800" y="1730782"/>
            <a:ext cx="3775566" cy="3775566"/>
            <a:chOff x="0" y="0"/>
            <a:chExt cx="835872" cy="8358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35872" cy="835872"/>
            </a:xfrm>
            <a:custGeom>
              <a:avLst/>
              <a:gdLst/>
              <a:ahLst/>
              <a:cxnLst/>
              <a:rect l="l" t="t" r="r" b="b"/>
              <a:pathLst>
                <a:path w="835872" h="835872">
                  <a:moveTo>
                    <a:pt x="417936" y="0"/>
                  </a:moveTo>
                  <a:cubicBezTo>
                    <a:pt x="187116" y="0"/>
                    <a:pt x="0" y="187116"/>
                    <a:pt x="0" y="417936"/>
                  </a:cubicBezTo>
                  <a:cubicBezTo>
                    <a:pt x="0" y="648756"/>
                    <a:pt x="187116" y="835872"/>
                    <a:pt x="417936" y="835872"/>
                  </a:cubicBezTo>
                  <a:cubicBezTo>
                    <a:pt x="648756" y="835872"/>
                    <a:pt x="835872" y="648756"/>
                    <a:pt x="835872" y="417936"/>
                  </a:cubicBezTo>
                  <a:cubicBezTo>
                    <a:pt x="835872" y="187116"/>
                    <a:pt x="648756" y="0"/>
                    <a:pt x="41793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8363" y="78363"/>
              <a:ext cx="679146" cy="6791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52350" y="612835"/>
            <a:ext cx="5305921" cy="6011460"/>
            <a:chOff x="0" y="0"/>
            <a:chExt cx="717405" cy="812800"/>
          </a:xfrm>
        </p:grpSpPr>
        <p:sp>
          <p:nvSpPr>
            <p:cNvPr id="14" name="Freeform 14"/>
            <p:cNvSpPr/>
            <p:nvPr/>
          </p:nvSpPr>
          <p:spPr>
            <a:xfrm>
              <a:off x="55183" y="65831"/>
              <a:ext cx="607040" cy="681138"/>
            </a:xfrm>
            <a:custGeom>
              <a:avLst/>
              <a:gdLst/>
              <a:ahLst/>
              <a:cxnLst/>
              <a:rect l="l" t="t" r="r" b="b"/>
              <a:pathLst>
                <a:path w="607040" h="681138">
                  <a:moveTo>
                    <a:pt x="400075" y="43563"/>
                  </a:moveTo>
                  <a:lnTo>
                    <a:pt x="565667" y="231175"/>
                  </a:lnTo>
                  <a:cubicBezTo>
                    <a:pt x="620830" y="293673"/>
                    <a:pt x="620830" y="387465"/>
                    <a:pt x="565667" y="449963"/>
                  </a:cubicBezTo>
                  <a:lnTo>
                    <a:pt x="400075" y="637575"/>
                  </a:lnTo>
                  <a:cubicBezTo>
                    <a:pt x="375628" y="665273"/>
                    <a:pt x="340463" y="681138"/>
                    <a:pt x="303520" y="681138"/>
                  </a:cubicBezTo>
                  <a:cubicBezTo>
                    <a:pt x="266576" y="681138"/>
                    <a:pt x="231411" y="665273"/>
                    <a:pt x="206964" y="637575"/>
                  </a:cubicBezTo>
                  <a:lnTo>
                    <a:pt x="41372" y="449963"/>
                  </a:lnTo>
                  <a:cubicBezTo>
                    <a:pt x="-13791" y="387465"/>
                    <a:pt x="-13791" y="293673"/>
                    <a:pt x="41372" y="231175"/>
                  </a:cubicBezTo>
                  <a:lnTo>
                    <a:pt x="206964" y="43563"/>
                  </a:lnTo>
                  <a:cubicBezTo>
                    <a:pt x="231411" y="15865"/>
                    <a:pt x="266576" y="0"/>
                    <a:pt x="303520" y="0"/>
                  </a:cubicBezTo>
                  <a:cubicBezTo>
                    <a:pt x="340463" y="0"/>
                    <a:pt x="375628" y="15865"/>
                    <a:pt x="400075" y="43563"/>
                  </a:cubicBezTo>
                  <a:close/>
                </a:path>
              </a:pathLst>
            </a:custGeom>
            <a:blipFill>
              <a:blip r:embed="rId3"/>
              <a:stretch>
                <a:fillRect l="-17867" t="-14163" r="-16028" b="-5166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2287302" y="8063762"/>
            <a:ext cx="4399736" cy="869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R26-IT-114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710329"/>
            <a:chOff x="0" y="0"/>
            <a:chExt cx="17465040" cy="94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947105"/>
            </a:xfrm>
            <a:custGeom>
              <a:avLst/>
              <a:gdLst/>
              <a:ahLst/>
              <a:cxnLst/>
              <a:rect l="l" t="t" r="r" b="b"/>
              <a:pathLst>
                <a:path w="17465039" h="947105">
                  <a:moveTo>
                    <a:pt x="0" y="0"/>
                  </a:moveTo>
                  <a:lnTo>
                    <a:pt x="17465039" y="0"/>
                  </a:lnTo>
                  <a:lnTo>
                    <a:pt x="17465039" y="947105"/>
                  </a:lnTo>
                  <a:lnTo>
                    <a:pt x="0" y="947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5866" b="-30275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947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Our Team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sp>
        <p:nvSpPr>
          <p:cNvPr id="9" name="AutoShape 9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033114" y="5721841"/>
            <a:ext cx="3431075" cy="343107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1897" y="0"/>
                  </a:moveTo>
                  <a:lnTo>
                    <a:pt x="760903" y="0"/>
                  </a:lnTo>
                  <a:cubicBezTo>
                    <a:pt x="774667" y="0"/>
                    <a:pt x="787867" y="5468"/>
                    <a:pt x="797600" y="15200"/>
                  </a:cubicBezTo>
                  <a:cubicBezTo>
                    <a:pt x="807332" y="24933"/>
                    <a:pt x="812800" y="38133"/>
                    <a:pt x="812800" y="51897"/>
                  </a:cubicBezTo>
                  <a:lnTo>
                    <a:pt x="812800" y="760903"/>
                  </a:lnTo>
                  <a:cubicBezTo>
                    <a:pt x="812800" y="774667"/>
                    <a:pt x="807332" y="787867"/>
                    <a:pt x="797600" y="797600"/>
                  </a:cubicBezTo>
                  <a:cubicBezTo>
                    <a:pt x="787867" y="807332"/>
                    <a:pt x="774667" y="812800"/>
                    <a:pt x="760903" y="812800"/>
                  </a:cubicBezTo>
                  <a:lnTo>
                    <a:pt x="51897" y="812800"/>
                  </a:lnTo>
                  <a:cubicBezTo>
                    <a:pt x="38133" y="812800"/>
                    <a:pt x="24933" y="807332"/>
                    <a:pt x="15200" y="797600"/>
                  </a:cubicBezTo>
                  <a:cubicBezTo>
                    <a:pt x="5468" y="787867"/>
                    <a:pt x="0" y="774667"/>
                    <a:pt x="0" y="760903"/>
                  </a:cubicBezTo>
                  <a:lnTo>
                    <a:pt x="0" y="51897"/>
                  </a:lnTo>
                  <a:cubicBezTo>
                    <a:pt x="0" y="38133"/>
                    <a:pt x="5468" y="24933"/>
                    <a:pt x="15200" y="15200"/>
                  </a:cubicBezTo>
                  <a:cubicBezTo>
                    <a:pt x="24933" y="5468"/>
                    <a:pt x="38133" y="0"/>
                    <a:pt x="51897" y="0"/>
                  </a:cubicBezTo>
                  <a:close/>
                </a:path>
              </a:pathLst>
            </a:custGeom>
            <a:blipFill>
              <a:blip r:embed="rId3"/>
              <a:stretch>
                <a:fillRect t="-10408" b="-22924"/>
              </a:stretch>
            </a:blipFill>
            <a:ln w="762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4768371" y="5995326"/>
            <a:ext cx="5059519" cy="40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1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H.A.P.D MADHURANGI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28700" y="1666824"/>
            <a:ext cx="3435489" cy="343548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1831" y="0"/>
                  </a:moveTo>
                  <a:lnTo>
                    <a:pt x="760969" y="0"/>
                  </a:lnTo>
                  <a:cubicBezTo>
                    <a:pt x="789595" y="0"/>
                    <a:pt x="812800" y="23205"/>
                    <a:pt x="812800" y="51831"/>
                  </a:cubicBezTo>
                  <a:lnTo>
                    <a:pt x="812800" y="760969"/>
                  </a:lnTo>
                  <a:cubicBezTo>
                    <a:pt x="812800" y="789595"/>
                    <a:pt x="789595" y="812800"/>
                    <a:pt x="760969" y="812800"/>
                  </a:cubicBezTo>
                  <a:lnTo>
                    <a:pt x="51831" y="812800"/>
                  </a:lnTo>
                  <a:cubicBezTo>
                    <a:pt x="23205" y="812800"/>
                    <a:pt x="0" y="789595"/>
                    <a:pt x="0" y="760969"/>
                  </a:cubicBezTo>
                  <a:lnTo>
                    <a:pt x="0" y="51831"/>
                  </a:lnTo>
                  <a:cubicBezTo>
                    <a:pt x="0" y="23205"/>
                    <a:pt x="23205" y="0"/>
                    <a:pt x="51831" y="0"/>
                  </a:cubicBezTo>
                  <a:close/>
                </a:path>
              </a:pathLst>
            </a:custGeom>
            <a:blipFill>
              <a:blip r:embed="rId4"/>
              <a:stretch>
                <a:fillRect l="-37989" t="-32364" r="-3431" b="-56197"/>
              </a:stretch>
            </a:blipFill>
            <a:ln w="76200" cap="rnd">
              <a:solidFill>
                <a:srgbClr val="244866"/>
              </a:solidFill>
              <a:prstDash val="solid"/>
              <a:round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4608949" y="1928295"/>
            <a:ext cx="5218941" cy="40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A.H.M.P.D ABEYSINGHE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827890" y="1606414"/>
            <a:ext cx="3302611" cy="3476676"/>
            <a:chOff x="0" y="0"/>
            <a:chExt cx="772106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72106" cy="812800"/>
            </a:xfrm>
            <a:custGeom>
              <a:avLst/>
              <a:gdLst/>
              <a:ahLst/>
              <a:cxnLst/>
              <a:rect l="l" t="t" r="r" b="b"/>
              <a:pathLst>
                <a:path w="772106" h="812800">
                  <a:moveTo>
                    <a:pt x="53916" y="0"/>
                  </a:moveTo>
                  <a:lnTo>
                    <a:pt x="718190" y="0"/>
                  </a:lnTo>
                  <a:cubicBezTo>
                    <a:pt x="747967" y="0"/>
                    <a:pt x="772106" y="24139"/>
                    <a:pt x="772106" y="53916"/>
                  </a:cubicBezTo>
                  <a:lnTo>
                    <a:pt x="772106" y="758884"/>
                  </a:lnTo>
                  <a:cubicBezTo>
                    <a:pt x="772106" y="788661"/>
                    <a:pt x="747967" y="812800"/>
                    <a:pt x="718190" y="812800"/>
                  </a:cubicBezTo>
                  <a:lnTo>
                    <a:pt x="53916" y="812800"/>
                  </a:lnTo>
                  <a:cubicBezTo>
                    <a:pt x="24139" y="812800"/>
                    <a:pt x="0" y="788661"/>
                    <a:pt x="0" y="758884"/>
                  </a:cubicBezTo>
                  <a:lnTo>
                    <a:pt x="0" y="53916"/>
                  </a:lnTo>
                  <a:cubicBezTo>
                    <a:pt x="0" y="24139"/>
                    <a:pt x="24139" y="0"/>
                    <a:pt x="53916" y="0"/>
                  </a:cubicBezTo>
                  <a:close/>
                </a:path>
              </a:pathLst>
            </a:custGeom>
            <a:blipFill>
              <a:blip r:embed="rId5"/>
              <a:stretch>
                <a:fillRect l="-36966" t="-70219" r="-40269"/>
              </a:stretch>
            </a:blipFill>
            <a:ln w="762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3506197" y="1863607"/>
            <a:ext cx="5472738" cy="40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B.W.J.D SENAVIRATHNA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795994" y="5721841"/>
            <a:ext cx="3366402" cy="336640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2895" y="0"/>
                  </a:moveTo>
                  <a:lnTo>
                    <a:pt x="759906" y="0"/>
                  </a:lnTo>
                  <a:cubicBezTo>
                    <a:pt x="789118" y="0"/>
                    <a:pt x="812800" y="23682"/>
                    <a:pt x="812800" y="52895"/>
                  </a:cubicBezTo>
                  <a:lnTo>
                    <a:pt x="812800" y="759906"/>
                  </a:lnTo>
                  <a:cubicBezTo>
                    <a:pt x="812800" y="789118"/>
                    <a:pt x="789118" y="812800"/>
                    <a:pt x="759906" y="812800"/>
                  </a:cubicBezTo>
                  <a:lnTo>
                    <a:pt x="52895" y="812800"/>
                  </a:lnTo>
                  <a:cubicBezTo>
                    <a:pt x="23682" y="812800"/>
                    <a:pt x="0" y="789118"/>
                    <a:pt x="0" y="759906"/>
                  </a:cubicBezTo>
                  <a:lnTo>
                    <a:pt x="0" y="52895"/>
                  </a:lnTo>
                  <a:cubicBezTo>
                    <a:pt x="0" y="23682"/>
                    <a:pt x="23682" y="0"/>
                    <a:pt x="52895" y="0"/>
                  </a:cubicBezTo>
                  <a:close/>
                </a:path>
              </a:pathLst>
            </a:custGeom>
            <a:blipFill>
              <a:blip r:embed="rId6"/>
              <a:stretch>
                <a:fillRect l="-14001" t="-4766" r="-15491" b="-24726"/>
              </a:stretch>
            </a:blipFill>
            <a:ln w="762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3410600" y="5919126"/>
            <a:ext cx="4605135" cy="40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1">
                <a:solidFill>
                  <a:srgbClr val="010100"/>
                </a:solidFill>
                <a:latin typeface="Helios Bold"/>
                <a:ea typeface="Helios Bold"/>
                <a:cs typeface="Helios Bold"/>
                <a:sym typeface="Helios Bold"/>
              </a:rPr>
              <a:t>H.A.P.N SENADEERA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5402347" y="9921176"/>
            <a:ext cx="6002864" cy="379747"/>
            <a:chOff x="0" y="0"/>
            <a:chExt cx="8595360" cy="54375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595360" cy="543751"/>
            </a:xfrm>
            <a:custGeom>
              <a:avLst/>
              <a:gdLst/>
              <a:ahLst/>
              <a:cxnLst/>
              <a:rect l="l" t="t" r="r" b="b"/>
              <a:pathLst>
                <a:path w="8595360" h="543751">
                  <a:moveTo>
                    <a:pt x="0" y="0"/>
                  </a:moveTo>
                  <a:lnTo>
                    <a:pt x="8595360" y="0"/>
                  </a:lnTo>
                  <a:lnTo>
                    <a:pt x="8595360" y="543751"/>
                  </a:lnTo>
                  <a:lnTo>
                    <a:pt x="0" y="5437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104" b="-23491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8595360" cy="553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3410600" y="6421440"/>
            <a:ext cx="4386142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IT22502360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20096" y="2422922"/>
            <a:ext cx="4386142" cy="49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IT22128836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08949" y="2429756"/>
            <a:ext cx="4386142" cy="49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IT22062574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757630" y="6497650"/>
            <a:ext cx="4386142" cy="490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454242"/>
                </a:solidFill>
                <a:latin typeface="Helios"/>
                <a:ea typeface="Helios"/>
                <a:cs typeface="Helios"/>
                <a:sym typeface="Helios"/>
              </a:rPr>
              <a:t>IT22252418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757630" y="7169460"/>
            <a:ext cx="4522992" cy="1188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Game based dyslexia intervention module</a:t>
            </a:r>
          </a:p>
          <a:p>
            <a:pPr algn="l">
              <a:lnSpc>
                <a:spcPts val="3079"/>
              </a:lnSpc>
            </a:pPr>
            <a:endParaRPr lang="en-US" sz="2799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520096" y="3151882"/>
            <a:ext cx="4290545" cy="1188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Game based dysgraphia intervention </a:t>
            </a:r>
          </a:p>
          <a:p>
            <a:pPr algn="l">
              <a:lnSpc>
                <a:spcPts val="3079"/>
              </a:lnSpc>
            </a:pPr>
            <a:r>
              <a:rPr lang="en-US" sz="27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module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410600" y="7093260"/>
            <a:ext cx="4310850" cy="1969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Game based working memory disorder</a:t>
            </a:r>
          </a:p>
          <a:p>
            <a:pPr algn="l">
              <a:lnSpc>
                <a:spcPts val="3079"/>
              </a:lnSpc>
            </a:pPr>
            <a:r>
              <a:rPr lang="en-US" sz="27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intervention </a:t>
            </a:r>
          </a:p>
          <a:p>
            <a:pPr algn="l">
              <a:lnSpc>
                <a:spcPts val="3079"/>
              </a:lnSpc>
            </a:pPr>
            <a:r>
              <a:rPr lang="en-US" sz="27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module</a:t>
            </a:r>
          </a:p>
          <a:p>
            <a:pPr algn="l">
              <a:lnSpc>
                <a:spcPts val="3079"/>
              </a:lnSpc>
            </a:pPr>
            <a:r>
              <a:rPr lang="en-US" sz="27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 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08949" y="3101567"/>
            <a:ext cx="4290545" cy="1188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Game based dyscalculia intervention </a:t>
            </a:r>
          </a:p>
          <a:p>
            <a:pPr algn="just">
              <a:lnSpc>
                <a:spcPts val="3079"/>
              </a:lnSpc>
            </a:pPr>
            <a:r>
              <a:rPr lang="en-US" sz="2799">
                <a:solidFill>
                  <a:srgbClr val="010100"/>
                </a:solidFill>
                <a:latin typeface="Helios"/>
                <a:ea typeface="Helios"/>
                <a:cs typeface="Helios"/>
                <a:sym typeface="Helios"/>
              </a:rPr>
              <a:t>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710329"/>
            <a:chOff x="0" y="0"/>
            <a:chExt cx="17465040" cy="94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947105"/>
            </a:xfrm>
            <a:custGeom>
              <a:avLst/>
              <a:gdLst/>
              <a:ahLst/>
              <a:cxnLst/>
              <a:rect l="l" t="t" r="r" b="b"/>
              <a:pathLst>
                <a:path w="17465039" h="947105">
                  <a:moveTo>
                    <a:pt x="0" y="0"/>
                  </a:moveTo>
                  <a:lnTo>
                    <a:pt x="17465039" y="0"/>
                  </a:lnTo>
                  <a:lnTo>
                    <a:pt x="17465039" y="947105"/>
                  </a:lnTo>
                  <a:lnTo>
                    <a:pt x="0" y="9471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15866" b="-30275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947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Introduction Video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sp>
        <p:nvSpPr>
          <p:cNvPr id="9" name="AutoShape 9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5402347" y="9921176"/>
            <a:ext cx="6002864" cy="379747"/>
            <a:chOff x="0" y="0"/>
            <a:chExt cx="8595360" cy="5437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95360" cy="543751"/>
            </a:xfrm>
            <a:custGeom>
              <a:avLst/>
              <a:gdLst/>
              <a:ahLst/>
              <a:cxnLst/>
              <a:rect l="l" t="t" r="r" b="b"/>
              <a:pathLst>
                <a:path w="8595360" h="543751">
                  <a:moveTo>
                    <a:pt x="0" y="0"/>
                  </a:moveTo>
                  <a:lnTo>
                    <a:pt x="8595360" y="0"/>
                  </a:lnTo>
                  <a:lnTo>
                    <a:pt x="8595360" y="543751"/>
                  </a:lnTo>
                  <a:lnTo>
                    <a:pt x="0" y="5437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1104" b="-23491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8595360" cy="553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  <p:pic>
        <p:nvPicPr>
          <p:cNvPr id="14" name="Untitled design (1)">
            <a:hlinkClick r:id="" action="ppaction://media"/>
            <a:extLst>
              <a:ext uri="{FF2B5EF4-FFF2-40B4-BE49-F238E27FC236}">
                <a16:creationId xmlns:a16="http://schemas.microsoft.com/office/drawing/2014/main" id="{2230A31A-4757-8620-9A9A-F5B6F251CA2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71654" y="1521663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553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710329"/>
            <a:chOff x="0" y="0"/>
            <a:chExt cx="17465040" cy="94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947105"/>
            </a:xfrm>
            <a:custGeom>
              <a:avLst/>
              <a:gdLst/>
              <a:ahLst/>
              <a:cxnLst/>
              <a:rect l="l" t="t" r="r" b="b"/>
              <a:pathLst>
                <a:path w="17465039" h="947105">
                  <a:moveTo>
                    <a:pt x="0" y="0"/>
                  </a:moveTo>
                  <a:lnTo>
                    <a:pt x="17465039" y="0"/>
                  </a:lnTo>
                  <a:lnTo>
                    <a:pt x="17465039" y="947105"/>
                  </a:lnTo>
                  <a:lnTo>
                    <a:pt x="0" y="947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5866" b="-30275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947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Problem, Stakeholders &amp; Measurable Pain Point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85800" y="1351403"/>
            <a:ext cx="4389120" cy="937539"/>
            <a:chOff x="0" y="0"/>
            <a:chExt cx="5852160" cy="125005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852160" cy="1250052"/>
            </a:xfrm>
            <a:custGeom>
              <a:avLst/>
              <a:gdLst/>
              <a:ahLst/>
              <a:cxnLst/>
              <a:rect l="l" t="t" r="r" b="b"/>
              <a:pathLst>
                <a:path w="5852160" h="1250052">
                  <a:moveTo>
                    <a:pt x="0" y="0"/>
                  </a:moveTo>
                  <a:lnTo>
                    <a:pt x="5852160" y="0"/>
                  </a:lnTo>
                  <a:lnTo>
                    <a:pt x="5852160" y="1250052"/>
                  </a:lnTo>
                  <a:lnTo>
                    <a:pt x="0" y="1250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0738" b="-11701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852160" cy="1250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 b="1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Problem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66839" y="1891658"/>
            <a:ext cx="15353934" cy="1608011"/>
            <a:chOff x="0" y="0"/>
            <a:chExt cx="20471912" cy="214401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471912" cy="2144014"/>
            </a:xfrm>
            <a:custGeom>
              <a:avLst/>
              <a:gdLst/>
              <a:ahLst/>
              <a:cxnLst/>
              <a:rect l="l" t="t" r="r" b="b"/>
              <a:pathLst>
                <a:path w="20471912" h="2144014">
                  <a:moveTo>
                    <a:pt x="0" y="0"/>
                  </a:moveTo>
                  <a:lnTo>
                    <a:pt x="20471912" y="0"/>
                  </a:lnTo>
                  <a:lnTo>
                    <a:pt x="20471912" y="2144014"/>
                  </a:lnTo>
                  <a:lnTo>
                    <a:pt x="0" y="21440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7297" r="36574" b="-4871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0471912" cy="21440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59"/>
                </a:lnSpc>
              </a:pPr>
              <a:r>
                <a:rPr lang="en-US" sz="3799" b="1">
                  <a:solidFill>
                    <a:srgbClr val="1F293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Sinhala-speaking children with learning disorders have limited access to affordable, home-friendly, adaptive intervention support.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3965" y="3682871"/>
            <a:ext cx="16474974" cy="3261409"/>
            <a:chOff x="0" y="0"/>
            <a:chExt cx="6977380" cy="13812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77380" cy="1381252"/>
            </a:xfrm>
            <a:custGeom>
              <a:avLst/>
              <a:gdLst/>
              <a:ahLst/>
              <a:cxnLst/>
              <a:rect l="l" t="t" r="r" b="b"/>
              <a:pathLst>
                <a:path w="6977380" h="1381252">
                  <a:moveTo>
                    <a:pt x="0" y="149352"/>
                  </a:moveTo>
                  <a:cubicBezTo>
                    <a:pt x="0" y="66802"/>
                    <a:pt x="66802" y="0"/>
                    <a:pt x="149352" y="0"/>
                  </a:cubicBezTo>
                  <a:lnTo>
                    <a:pt x="6828028" y="0"/>
                  </a:lnTo>
                  <a:cubicBezTo>
                    <a:pt x="6910451" y="0"/>
                    <a:pt x="6977380" y="66802"/>
                    <a:pt x="6977380" y="149352"/>
                  </a:cubicBezTo>
                  <a:lnTo>
                    <a:pt x="6977380" y="1231900"/>
                  </a:lnTo>
                  <a:cubicBezTo>
                    <a:pt x="6977380" y="1314323"/>
                    <a:pt x="6910578" y="1381252"/>
                    <a:pt x="6828028" y="1381252"/>
                  </a:cubicBezTo>
                  <a:lnTo>
                    <a:pt x="149352" y="1381252"/>
                  </a:lnTo>
                  <a:cubicBezTo>
                    <a:pt x="66802" y="1381252"/>
                    <a:pt x="0" y="1314450"/>
                    <a:pt x="0" y="1231900"/>
                  </a:cubicBezTo>
                  <a:close/>
                </a:path>
              </a:pathLst>
            </a:custGeom>
            <a:solidFill>
              <a:srgbClr val="F6FAFF"/>
            </a:solidFill>
            <a:ln w="20955" cap="sq">
              <a:solidFill>
                <a:srgbClr val="244866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211798" y="4206615"/>
            <a:ext cx="16239309" cy="239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5496" lvl="1" indent="-287748" algn="l">
              <a:lnSpc>
                <a:spcPts val="3815"/>
              </a:lnSpc>
              <a:buFont typeface="Arial"/>
              <a:buChar char="•"/>
            </a:pPr>
            <a:r>
              <a:rPr lang="en-US" sz="31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Existing supports are often therapist-led and costly for low- and middle-income families.</a:t>
            </a:r>
          </a:p>
          <a:p>
            <a:pPr marL="575496" lvl="1" indent="-287748" algn="l">
              <a:lnSpc>
                <a:spcPts val="3815"/>
              </a:lnSpc>
              <a:buFont typeface="Arial"/>
              <a:buChar char="•"/>
            </a:pPr>
            <a:r>
              <a:rPr lang="en-US" sz="31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Most digital tools focus on detection and English language , not ongoing adaptive support.</a:t>
            </a:r>
          </a:p>
          <a:p>
            <a:pPr marL="575496" lvl="1" indent="-287748" algn="l">
              <a:lnSpc>
                <a:spcPts val="3815"/>
              </a:lnSpc>
              <a:buFont typeface="Arial"/>
              <a:buChar char="•"/>
            </a:pPr>
            <a:r>
              <a:rPr lang="en-US" sz="31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Text-heavy instructions are difficult for young learners with limited reading ability.</a:t>
            </a:r>
          </a:p>
          <a:p>
            <a:pPr marL="575496" lvl="1" indent="-287748" algn="l">
              <a:lnSpc>
                <a:spcPts val="3815"/>
              </a:lnSpc>
              <a:buFont typeface="Arial"/>
              <a:buChar char="•"/>
            </a:pPr>
            <a:r>
              <a:rPr lang="en-US" sz="317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There is no single Sinhala platform covering dyslexia, dyscalculia, dysgraphia, and working memory disorder.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28700" y="7706281"/>
            <a:ext cx="4608074" cy="1916897"/>
            <a:chOff x="0" y="0"/>
            <a:chExt cx="6144098" cy="255586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144099" cy="2555863"/>
            </a:xfrm>
            <a:custGeom>
              <a:avLst/>
              <a:gdLst/>
              <a:ahLst/>
              <a:cxnLst/>
              <a:rect l="l" t="t" r="r" b="b"/>
              <a:pathLst>
                <a:path w="6144099" h="2555863">
                  <a:moveTo>
                    <a:pt x="0" y="0"/>
                  </a:moveTo>
                  <a:lnTo>
                    <a:pt x="6144099" y="0"/>
                  </a:lnTo>
                  <a:lnTo>
                    <a:pt x="6144099" y="2555863"/>
                  </a:lnTo>
                  <a:lnTo>
                    <a:pt x="0" y="25558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245" r="-2392" b="51323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6144098" cy="25558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847399" lvl="1" indent="-423699" algn="l">
                <a:lnSpc>
                  <a:spcPts val="4709"/>
                </a:lnSpc>
                <a:buFont typeface="Arial"/>
                <a:buChar char="•"/>
              </a:pPr>
              <a:r>
                <a:rPr lang="en-US" sz="3924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Children</a:t>
              </a:r>
            </a:p>
            <a:p>
              <a:pPr marL="847399" lvl="1" indent="-423699" algn="l">
                <a:lnSpc>
                  <a:spcPts val="4709"/>
                </a:lnSpc>
                <a:buFont typeface="Arial"/>
                <a:buChar char="•"/>
              </a:pPr>
              <a:r>
                <a:rPr lang="en-US" sz="3924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Parents </a:t>
              </a:r>
            </a:p>
            <a:p>
              <a:pPr marL="847399" lvl="1" indent="-423699" algn="l">
                <a:lnSpc>
                  <a:spcPts val="4709"/>
                </a:lnSpc>
                <a:buFont typeface="Arial"/>
                <a:buChar char="•"/>
              </a:pPr>
              <a:r>
                <a:rPr lang="en-US" sz="3924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Rural families 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5295636" y="9795375"/>
            <a:ext cx="6002864" cy="379747"/>
            <a:chOff x="0" y="0"/>
            <a:chExt cx="8595360" cy="54375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595360" cy="543751"/>
            </a:xfrm>
            <a:custGeom>
              <a:avLst/>
              <a:gdLst/>
              <a:ahLst/>
              <a:cxnLst/>
              <a:rect l="l" t="t" r="r" b="b"/>
              <a:pathLst>
                <a:path w="8595360" h="543751">
                  <a:moveTo>
                    <a:pt x="0" y="0"/>
                  </a:moveTo>
                  <a:lnTo>
                    <a:pt x="8595360" y="0"/>
                  </a:lnTo>
                  <a:lnTo>
                    <a:pt x="8595360" y="543751"/>
                  </a:lnTo>
                  <a:lnTo>
                    <a:pt x="0" y="5437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104" b="-23491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8595360" cy="553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" y="6873615"/>
            <a:ext cx="6796919" cy="937539"/>
            <a:chOff x="0" y="0"/>
            <a:chExt cx="9062558" cy="125005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062558" cy="1250052"/>
            </a:xfrm>
            <a:custGeom>
              <a:avLst/>
              <a:gdLst/>
              <a:ahLst/>
              <a:cxnLst/>
              <a:rect l="l" t="t" r="r" b="b"/>
              <a:pathLst>
                <a:path w="9062558" h="1250052">
                  <a:moveTo>
                    <a:pt x="0" y="0"/>
                  </a:moveTo>
                  <a:lnTo>
                    <a:pt x="9062558" y="0"/>
                  </a:lnTo>
                  <a:lnTo>
                    <a:pt x="9062558" y="1250052"/>
                  </a:lnTo>
                  <a:lnTo>
                    <a:pt x="0" y="12500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0738" r="35424" b="-11701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9062558" cy="12500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999"/>
                </a:lnSpc>
              </a:pPr>
              <a:r>
                <a:rPr lang="en-US" sz="4999" b="1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Who is affected?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482427" y="7796001"/>
            <a:ext cx="7342537" cy="735836"/>
            <a:chOff x="0" y="0"/>
            <a:chExt cx="9790049" cy="98111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790050" cy="981115"/>
            </a:xfrm>
            <a:custGeom>
              <a:avLst/>
              <a:gdLst/>
              <a:ahLst/>
              <a:cxnLst/>
              <a:rect l="l" t="t" r="r" b="b"/>
              <a:pathLst>
                <a:path w="9790050" h="981115">
                  <a:moveTo>
                    <a:pt x="0" y="0"/>
                  </a:moveTo>
                  <a:lnTo>
                    <a:pt x="9790050" y="0"/>
                  </a:lnTo>
                  <a:lnTo>
                    <a:pt x="9790050" y="981115"/>
                  </a:lnTo>
                  <a:lnTo>
                    <a:pt x="0" y="981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3077" r="35740" b="-26805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9790049" cy="981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847399" lvl="1" indent="-423699" algn="l">
                <a:lnSpc>
                  <a:spcPts val="4709"/>
                </a:lnSpc>
                <a:buFont typeface="Arial"/>
                <a:buChar char="•"/>
              </a:pPr>
              <a:r>
                <a:rPr lang="en-US" sz="3924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Therapists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482427" y="8401156"/>
            <a:ext cx="7342537" cy="735836"/>
            <a:chOff x="0" y="0"/>
            <a:chExt cx="9790049" cy="98111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790050" cy="981115"/>
            </a:xfrm>
            <a:custGeom>
              <a:avLst/>
              <a:gdLst/>
              <a:ahLst/>
              <a:cxnLst/>
              <a:rect l="l" t="t" r="r" b="b"/>
              <a:pathLst>
                <a:path w="9790050" h="981115">
                  <a:moveTo>
                    <a:pt x="0" y="0"/>
                  </a:moveTo>
                  <a:lnTo>
                    <a:pt x="9790050" y="0"/>
                  </a:lnTo>
                  <a:lnTo>
                    <a:pt x="9790050" y="981115"/>
                  </a:lnTo>
                  <a:lnTo>
                    <a:pt x="0" y="981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3077" r="35740" b="-26805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9790049" cy="9811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847399" lvl="1" indent="-423699" algn="l">
                <a:lnSpc>
                  <a:spcPts val="4709"/>
                </a:lnSpc>
                <a:buFont typeface="Arial"/>
                <a:buChar char="•"/>
              </a:pPr>
              <a:r>
                <a:rPr lang="en-US" sz="3924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Teachers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617220"/>
            <a:chOff x="0" y="0"/>
            <a:chExt cx="17465040" cy="822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822960"/>
            </a:xfrm>
            <a:custGeom>
              <a:avLst/>
              <a:gdLst/>
              <a:ahLst/>
              <a:cxnLst/>
              <a:rect l="l" t="t" r="r" b="b"/>
              <a:pathLst>
                <a:path w="17465039" h="822960">
                  <a:moveTo>
                    <a:pt x="0" y="0"/>
                  </a:moveTo>
                  <a:lnTo>
                    <a:pt x="17465039" y="0"/>
                  </a:lnTo>
                  <a:lnTo>
                    <a:pt x="174650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3515" b="-36351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Gap + Objectives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77074" y="1392109"/>
            <a:ext cx="3840480" cy="901638"/>
            <a:chOff x="0" y="0"/>
            <a:chExt cx="5120640" cy="12021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20640" cy="1202184"/>
            </a:xfrm>
            <a:custGeom>
              <a:avLst/>
              <a:gdLst/>
              <a:ahLst/>
              <a:cxnLst/>
              <a:rect l="l" t="t" r="r" b="b"/>
              <a:pathLst>
                <a:path w="5120640" h="1202184">
                  <a:moveTo>
                    <a:pt x="0" y="0"/>
                  </a:moveTo>
                  <a:lnTo>
                    <a:pt x="5120640" y="0"/>
                  </a:lnTo>
                  <a:lnTo>
                    <a:pt x="5120640" y="1202184"/>
                  </a:lnTo>
                  <a:lnTo>
                    <a:pt x="0" y="1202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177" b="-581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5120640" cy="11926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799" b="1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Research gap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77074" y="2252662"/>
            <a:ext cx="5027295" cy="3290080"/>
            <a:chOff x="0" y="0"/>
            <a:chExt cx="6703060" cy="438677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703060" cy="4386773"/>
            </a:xfrm>
            <a:custGeom>
              <a:avLst/>
              <a:gdLst/>
              <a:ahLst/>
              <a:cxnLst/>
              <a:rect l="l" t="t" r="r" b="b"/>
              <a:pathLst>
                <a:path w="6703060" h="4386773">
                  <a:moveTo>
                    <a:pt x="0" y="242000"/>
                  </a:moveTo>
                  <a:cubicBezTo>
                    <a:pt x="0" y="108318"/>
                    <a:pt x="66167" y="0"/>
                    <a:pt x="147828" y="0"/>
                  </a:cubicBezTo>
                  <a:lnTo>
                    <a:pt x="6555232" y="0"/>
                  </a:lnTo>
                  <a:cubicBezTo>
                    <a:pt x="6636893" y="0"/>
                    <a:pt x="6703060" y="108318"/>
                    <a:pt x="6703060" y="242000"/>
                  </a:cubicBezTo>
                  <a:lnTo>
                    <a:pt x="6703060" y="4144773"/>
                  </a:lnTo>
                  <a:cubicBezTo>
                    <a:pt x="6703060" y="4278456"/>
                    <a:pt x="6636893" y="4386773"/>
                    <a:pt x="6555232" y="4386773"/>
                  </a:cubicBezTo>
                  <a:lnTo>
                    <a:pt x="147828" y="4386773"/>
                  </a:lnTo>
                  <a:cubicBezTo>
                    <a:pt x="66167" y="4386773"/>
                    <a:pt x="0" y="4278455"/>
                    <a:pt x="0" y="4144773"/>
                  </a:cubicBezTo>
                  <a:close/>
                </a:path>
              </a:pathLst>
            </a:custGeom>
            <a:solidFill>
              <a:srgbClr val="F4F8FC"/>
            </a:solidFill>
            <a:ln w="20955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234440" y="2468880"/>
            <a:ext cx="4512564" cy="568282"/>
            <a:chOff x="0" y="0"/>
            <a:chExt cx="6016752" cy="7577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16752" cy="757710"/>
            </a:xfrm>
            <a:custGeom>
              <a:avLst/>
              <a:gdLst/>
              <a:ahLst/>
              <a:cxnLst/>
              <a:rect l="l" t="t" r="r" b="b"/>
              <a:pathLst>
                <a:path w="6016752" h="757710">
                  <a:moveTo>
                    <a:pt x="0" y="0"/>
                  </a:moveTo>
                  <a:lnTo>
                    <a:pt x="6016752" y="0"/>
                  </a:lnTo>
                  <a:lnTo>
                    <a:pt x="6016752" y="757710"/>
                  </a:lnTo>
                  <a:lnTo>
                    <a:pt x="0" y="7577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4" b="-8851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6016752" cy="757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Sinhala accessibility gap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4440" y="3058668"/>
            <a:ext cx="4315594" cy="2397160"/>
            <a:chOff x="0" y="0"/>
            <a:chExt cx="5754125" cy="319621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54126" cy="3196214"/>
            </a:xfrm>
            <a:custGeom>
              <a:avLst/>
              <a:gdLst/>
              <a:ahLst/>
              <a:cxnLst/>
              <a:rect l="l" t="t" r="r" b="b"/>
              <a:pathLst>
                <a:path w="5754126" h="3196214">
                  <a:moveTo>
                    <a:pt x="0" y="0"/>
                  </a:moveTo>
                  <a:lnTo>
                    <a:pt x="5754126" y="0"/>
                  </a:lnTo>
                  <a:lnTo>
                    <a:pt x="5754126" y="3196214"/>
                  </a:lnTo>
                  <a:lnTo>
                    <a:pt x="0" y="31962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795" r="-4564" b="4243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5754125" cy="31962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Few Sinhala-first digital systems support young children with neurodevelopmental learning disorders.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32054" y="2252662"/>
            <a:ext cx="5027295" cy="3290080"/>
            <a:chOff x="0" y="0"/>
            <a:chExt cx="6703060" cy="438677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703060" cy="4386773"/>
            </a:xfrm>
            <a:custGeom>
              <a:avLst/>
              <a:gdLst/>
              <a:ahLst/>
              <a:cxnLst/>
              <a:rect l="l" t="t" r="r" b="b"/>
              <a:pathLst>
                <a:path w="6703060" h="4386773">
                  <a:moveTo>
                    <a:pt x="0" y="242000"/>
                  </a:moveTo>
                  <a:cubicBezTo>
                    <a:pt x="0" y="108318"/>
                    <a:pt x="66167" y="0"/>
                    <a:pt x="147828" y="0"/>
                  </a:cubicBezTo>
                  <a:lnTo>
                    <a:pt x="6555232" y="0"/>
                  </a:lnTo>
                  <a:cubicBezTo>
                    <a:pt x="6636893" y="0"/>
                    <a:pt x="6703060" y="108318"/>
                    <a:pt x="6703060" y="242000"/>
                  </a:cubicBezTo>
                  <a:lnTo>
                    <a:pt x="6703060" y="4144773"/>
                  </a:lnTo>
                  <a:cubicBezTo>
                    <a:pt x="6703060" y="4278456"/>
                    <a:pt x="6636893" y="4386773"/>
                    <a:pt x="6555232" y="4386773"/>
                  </a:cubicBezTo>
                  <a:lnTo>
                    <a:pt x="147828" y="4386773"/>
                  </a:lnTo>
                  <a:cubicBezTo>
                    <a:pt x="66167" y="4386773"/>
                    <a:pt x="0" y="4278455"/>
                    <a:pt x="0" y="4144773"/>
                  </a:cubicBezTo>
                  <a:close/>
                </a:path>
              </a:pathLst>
            </a:custGeom>
            <a:solidFill>
              <a:srgbClr val="FFF1E6"/>
            </a:solidFill>
            <a:ln w="20955" cap="sq">
              <a:solidFill>
                <a:srgbClr val="FF8A2A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789420" y="2468880"/>
            <a:ext cx="4512564" cy="568282"/>
            <a:chOff x="0" y="0"/>
            <a:chExt cx="6016752" cy="75771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016752" cy="757710"/>
            </a:xfrm>
            <a:custGeom>
              <a:avLst/>
              <a:gdLst/>
              <a:ahLst/>
              <a:cxnLst/>
              <a:rect l="l" t="t" r="r" b="b"/>
              <a:pathLst>
                <a:path w="6016752" h="757710">
                  <a:moveTo>
                    <a:pt x="0" y="0"/>
                  </a:moveTo>
                  <a:lnTo>
                    <a:pt x="6016752" y="0"/>
                  </a:lnTo>
                  <a:lnTo>
                    <a:pt x="6016752" y="757710"/>
                  </a:lnTo>
                  <a:lnTo>
                    <a:pt x="0" y="7577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4" b="-88515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6016752" cy="757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8A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Intervention gap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89420" y="3058668"/>
            <a:ext cx="4512564" cy="1939941"/>
            <a:chOff x="0" y="0"/>
            <a:chExt cx="6016752" cy="258658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16752" cy="2586588"/>
            </a:xfrm>
            <a:custGeom>
              <a:avLst/>
              <a:gdLst/>
              <a:ahLst/>
              <a:cxnLst/>
              <a:rect l="l" t="t" r="r" b="b"/>
              <a:pathLst>
                <a:path w="6016752" h="2586588">
                  <a:moveTo>
                    <a:pt x="0" y="0"/>
                  </a:moveTo>
                  <a:lnTo>
                    <a:pt x="6016752" y="0"/>
                  </a:lnTo>
                  <a:lnTo>
                    <a:pt x="6016752" y="2586588"/>
                  </a:lnTo>
                  <a:lnTo>
                    <a:pt x="0" y="25865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518" b="28868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6016752" cy="2586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Many tools screen or detect issues, but do not provide adaptive game-based therapy practice.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087034" y="2252662"/>
            <a:ext cx="5027295" cy="3290080"/>
            <a:chOff x="0" y="0"/>
            <a:chExt cx="6703060" cy="438677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703060" cy="4386773"/>
            </a:xfrm>
            <a:custGeom>
              <a:avLst/>
              <a:gdLst/>
              <a:ahLst/>
              <a:cxnLst/>
              <a:rect l="l" t="t" r="r" b="b"/>
              <a:pathLst>
                <a:path w="6703060" h="4386773">
                  <a:moveTo>
                    <a:pt x="0" y="242000"/>
                  </a:moveTo>
                  <a:cubicBezTo>
                    <a:pt x="0" y="108318"/>
                    <a:pt x="66167" y="0"/>
                    <a:pt x="147828" y="0"/>
                  </a:cubicBezTo>
                  <a:lnTo>
                    <a:pt x="6555232" y="0"/>
                  </a:lnTo>
                  <a:cubicBezTo>
                    <a:pt x="6636893" y="0"/>
                    <a:pt x="6703060" y="108318"/>
                    <a:pt x="6703060" y="242000"/>
                  </a:cubicBezTo>
                  <a:lnTo>
                    <a:pt x="6703060" y="4144773"/>
                  </a:lnTo>
                  <a:cubicBezTo>
                    <a:pt x="6703060" y="4278456"/>
                    <a:pt x="6636893" y="4386773"/>
                    <a:pt x="6555232" y="4386773"/>
                  </a:cubicBezTo>
                  <a:lnTo>
                    <a:pt x="147828" y="4386773"/>
                  </a:lnTo>
                  <a:cubicBezTo>
                    <a:pt x="66167" y="4386773"/>
                    <a:pt x="0" y="4278455"/>
                    <a:pt x="0" y="4144773"/>
                  </a:cubicBezTo>
                  <a:close/>
                </a:path>
              </a:pathLst>
            </a:custGeom>
            <a:solidFill>
              <a:srgbClr val="EAF7EF"/>
            </a:solidFill>
            <a:ln w="20955" cap="sq">
              <a:solidFill>
                <a:srgbClr val="35A853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12344400" y="2468880"/>
            <a:ext cx="4512564" cy="568282"/>
            <a:chOff x="0" y="0"/>
            <a:chExt cx="6016752" cy="75771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16752" cy="757710"/>
            </a:xfrm>
            <a:custGeom>
              <a:avLst/>
              <a:gdLst/>
              <a:ahLst/>
              <a:cxnLst/>
              <a:rect l="l" t="t" r="r" b="b"/>
              <a:pathLst>
                <a:path w="6016752" h="757710">
                  <a:moveTo>
                    <a:pt x="0" y="0"/>
                  </a:moveTo>
                  <a:lnTo>
                    <a:pt x="6016752" y="0"/>
                  </a:lnTo>
                  <a:lnTo>
                    <a:pt x="6016752" y="757710"/>
                  </a:lnTo>
                  <a:lnTo>
                    <a:pt x="0" y="7577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934" b="-88515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6016752" cy="7577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35A8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Integration gap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344400" y="3058668"/>
            <a:ext cx="4512564" cy="1939941"/>
            <a:chOff x="0" y="0"/>
            <a:chExt cx="6016752" cy="258658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016752" cy="2586588"/>
            </a:xfrm>
            <a:custGeom>
              <a:avLst/>
              <a:gdLst/>
              <a:ahLst/>
              <a:cxnLst/>
              <a:rect l="l" t="t" r="r" b="b"/>
              <a:pathLst>
                <a:path w="6016752" h="2586588">
                  <a:moveTo>
                    <a:pt x="0" y="0"/>
                  </a:moveTo>
                  <a:lnTo>
                    <a:pt x="6016752" y="0"/>
                  </a:lnTo>
                  <a:lnTo>
                    <a:pt x="6016752" y="2586588"/>
                  </a:lnTo>
                  <a:lnTo>
                    <a:pt x="0" y="25865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518" b="28868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6016752" cy="25865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Separate activities exist, but not a unified platform for four disorders with shared progress tracking.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28700" y="5714192"/>
            <a:ext cx="6998543" cy="901638"/>
            <a:chOff x="0" y="0"/>
            <a:chExt cx="9331391" cy="120218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331391" cy="1202184"/>
            </a:xfrm>
            <a:custGeom>
              <a:avLst/>
              <a:gdLst/>
              <a:ahLst/>
              <a:cxnLst/>
              <a:rect l="l" t="t" r="r" b="b"/>
              <a:pathLst>
                <a:path w="9331391" h="1202184">
                  <a:moveTo>
                    <a:pt x="0" y="0"/>
                  </a:moveTo>
                  <a:lnTo>
                    <a:pt x="9331391" y="0"/>
                  </a:lnTo>
                  <a:lnTo>
                    <a:pt x="9331391" y="1202184"/>
                  </a:lnTo>
                  <a:lnTo>
                    <a:pt x="0" y="1202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033" r="37285" b="-1767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9331391" cy="11926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59"/>
                </a:lnSpc>
              </a:pPr>
              <a:r>
                <a:rPr lang="en-US" sz="4799" b="1" dirty="0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objectives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446024" y="6707126"/>
            <a:ext cx="15668305" cy="2286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Build a Sinhala-medium adaptive  web based mobile learning platform for children aged 6–8.</a:t>
            </a: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Provide four game-based modules: dyslexia, dyscalculia, dysgraphia, and working memory.</a:t>
            </a: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Use sinhala voice-guided activities, rewards, and child-friendly UI to reduce reading dependency.</a:t>
            </a:r>
          </a:p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rPr>
              <a:t>Track progress for parents, teachers, and therapists through dashboards.</a:t>
            </a:r>
          </a:p>
        </p:txBody>
      </p:sp>
      <p:sp>
        <p:nvSpPr>
          <p:cNvPr id="40" name="AutoShape 40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1" name="Group 41"/>
          <p:cNvGrpSpPr/>
          <p:nvPr/>
        </p:nvGrpSpPr>
        <p:grpSpPr>
          <a:xfrm>
            <a:off x="14761156" y="9865089"/>
            <a:ext cx="6002864" cy="379747"/>
            <a:chOff x="0" y="0"/>
            <a:chExt cx="8595360" cy="54375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595360" cy="543751"/>
            </a:xfrm>
            <a:custGeom>
              <a:avLst/>
              <a:gdLst/>
              <a:ahLst/>
              <a:cxnLst/>
              <a:rect l="l" t="t" r="r" b="b"/>
              <a:pathLst>
                <a:path w="8595360" h="543751">
                  <a:moveTo>
                    <a:pt x="0" y="0"/>
                  </a:moveTo>
                  <a:lnTo>
                    <a:pt x="8595360" y="0"/>
                  </a:lnTo>
                  <a:lnTo>
                    <a:pt x="8595360" y="543751"/>
                  </a:lnTo>
                  <a:lnTo>
                    <a:pt x="0" y="5437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104" b="-234916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8595360" cy="553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710329"/>
            <a:chOff x="0" y="0"/>
            <a:chExt cx="17465040" cy="94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947105"/>
            </a:xfrm>
            <a:custGeom>
              <a:avLst/>
              <a:gdLst/>
              <a:ahLst/>
              <a:cxnLst/>
              <a:rect l="l" t="t" r="r" b="b"/>
              <a:pathLst>
                <a:path w="17465039" h="947105">
                  <a:moveTo>
                    <a:pt x="0" y="0"/>
                  </a:moveTo>
                  <a:lnTo>
                    <a:pt x="17465039" y="0"/>
                  </a:lnTo>
                  <a:lnTo>
                    <a:pt x="17465039" y="947105"/>
                  </a:lnTo>
                  <a:lnTo>
                    <a:pt x="0" y="947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5866" b="-30275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947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PP1 Comments and Actions took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sp>
        <p:nvSpPr>
          <p:cNvPr id="9" name="AutoShape 9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5295636" y="9795375"/>
            <a:ext cx="6002864" cy="379747"/>
            <a:chOff x="0" y="0"/>
            <a:chExt cx="8595360" cy="5437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95360" cy="543751"/>
            </a:xfrm>
            <a:custGeom>
              <a:avLst/>
              <a:gdLst/>
              <a:ahLst/>
              <a:cxnLst/>
              <a:rect l="l" t="t" r="r" b="b"/>
              <a:pathLst>
                <a:path w="8595360" h="543751">
                  <a:moveTo>
                    <a:pt x="0" y="0"/>
                  </a:moveTo>
                  <a:lnTo>
                    <a:pt x="8595360" y="0"/>
                  </a:lnTo>
                  <a:lnTo>
                    <a:pt x="8595360" y="543751"/>
                  </a:lnTo>
                  <a:lnTo>
                    <a:pt x="0" y="5437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104" b="-23491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8595360" cy="553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1028700" y="1657350"/>
          <a:ext cx="15967923" cy="7600950"/>
        </p:xfrm>
        <a:graphic>
          <a:graphicData uri="http://schemas.openxmlformats.org/drawingml/2006/table">
            <a:tbl>
              <a:tblPr/>
              <a:tblGrid>
                <a:gridCol w="2846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6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4309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9046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IT22062574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Good progress. UI's need to be consistent with the other members. Better to add voice commands to guide the student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Standardized the UI design across all modules and added voice instructions to guide children through the activities.</a:t>
                      </a:r>
                    </a:p>
                    <a:p>
                      <a:pPr algn="ctr">
                        <a:lnSpc>
                          <a:spcPts val="2520"/>
                        </a:lnSpc>
                      </a:pPr>
                      <a:endParaRPr lang="en-US" sz="1800">
                        <a:solidFill>
                          <a:srgbClr val="000000"/>
                        </a:solidFill>
                        <a:latin typeface="Canva Sans"/>
                        <a:ea typeface="Canva Sans"/>
                        <a:cs typeface="Canva Sans"/>
                        <a:sym typeface="Canva Sans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7229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IT22128836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Good progress. Better to add voice guidance to get the kid's attention. and add a reward when the kid successfully completes the task.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Added voice guidance to improve children’s attention and implemented a reward system for successful task completion.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3137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IT22252418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Good progress. Nice UI's. Most of the features were implemented to some extent.  Can design a pre-test combining questions from all the games and customize the levels accordingly.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Designed a pre-test covering all game areas and used the results to customize the difficulty levels according to the child’s performance.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7229"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IT22502360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Good progress.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Designed and implemented a new progress dashboard and developed additional games to enhance the overall system.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617220"/>
            <a:chOff x="0" y="0"/>
            <a:chExt cx="17465040" cy="822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822960"/>
            </a:xfrm>
            <a:custGeom>
              <a:avLst/>
              <a:gdLst/>
              <a:ahLst/>
              <a:cxnLst/>
              <a:rect l="l" t="t" r="r" b="b"/>
              <a:pathLst>
                <a:path w="17465039" h="822960">
                  <a:moveTo>
                    <a:pt x="0" y="0"/>
                  </a:moveTo>
                  <a:lnTo>
                    <a:pt x="17465039" y="0"/>
                  </a:lnTo>
                  <a:lnTo>
                    <a:pt x="174650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3515" b="-36351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Solution Overview + Architecture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87552" y="1481328"/>
            <a:ext cx="5212080" cy="411480"/>
            <a:chOff x="0" y="0"/>
            <a:chExt cx="6949440" cy="5486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949440" cy="548640"/>
            </a:xfrm>
            <a:custGeom>
              <a:avLst/>
              <a:gdLst/>
              <a:ahLst/>
              <a:cxnLst/>
              <a:rect l="l" t="t" r="r" b="b"/>
              <a:pathLst>
                <a:path w="6949440" h="548640">
                  <a:moveTo>
                    <a:pt x="0" y="0"/>
                  </a:moveTo>
                  <a:lnTo>
                    <a:pt x="6949440" y="0"/>
                  </a:lnTo>
                  <a:lnTo>
                    <a:pt x="6949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6810" b="-19681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6949440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Smart Learn platform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87552" y="1924247"/>
            <a:ext cx="15825025" cy="897241"/>
            <a:chOff x="0" y="0"/>
            <a:chExt cx="21100034" cy="11963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100033" cy="1196321"/>
            </a:xfrm>
            <a:custGeom>
              <a:avLst/>
              <a:gdLst/>
              <a:ahLst/>
              <a:cxnLst/>
              <a:rect l="l" t="t" r="r" b="b"/>
              <a:pathLst>
                <a:path w="21100033" h="1196321">
                  <a:moveTo>
                    <a:pt x="0" y="0"/>
                  </a:moveTo>
                  <a:lnTo>
                    <a:pt x="21100033" y="0"/>
                  </a:lnTo>
                  <a:lnTo>
                    <a:pt x="21100033" y="1196321"/>
                  </a:lnTo>
                  <a:lnTo>
                    <a:pt x="0" y="11963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4117" r="32395" b="-170551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1100034" cy="11963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0"/>
                </a:lnSpc>
              </a:pPr>
              <a:r>
                <a:rPr lang="en-US" sz="2625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A Sinhala, game-based adaptive platform combining four disorder-specific modules, child app activities, and progress dashboards.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7213580" y="9861804"/>
            <a:ext cx="246888" cy="246888"/>
            <a:chOff x="0" y="0"/>
            <a:chExt cx="329184" cy="3291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29184" cy="329184"/>
            </a:xfrm>
            <a:custGeom>
              <a:avLst/>
              <a:gdLst/>
              <a:ahLst/>
              <a:cxnLst/>
              <a:rect l="l" t="t" r="r" b="b"/>
              <a:pathLst>
                <a:path w="329184" h="329184">
                  <a:moveTo>
                    <a:pt x="0" y="0"/>
                  </a:moveTo>
                  <a:lnTo>
                    <a:pt x="329184" y="0"/>
                  </a:lnTo>
                  <a:lnTo>
                    <a:pt x="3291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329184" cy="338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8792A2"/>
                  </a:solidFill>
                  <a:latin typeface="Aptos"/>
                  <a:ea typeface="Aptos"/>
                  <a:cs typeface="Aptos"/>
                  <a:sym typeface="Aptos"/>
                </a:rPr>
                <a:t>4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755248" y="2922789"/>
            <a:ext cx="14800446" cy="6416002"/>
          </a:xfrm>
          <a:custGeom>
            <a:avLst/>
            <a:gdLst/>
            <a:ahLst/>
            <a:cxnLst/>
            <a:rect l="l" t="t" r="r" b="b"/>
            <a:pathLst>
              <a:path w="14800446" h="6416002">
                <a:moveTo>
                  <a:pt x="0" y="0"/>
                </a:moveTo>
                <a:lnTo>
                  <a:pt x="14800446" y="0"/>
                </a:lnTo>
                <a:lnTo>
                  <a:pt x="14800446" y="6416002"/>
                </a:lnTo>
                <a:lnTo>
                  <a:pt x="0" y="6416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"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5295636" y="9795375"/>
            <a:ext cx="6002864" cy="379747"/>
            <a:chOff x="0" y="0"/>
            <a:chExt cx="8595360" cy="5437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595360" cy="543751"/>
            </a:xfrm>
            <a:custGeom>
              <a:avLst/>
              <a:gdLst/>
              <a:ahLst/>
              <a:cxnLst/>
              <a:rect l="l" t="t" r="r" b="b"/>
              <a:pathLst>
                <a:path w="8595360" h="543751">
                  <a:moveTo>
                    <a:pt x="0" y="0"/>
                  </a:moveTo>
                  <a:lnTo>
                    <a:pt x="8595360" y="0"/>
                  </a:lnTo>
                  <a:lnTo>
                    <a:pt x="8595360" y="543751"/>
                  </a:lnTo>
                  <a:lnTo>
                    <a:pt x="0" y="5437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104" b="-23491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8595360" cy="55327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617220"/>
            <a:chOff x="0" y="0"/>
            <a:chExt cx="17465040" cy="8229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822960"/>
            </a:xfrm>
            <a:custGeom>
              <a:avLst/>
              <a:gdLst/>
              <a:ahLst/>
              <a:cxnLst/>
              <a:rect l="l" t="t" r="r" b="b"/>
              <a:pathLst>
                <a:path w="17465039" h="822960">
                  <a:moveTo>
                    <a:pt x="0" y="0"/>
                  </a:moveTo>
                  <a:lnTo>
                    <a:pt x="17465039" y="0"/>
                  </a:lnTo>
                  <a:lnTo>
                    <a:pt x="174650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3515" b="-363515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8229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Integration and Completion Status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80885" y="2352484"/>
            <a:ext cx="2524410" cy="671703"/>
            <a:chOff x="0" y="0"/>
            <a:chExt cx="3365880" cy="8956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365879" cy="895604"/>
            </a:xfrm>
            <a:custGeom>
              <a:avLst/>
              <a:gdLst/>
              <a:ahLst/>
              <a:cxnLst/>
              <a:rect l="l" t="t" r="r" b="b"/>
              <a:pathLst>
                <a:path w="3365879" h="895604">
                  <a:moveTo>
                    <a:pt x="0" y="0"/>
                  </a:moveTo>
                  <a:lnTo>
                    <a:pt x="3365879" y="0"/>
                  </a:lnTo>
                  <a:lnTo>
                    <a:pt x="3365879" y="895604"/>
                  </a:lnTo>
                  <a:lnTo>
                    <a:pt x="0" y="895604"/>
                  </a:lnTo>
                  <a:close/>
                </a:path>
              </a:pathLst>
            </a:custGeom>
            <a:solidFill>
              <a:srgbClr val="244866"/>
            </a:solidFill>
            <a:ln w="13335" cap="sq">
              <a:solidFill>
                <a:srgbClr val="D4DCE6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122781" y="2523744"/>
            <a:ext cx="2240617" cy="411480"/>
            <a:chOff x="0" y="0"/>
            <a:chExt cx="2987489" cy="5486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87489" cy="548640"/>
            </a:xfrm>
            <a:custGeom>
              <a:avLst/>
              <a:gdLst/>
              <a:ahLst/>
              <a:cxnLst/>
              <a:rect l="l" t="t" r="r" b="b"/>
              <a:pathLst>
                <a:path w="2987489" h="548640">
                  <a:moveTo>
                    <a:pt x="0" y="0"/>
                  </a:moveTo>
                  <a:lnTo>
                    <a:pt x="2987489" y="0"/>
                  </a:lnTo>
                  <a:lnTo>
                    <a:pt x="2987489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033" r="17971" b="-3703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987489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Module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489038" y="2352484"/>
            <a:ext cx="8209557" cy="671703"/>
            <a:chOff x="0" y="0"/>
            <a:chExt cx="10946076" cy="8956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946076" cy="895604"/>
            </a:xfrm>
            <a:custGeom>
              <a:avLst/>
              <a:gdLst/>
              <a:ahLst/>
              <a:cxnLst/>
              <a:rect l="l" t="t" r="r" b="b"/>
              <a:pathLst>
                <a:path w="10946076" h="895604">
                  <a:moveTo>
                    <a:pt x="0" y="0"/>
                  </a:moveTo>
                  <a:lnTo>
                    <a:pt x="10946076" y="0"/>
                  </a:lnTo>
                  <a:lnTo>
                    <a:pt x="10946076" y="895604"/>
                  </a:lnTo>
                  <a:lnTo>
                    <a:pt x="0" y="895604"/>
                  </a:lnTo>
                  <a:close/>
                </a:path>
              </a:pathLst>
            </a:custGeom>
            <a:solidFill>
              <a:srgbClr val="244866"/>
            </a:solidFill>
            <a:ln w="13335" cap="sq">
              <a:solidFill>
                <a:srgbClr val="D4DCE6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3630934" y="2523744"/>
            <a:ext cx="7925764" cy="411480"/>
            <a:chOff x="0" y="0"/>
            <a:chExt cx="10567686" cy="5486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67685" cy="548640"/>
            </a:xfrm>
            <a:custGeom>
              <a:avLst/>
              <a:gdLst/>
              <a:ahLst/>
              <a:cxnLst/>
              <a:rect l="l" t="t" r="r" b="b"/>
              <a:pathLst>
                <a:path w="10567685" h="548640">
                  <a:moveTo>
                    <a:pt x="0" y="0"/>
                  </a:moveTo>
                  <a:lnTo>
                    <a:pt x="10567685" y="0"/>
                  </a:lnTo>
                  <a:lnTo>
                    <a:pt x="10567685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7863" r="17971" b="-257863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10567686" cy="5486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69"/>
                </a:lnSpc>
              </a:pPr>
              <a:r>
                <a:rPr lang="en-US" sz="1974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Implemented evidence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80885" y="3010852"/>
            <a:ext cx="2524410" cy="1014603"/>
            <a:chOff x="0" y="0"/>
            <a:chExt cx="3365880" cy="135280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365879" cy="1352804"/>
            </a:xfrm>
            <a:custGeom>
              <a:avLst/>
              <a:gdLst/>
              <a:ahLst/>
              <a:cxnLst/>
              <a:rect l="l" t="t" r="r" b="b"/>
              <a:pathLst>
                <a:path w="3365879" h="1352804">
                  <a:moveTo>
                    <a:pt x="0" y="0"/>
                  </a:moveTo>
                  <a:lnTo>
                    <a:pt x="3365879" y="0"/>
                  </a:lnTo>
                  <a:lnTo>
                    <a:pt x="3365879" y="1352804"/>
                  </a:lnTo>
                  <a:lnTo>
                    <a:pt x="0" y="1352804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4DCE6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122781" y="3182112"/>
            <a:ext cx="2240617" cy="754380"/>
            <a:chOff x="0" y="0"/>
            <a:chExt cx="2987489" cy="10058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987489" cy="1005840"/>
            </a:xfrm>
            <a:custGeom>
              <a:avLst/>
              <a:gdLst/>
              <a:ahLst/>
              <a:cxnLst/>
              <a:rect l="l" t="t" r="r" b="b"/>
              <a:pathLst>
                <a:path w="2987489" h="1005840">
                  <a:moveTo>
                    <a:pt x="0" y="0"/>
                  </a:moveTo>
                  <a:lnTo>
                    <a:pt x="2987489" y="0"/>
                  </a:lnTo>
                  <a:lnTo>
                    <a:pt x="298748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3" r="15787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9525"/>
              <a:ext cx="2987489" cy="996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23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Dyslexia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489038" y="3010852"/>
            <a:ext cx="8209557" cy="1014603"/>
            <a:chOff x="0" y="0"/>
            <a:chExt cx="10946076" cy="13528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46076" cy="1352804"/>
            </a:xfrm>
            <a:custGeom>
              <a:avLst/>
              <a:gdLst/>
              <a:ahLst/>
              <a:cxnLst/>
              <a:rect l="l" t="t" r="r" b="b"/>
              <a:pathLst>
                <a:path w="10946076" h="1352804">
                  <a:moveTo>
                    <a:pt x="0" y="0"/>
                  </a:moveTo>
                  <a:lnTo>
                    <a:pt x="10946076" y="0"/>
                  </a:lnTo>
                  <a:lnTo>
                    <a:pt x="10946076" y="1352804"/>
                  </a:lnTo>
                  <a:lnTo>
                    <a:pt x="0" y="1352804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4DCE6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3630934" y="3182112"/>
            <a:ext cx="7925764" cy="754380"/>
            <a:chOff x="0" y="0"/>
            <a:chExt cx="10567686" cy="10058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567685" cy="1005840"/>
            </a:xfrm>
            <a:custGeom>
              <a:avLst/>
              <a:gdLst/>
              <a:ahLst/>
              <a:cxnLst/>
              <a:rect l="l" t="t" r="r" b="b"/>
              <a:pathLst>
                <a:path w="10567685" h="1005840">
                  <a:moveTo>
                    <a:pt x="0" y="0"/>
                  </a:moveTo>
                  <a:lnTo>
                    <a:pt x="10567685" y="0"/>
                  </a:lnTo>
                  <a:lnTo>
                    <a:pt x="10567685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925" r="17971" b="-11792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9525"/>
              <a:ext cx="10567686" cy="996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239" dirty="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voice recognition, sound matching, reading + pronunciation </a:t>
              </a:r>
              <a:r>
                <a:rPr lang="en-US" sz="2239" dirty="0" err="1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practice,Dashboard,Pre</a:t>
              </a:r>
              <a:r>
                <a:rPr lang="en-US" sz="2239" dirty="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 -</a:t>
              </a:r>
              <a:r>
                <a:rPr lang="en-US" sz="2239" dirty="0" err="1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assesment</a:t>
              </a:r>
              <a:endParaRPr lang="en-US" sz="2239" dirty="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80885" y="4012121"/>
            <a:ext cx="2524410" cy="1014603"/>
            <a:chOff x="0" y="0"/>
            <a:chExt cx="3365880" cy="135280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365879" cy="1352804"/>
            </a:xfrm>
            <a:custGeom>
              <a:avLst/>
              <a:gdLst/>
              <a:ahLst/>
              <a:cxnLst/>
              <a:rect l="l" t="t" r="r" b="b"/>
              <a:pathLst>
                <a:path w="3365879" h="1352804">
                  <a:moveTo>
                    <a:pt x="0" y="0"/>
                  </a:moveTo>
                  <a:lnTo>
                    <a:pt x="3365879" y="0"/>
                  </a:lnTo>
                  <a:lnTo>
                    <a:pt x="3365879" y="1352804"/>
                  </a:lnTo>
                  <a:lnTo>
                    <a:pt x="0" y="1352804"/>
                  </a:lnTo>
                  <a:close/>
                </a:path>
              </a:pathLst>
            </a:custGeom>
            <a:solidFill>
              <a:srgbClr val="F6F9FC"/>
            </a:solidFill>
            <a:ln w="13335" cap="sq">
              <a:solidFill>
                <a:srgbClr val="D4DCE6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122781" y="4183380"/>
            <a:ext cx="2240617" cy="754380"/>
            <a:chOff x="0" y="0"/>
            <a:chExt cx="2987489" cy="10058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987489" cy="1005840"/>
            </a:xfrm>
            <a:custGeom>
              <a:avLst/>
              <a:gdLst/>
              <a:ahLst/>
              <a:cxnLst/>
              <a:rect l="l" t="t" r="r" b="b"/>
              <a:pathLst>
                <a:path w="2987489" h="1005840">
                  <a:moveTo>
                    <a:pt x="0" y="0"/>
                  </a:moveTo>
                  <a:lnTo>
                    <a:pt x="2987489" y="0"/>
                  </a:lnTo>
                  <a:lnTo>
                    <a:pt x="298748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3" r="1578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9525"/>
              <a:ext cx="2987489" cy="996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23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Dyscalculia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489038" y="4012121"/>
            <a:ext cx="8209557" cy="1014603"/>
            <a:chOff x="0" y="0"/>
            <a:chExt cx="10946076" cy="135280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946076" cy="1352804"/>
            </a:xfrm>
            <a:custGeom>
              <a:avLst/>
              <a:gdLst/>
              <a:ahLst/>
              <a:cxnLst/>
              <a:rect l="l" t="t" r="r" b="b"/>
              <a:pathLst>
                <a:path w="10946076" h="1352804">
                  <a:moveTo>
                    <a:pt x="0" y="0"/>
                  </a:moveTo>
                  <a:lnTo>
                    <a:pt x="10946076" y="0"/>
                  </a:lnTo>
                  <a:lnTo>
                    <a:pt x="10946076" y="1352804"/>
                  </a:lnTo>
                  <a:lnTo>
                    <a:pt x="0" y="1352804"/>
                  </a:lnTo>
                  <a:close/>
                </a:path>
              </a:pathLst>
            </a:custGeom>
            <a:solidFill>
              <a:srgbClr val="F6F9FC"/>
            </a:solidFill>
            <a:ln w="13335" cap="sq">
              <a:solidFill>
                <a:srgbClr val="D4DCE6"/>
              </a:solidFill>
              <a:prstDash val="solid"/>
              <a:miter/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3630934" y="4183380"/>
            <a:ext cx="7925764" cy="754380"/>
            <a:chOff x="0" y="0"/>
            <a:chExt cx="10567686" cy="10058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567685" cy="1005840"/>
            </a:xfrm>
            <a:custGeom>
              <a:avLst/>
              <a:gdLst/>
              <a:ahLst/>
              <a:cxnLst/>
              <a:rect l="l" t="t" r="r" b="b"/>
              <a:pathLst>
                <a:path w="10567685" h="1005840">
                  <a:moveTo>
                    <a:pt x="0" y="0"/>
                  </a:moveTo>
                  <a:lnTo>
                    <a:pt x="10567685" y="0"/>
                  </a:lnTo>
                  <a:lnTo>
                    <a:pt x="10567685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925" r="17971" b="-11792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9525"/>
              <a:ext cx="10567686" cy="996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239" dirty="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number recognition, quantity, tracing, sorting + adaptive difficulty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80885" y="5013388"/>
            <a:ext cx="2524410" cy="1014603"/>
            <a:chOff x="0" y="0"/>
            <a:chExt cx="3365880" cy="135280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365879" cy="1352804"/>
            </a:xfrm>
            <a:custGeom>
              <a:avLst/>
              <a:gdLst/>
              <a:ahLst/>
              <a:cxnLst/>
              <a:rect l="l" t="t" r="r" b="b"/>
              <a:pathLst>
                <a:path w="3365879" h="1352804">
                  <a:moveTo>
                    <a:pt x="0" y="0"/>
                  </a:moveTo>
                  <a:lnTo>
                    <a:pt x="3365879" y="0"/>
                  </a:lnTo>
                  <a:lnTo>
                    <a:pt x="3365879" y="1352804"/>
                  </a:lnTo>
                  <a:lnTo>
                    <a:pt x="0" y="1352804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4DCE6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122781" y="5184648"/>
            <a:ext cx="2240617" cy="754380"/>
            <a:chOff x="0" y="0"/>
            <a:chExt cx="2987489" cy="100584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987489" cy="1005840"/>
            </a:xfrm>
            <a:custGeom>
              <a:avLst/>
              <a:gdLst/>
              <a:ahLst/>
              <a:cxnLst/>
              <a:rect l="l" t="t" r="r" b="b"/>
              <a:pathLst>
                <a:path w="2987489" h="1005840">
                  <a:moveTo>
                    <a:pt x="0" y="0"/>
                  </a:moveTo>
                  <a:lnTo>
                    <a:pt x="2987489" y="0"/>
                  </a:lnTo>
                  <a:lnTo>
                    <a:pt x="298748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3" r="15787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9525"/>
              <a:ext cx="2987489" cy="996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23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Dysgraphia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489038" y="5013388"/>
            <a:ext cx="8209557" cy="1014603"/>
            <a:chOff x="0" y="0"/>
            <a:chExt cx="10946076" cy="135280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0946076" cy="1352804"/>
            </a:xfrm>
            <a:custGeom>
              <a:avLst/>
              <a:gdLst/>
              <a:ahLst/>
              <a:cxnLst/>
              <a:rect l="l" t="t" r="r" b="b"/>
              <a:pathLst>
                <a:path w="10946076" h="1352804">
                  <a:moveTo>
                    <a:pt x="0" y="0"/>
                  </a:moveTo>
                  <a:lnTo>
                    <a:pt x="10946076" y="0"/>
                  </a:lnTo>
                  <a:lnTo>
                    <a:pt x="10946076" y="1352804"/>
                  </a:lnTo>
                  <a:lnTo>
                    <a:pt x="0" y="1352804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4DCE6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3630934" y="5184648"/>
            <a:ext cx="7925764" cy="754380"/>
            <a:chOff x="0" y="0"/>
            <a:chExt cx="10567686" cy="100584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567685" cy="1005840"/>
            </a:xfrm>
            <a:custGeom>
              <a:avLst/>
              <a:gdLst/>
              <a:ahLst/>
              <a:cxnLst/>
              <a:rect l="l" t="t" r="r" b="b"/>
              <a:pathLst>
                <a:path w="10567685" h="1005840">
                  <a:moveTo>
                    <a:pt x="0" y="0"/>
                  </a:moveTo>
                  <a:lnTo>
                    <a:pt x="10567685" y="0"/>
                  </a:lnTo>
                  <a:lnTo>
                    <a:pt x="10567685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925" r="17971" b="-117925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9525"/>
              <a:ext cx="10567686" cy="996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239" dirty="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tracing to Sinhala letters/words, handwriting capture + analysis,</a:t>
              </a:r>
            </a:p>
            <a:p>
              <a:pPr>
                <a:lnSpc>
                  <a:spcPts val="2687"/>
                </a:lnSpc>
              </a:pPr>
              <a:r>
                <a:rPr lang="en-US" sz="2239" dirty="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letter recognition,  Dashboard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80885" y="6014656"/>
            <a:ext cx="2524410" cy="1014603"/>
            <a:chOff x="0" y="0"/>
            <a:chExt cx="3365880" cy="135280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365879" cy="1352804"/>
            </a:xfrm>
            <a:custGeom>
              <a:avLst/>
              <a:gdLst/>
              <a:ahLst/>
              <a:cxnLst/>
              <a:rect l="l" t="t" r="r" b="b"/>
              <a:pathLst>
                <a:path w="3365879" h="1352804">
                  <a:moveTo>
                    <a:pt x="0" y="0"/>
                  </a:moveTo>
                  <a:lnTo>
                    <a:pt x="3365879" y="0"/>
                  </a:lnTo>
                  <a:lnTo>
                    <a:pt x="3365879" y="1352804"/>
                  </a:lnTo>
                  <a:lnTo>
                    <a:pt x="0" y="1352804"/>
                  </a:lnTo>
                  <a:close/>
                </a:path>
              </a:pathLst>
            </a:custGeom>
            <a:solidFill>
              <a:srgbClr val="F6F9FC"/>
            </a:solidFill>
            <a:ln w="13335" cap="sq">
              <a:solidFill>
                <a:srgbClr val="D4DCE6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1122781" y="6185916"/>
            <a:ext cx="2240617" cy="754380"/>
            <a:chOff x="0" y="0"/>
            <a:chExt cx="2987489" cy="10058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987489" cy="1005840"/>
            </a:xfrm>
            <a:custGeom>
              <a:avLst/>
              <a:gdLst/>
              <a:ahLst/>
              <a:cxnLst/>
              <a:rect l="l" t="t" r="r" b="b"/>
              <a:pathLst>
                <a:path w="2987489" h="1005840">
                  <a:moveTo>
                    <a:pt x="0" y="0"/>
                  </a:moveTo>
                  <a:lnTo>
                    <a:pt x="2987489" y="0"/>
                  </a:lnTo>
                  <a:lnTo>
                    <a:pt x="2987489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183" r="1578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9525"/>
              <a:ext cx="2987489" cy="9963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23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Working Memory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489038" y="6014656"/>
            <a:ext cx="8209557" cy="1014603"/>
            <a:chOff x="0" y="0"/>
            <a:chExt cx="10946076" cy="135280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0946076" cy="1352804"/>
            </a:xfrm>
            <a:custGeom>
              <a:avLst/>
              <a:gdLst/>
              <a:ahLst/>
              <a:cxnLst/>
              <a:rect l="l" t="t" r="r" b="b"/>
              <a:pathLst>
                <a:path w="10946076" h="1352804">
                  <a:moveTo>
                    <a:pt x="0" y="0"/>
                  </a:moveTo>
                  <a:lnTo>
                    <a:pt x="10946076" y="0"/>
                  </a:lnTo>
                  <a:lnTo>
                    <a:pt x="10946076" y="1352804"/>
                  </a:lnTo>
                  <a:lnTo>
                    <a:pt x="0" y="1352804"/>
                  </a:lnTo>
                  <a:close/>
                </a:path>
              </a:pathLst>
            </a:custGeom>
            <a:solidFill>
              <a:srgbClr val="F6F9FC"/>
            </a:solidFill>
            <a:ln w="13335" cap="sq">
              <a:solidFill>
                <a:srgbClr val="D4DCE6"/>
              </a:solidFill>
              <a:prstDash val="solid"/>
              <a:miter/>
            </a:ln>
          </p:spPr>
        </p:sp>
      </p:grpSp>
      <p:grpSp>
        <p:nvGrpSpPr>
          <p:cNvPr id="56" name="Group 56"/>
          <p:cNvGrpSpPr/>
          <p:nvPr/>
        </p:nvGrpSpPr>
        <p:grpSpPr>
          <a:xfrm>
            <a:off x="3630934" y="6185916"/>
            <a:ext cx="7925764" cy="1083051"/>
            <a:chOff x="0" y="0"/>
            <a:chExt cx="10567686" cy="144406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0567685" cy="1444068"/>
            </a:xfrm>
            <a:custGeom>
              <a:avLst/>
              <a:gdLst/>
              <a:ahLst/>
              <a:cxnLst/>
              <a:rect l="l" t="t" r="r" b="b"/>
              <a:pathLst>
                <a:path w="10567685" h="1444068">
                  <a:moveTo>
                    <a:pt x="0" y="0"/>
                  </a:moveTo>
                  <a:lnTo>
                    <a:pt x="10567685" y="0"/>
                  </a:lnTo>
                  <a:lnTo>
                    <a:pt x="10567685" y="1444068"/>
                  </a:lnTo>
                  <a:lnTo>
                    <a:pt x="0" y="14440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2138" r="17971" b="-5179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9525"/>
              <a:ext cx="10567686" cy="14345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7"/>
                </a:lnSpc>
              </a:pPr>
              <a:r>
                <a:rPr lang="en-US" sz="223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Sequence Recall, Memory Matching, Shape Drawing Prediction, Puzzle Activities, and Dashboard.</a:t>
              </a:r>
            </a:p>
            <a:p>
              <a:pPr algn="l">
                <a:lnSpc>
                  <a:spcPts val="2687"/>
                </a:lnSpc>
              </a:pPr>
              <a:endParaRPr lang="en-US" sz="2239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sp>
        <p:nvSpPr>
          <p:cNvPr id="59" name="AutoShape 59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0" name="Group 60"/>
          <p:cNvGrpSpPr/>
          <p:nvPr/>
        </p:nvGrpSpPr>
        <p:grpSpPr>
          <a:xfrm>
            <a:off x="685800" y="9902952"/>
            <a:ext cx="6446520" cy="219456"/>
            <a:chOff x="0" y="0"/>
            <a:chExt cx="8595360" cy="29260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595360" cy="292608"/>
            </a:xfrm>
            <a:custGeom>
              <a:avLst/>
              <a:gdLst/>
              <a:ahLst/>
              <a:cxnLst/>
              <a:rect l="l" t="t" r="r" b="b"/>
              <a:pathLst>
                <a:path w="8595360" h="292608">
                  <a:moveTo>
                    <a:pt x="0" y="0"/>
                  </a:moveTo>
                  <a:lnTo>
                    <a:pt x="8595360" y="0"/>
                  </a:lnTo>
                  <a:lnTo>
                    <a:pt x="8595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2372" b="-522372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8595360" cy="292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90"/>
                </a:lnSpc>
              </a:pPr>
              <a:r>
                <a:rPr lang="en-US" sz="825">
                  <a:solidFill>
                    <a:srgbClr val="8792A2"/>
                  </a:solidFill>
                  <a:latin typeface="Aptos"/>
                  <a:ea typeface="Aptos"/>
                  <a:cs typeface="Aptos"/>
                  <a:sym typeface="Aptos"/>
                </a:rPr>
                <a:t>IT4010 Research Project | PP2 Final Readiness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5295636" y="9795365"/>
            <a:ext cx="1896980" cy="379766"/>
            <a:chOff x="0" y="0"/>
            <a:chExt cx="2716241" cy="543779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716241" cy="543779"/>
            </a:xfrm>
            <a:custGeom>
              <a:avLst/>
              <a:gdLst/>
              <a:ahLst/>
              <a:cxnLst/>
              <a:rect l="l" t="t" r="r" b="b"/>
              <a:pathLst>
                <a:path w="2716241" h="543779">
                  <a:moveTo>
                    <a:pt x="0" y="0"/>
                  </a:moveTo>
                  <a:lnTo>
                    <a:pt x="2716241" y="0"/>
                  </a:lnTo>
                  <a:lnTo>
                    <a:pt x="2716241" y="543779"/>
                  </a:lnTo>
                  <a:lnTo>
                    <a:pt x="0" y="5437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089" r="-216443" b="-234899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2716241" cy="5533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3743432" y="1247725"/>
            <a:ext cx="2211242" cy="592866"/>
            <a:chOff x="0" y="0"/>
            <a:chExt cx="2948323" cy="79048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948323" cy="790488"/>
            </a:xfrm>
            <a:custGeom>
              <a:avLst/>
              <a:gdLst/>
              <a:ahLst/>
              <a:cxnLst/>
              <a:rect l="l" t="t" r="r" b="b"/>
              <a:pathLst>
                <a:path w="2948323" h="790488">
                  <a:moveTo>
                    <a:pt x="0" y="0"/>
                  </a:moveTo>
                  <a:lnTo>
                    <a:pt x="2948323" y="0"/>
                  </a:lnTo>
                  <a:lnTo>
                    <a:pt x="2948323" y="790488"/>
                  </a:lnTo>
                  <a:lnTo>
                    <a:pt x="0" y="790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99917" r="-365213" b="-276263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2948323" cy="790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Git Graph</a:t>
              </a:r>
            </a:p>
          </p:txBody>
        </p:sp>
      </p:grpSp>
      <p:sp>
        <p:nvSpPr>
          <p:cNvPr id="69" name="Freeform 69"/>
          <p:cNvSpPr/>
          <p:nvPr/>
        </p:nvSpPr>
        <p:spPr>
          <a:xfrm>
            <a:off x="13304092" y="1954079"/>
            <a:ext cx="3983088" cy="7586834"/>
          </a:xfrm>
          <a:custGeom>
            <a:avLst/>
            <a:gdLst/>
            <a:ahLst/>
            <a:cxnLst/>
            <a:rect l="l" t="t" r="r" b="b"/>
            <a:pathLst>
              <a:path w="3983088" h="7586834">
                <a:moveTo>
                  <a:pt x="0" y="0"/>
                </a:moveTo>
                <a:lnTo>
                  <a:pt x="3983088" y="0"/>
                </a:lnTo>
                <a:lnTo>
                  <a:pt x="3983088" y="7586833"/>
                </a:lnTo>
                <a:lnTo>
                  <a:pt x="0" y="7586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710329"/>
            <a:chOff x="0" y="0"/>
            <a:chExt cx="17465040" cy="94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947105"/>
            </a:xfrm>
            <a:custGeom>
              <a:avLst/>
              <a:gdLst/>
              <a:ahLst/>
              <a:cxnLst/>
              <a:rect l="l" t="t" r="r" b="b"/>
              <a:pathLst>
                <a:path w="17465039" h="947105">
                  <a:moveTo>
                    <a:pt x="0" y="0"/>
                  </a:moveTo>
                  <a:lnTo>
                    <a:pt x="17465039" y="0"/>
                  </a:lnTo>
                  <a:lnTo>
                    <a:pt x="17465039" y="947105"/>
                  </a:lnTo>
                  <a:lnTo>
                    <a:pt x="0" y="947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5866" b="-30275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947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Evaluation Evidence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sp>
        <p:nvSpPr>
          <p:cNvPr id="9" name="AutoShape 9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685800" y="9902952"/>
            <a:ext cx="6446520" cy="219456"/>
            <a:chOff x="0" y="0"/>
            <a:chExt cx="8595360" cy="2926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95360" cy="292608"/>
            </a:xfrm>
            <a:custGeom>
              <a:avLst/>
              <a:gdLst/>
              <a:ahLst/>
              <a:cxnLst/>
              <a:rect l="l" t="t" r="r" b="b"/>
              <a:pathLst>
                <a:path w="8595360" h="292608">
                  <a:moveTo>
                    <a:pt x="0" y="0"/>
                  </a:moveTo>
                  <a:lnTo>
                    <a:pt x="8595360" y="0"/>
                  </a:lnTo>
                  <a:lnTo>
                    <a:pt x="8595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2372" b="-52237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8595360" cy="292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90"/>
                </a:lnSpc>
              </a:pPr>
              <a:r>
                <a:rPr lang="en-US" sz="825">
                  <a:solidFill>
                    <a:srgbClr val="8792A2"/>
                  </a:solidFill>
                  <a:latin typeface="Aptos"/>
                  <a:ea typeface="Aptos"/>
                  <a:cs typeface="Aptos"/>
                  <a:sym typeface="Aptos"/>
                </a:rPr>
                <a:t>IT4010 Research Project | PP2 Final Readiness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295636" y="9795365"/>
            <a:ext cx="1896980" cy="379766"/>
            <a:chOff x="0" y="0"/>
            <a:chExt cx="2716241" cy="54377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16241" cy="543779"/>
            </a:xfrm>
            <a:custGeom>
              <a:avLst/>
              <a:gdLst/>
              <a:ahLst/>
              <a:cxnLst/>
              <a:rect l="l" t="t" r="r" b="b"/>
              <a:pathLst>
                <a:path w="2716241" h="543779">
                  <a:moveTo>
                    <a:pt x="0" y="0"/>
                  </a:moveTo>
                  <a:lnTo>
                    <a:pt x="2716241" y="0"/>
                  </a:lnTo>
                  <a:lnTo>
                    <a:pt x="2716241" y="543779"/>
                  </a:lnTo>
                  <a:lnTo>
                    <a:pt x="0" y="5437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089" r="-216443" b="-23489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2716241" cy="5533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685800" y="2264283"/>
          <a:ext cx="7801907" cy="5276850"/>
        </p:xfrm>
        <a:graphic>
          <a:graphicData uri="http://schemas.openxmlformats.org/drawingml/2006/table">
            <a:tbl>
              <a:tblPr/>
              <a:tblGrid>
                <a:gridCol w="4145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64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55370">
                <a:tc>
                  <a:txBody>
                    <a:bodyPr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Learning Difficulty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Model 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5370">
                <a:tc>
                  <a:txBody>
                    <a:bodyPr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Dyscalculia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98.5%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5370">
                <a:tc>
                  <a:txBody>
                    <a:bodyPr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Dyslexia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89%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5370">
                <a:tc>
                  <a:txBody>
                    <a:bodyPr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Dysgraphia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93%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5370">
                <a:tc>
                  <a:txBody>
                    <a:bodyPr/>
                    <a:lstStyle/>
                    <a:p>
                      <a:pPr algn="l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Working Memory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480"/>
                        </a:lnSpc>
                        <a:defRPr/>
                      </a:pPr>
                      <a:r>
                        <a:rPr lang="en-US" sz="3200">
                          <a:solidFill>
                            <a:srgbClr val="000000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96%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Freeform 17"/>
          <p:cNvSpPr/>
          <p:nvPr/>
        </p:nvSpPr>
        <p:spPr>
          <a:xfrm>
            <a:off x="9144000" y="2409320"/>
            <a:ext cx="7529517" cy="4517710"/>
          </a:xfrm>
          <a:custGeom>
            <a:avLst/>
            <a:gdLst/>
            <a:ahLst/>
            <a:cxnLst/>
            <a:rect l="l" t="t" r="r" b="b"/>
            <a:pathLst>
              <a:path w="7529517" h="4517710">
                <a:moveTo>
                  <a:pt x="0" y="0"/>
                </a:moveTo>
                <a:lnTo>
                  <a:pt x="7529517" y="0"/>
                </a:lnTo>
                <a:lnTo>
                  <a:pt x="7529517" y="4517710"/>
                </a:lnTo>
                <a:lnTo>
                  <a:pt x="0" y="45177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9635183" y="6927030"/>
            <a:ext cx="7038334" cy="794376"/>
            <a:chOff x="0" y="0"/>
            <a:chExt cx="9384445" cy="105916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84445" cy="1059169"/>
            </a:xfrm>
            <a:custGeom>
              <a:avLst/>
              <a:gdLst/>
              <a:ahLst/>
              <a:cxnLst/>
              <a:rect l="l" t="t" r="r" b="b"/>
              <a:pathLst>
                <a:path w="9384445" h="1059169">
                  <a:moveTo>
                    <a:pt x="0" y="0"/>
                  </a:moveTo>
                  <a:lnTo>
                    <a:pt x="9384445" y="0"/>
                  </a:lnTo>
                  <a:lnTo>
                    <a:pt x="9384445" y="1059169"/>
                  </a:lnTo>
                  <a:lnTo>
                    <a:pt x="0" y="10591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15" r="33742" b="-3856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9384445" cy="1059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40"/>
                </a:lnSpc>
              </a:pPr>
              <a:r>
                <a:rPr lang="en-US" sz="2950">
                  <a:solidFill>
                    <a:srgbClr val="010100"/>
                  </a:solidFill>
                  <a:latin typeface="Aptos"/>
                  <a:ea typeface="Aptos"/>
                  <a:cs typeface="Aptos"/>
                  <a:sym typeface="Aptos"/>
                </a:rPr>
                <a:t>Result on the digit recognition model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710329"/>
            <a:chOff x="0" y="0"/>
            <a:chExt cx="17465040" cy="94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947105"/>
            </a:xfrm>
            <a:custGeom>
              <a:avLst/>
              <a:gdLst/>
              <a:ahLst/>
              <a:cxnLst/>
              <a:rect l="l" t="t" r="r" b="b"/>
              <a:pathLst>
                <a:path w="17465039" h="947105">
                  <a:moveTo>
                    <a:pt x="0" y="0"/>
                  </a:moveTo>
                  <a:lnTo>
                    <a:pt x="17465039" y="0"/>
                  </a:lnTo>
                  <a:lnTo>
                    <a:pt x="17465039" y="947105"/>
                  </a:lnTo>
                  <a:lnTo>
                    <a:pt x="0" y="947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5866" b="-30275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947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Evaluation Evidence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sp>
        <p:nvSpPr>
          <p:cNvPr id="9" name="AutoShape 9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685800" y="9902952"/>
            <a:ext cx="6446520" cy="219456"/>
            <a:chOff x="0" y="0"/>
            <a:chExt cx="8595360" cy="2926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95360" cy="292608"/>
            </a:xfrm>
            <a:custGeom>
              <a:avLst/>
              <a:gdLst/>
              <a:ahLst/>
              <a:cxnLst/>
              <a:rect l="l" t="t" r="r" b="b"/>
              <a:pathLst>
                <a:path w="8595360" h="292608">
                  <a:moveTo>
                    <a:pt x="0" y="0"/>
                  </a:moveTo>
                  <a:lnTo>
                    <a:pt x="8595360" y="0"/>
                  </a:lnTo>
                  <a:lnTo>
                    <a:pt x="8595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2372" b="-52237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8595360" cy="292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90"/>
                </a:lnSpc>
              </a:pPr>
              <a:r>
                <a:rPr lang="en-US" sz="825">
                  <a:solidFill>
                    <a:srgbClr val="8792A2"/>
                  </a:solidFill>
                  <a:latin typeface="Aptos"/>
                  <a:ea typeface="Aptos"/>
                  <a:cs typeface="Aptos"/>
                  <a:sym typeface="Aptos"/>
                </a:rPr>
                <a:t>IT4010 Research Project | PP2 Final Readiness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295636" y="9795365"/>
            <a:ext cx="1896980" cy="379766"/>
            <a:chOff x="0" y="0"/>
            <a:chExt cx="2716241" cy="54377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16241" cy="543779"/>
            </a:xfrm>
            <a:custGeom>
              <a:avLst/>
              <a:gdLst/>
              <a:ahLst/>
              <a:cxnLst/>
              <a:rect l="l" t="t" r="r" b="b"/>
              <a:pathLst>
                <a:path w="2716241" h="543779">
                  <a:moveTo>
                    <a:pt x="0" y="0"/>
                  </a:moveTo>
                  <a:lnTo>
                    <a:pt x="2716241" y="0"/>
                  </a:lnTo>
                  <a:lnTo>
                    <a:pt x="2716241" y="543779"/>
                  </a:lnTo>
                  <a:lnTo>
                    <a:pt x="0" y="5437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089" r="-216443" b="-23489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2716241" cy="5533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335462" y="1529643"/>
            <a:ext cx="7147196" cy="3566550"/>
          </a:xfrm>
          <a:custGeom>
            <a:avLst/>
            <a:gdLst/>
            <a:ahLst/>
            <a:cxnLst/>
            <a:rect l="l" t="t" r="r" b="b"/>
            <a:pathLst>
              <a:path w="7147196" h="3566550">
                <a:moveTo>
                  <a:pt x="0" y="0"/>
                </a:moveTo>
                <a:lnTo>
                  <a:pt x="7147196" y="0"/>
                </a:lnTo>
                <a:lnTo>
                  <a:pt x="7147196" y="3566550"/>
                </a:lnTo>
                <a:lnTo>
                  <a:pt x="0" y="3566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644652" y="4921086"/>
            <a:ext cx="7038334" cy="794376"/>
            <a:chOff x="0" y="0"/>
            <a:chExt cx="9384445" cy="105916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384445" cy="1059169"/>
            </a:xfrm>
            <a:custGeom>
              <a:avLst/>
              <a:gdLst/>
              <a:ahLst/>
              <a:cxnLst/>
              <a:rect l="l" t="t" r="r" b="b"/>
              <a:pathLst>
                <a:path w="9384445" h="1059169">
                  <a:moveTo>
                    <a:pt x="0" y="0"/>
                  </a:moveTo>
                  <a:lnTo>
                    <a:pt x="9384445" y="0"/>
                  </a:lnTo>
                  <a:lnTo>
                    <a:pt x="9384445" y="1059169"/>
                  </a:lnTo>
                  <a:lnTo>
                    <a:pt x="0" y="10591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15" r="33742" b="-3856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0"/>
              <a:ext cx="9384445" cy="1059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40"/>
                </a:lnSpc>
              </a:pPr>
              <a:r>
                <a:rPr lang="en-US" sz="2950">
                  <a:solidFill>
                    <a:srgbClr val="010100"/>
                  </a:solidFill>
                  <a:latin typeface="Aptos"/>
                  <a:ea typeface="Aptos"/>
                  <a:cs typeface="Aptos"/>
                  <a:sym typeface="Aptos"/>
                </a:rPr>
                <a:t>Result on the working memory CNN model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415765" y="5645781"/>
            <a:ext cx="7066893" cy="3975127"/>
          </a:xfrm>
          <a:custGeom>
            <a:avLst/>
            <a:gdLst/>
            <a:ahLst/>
            <a:cxnLst/>
            <a:rect l="l" t="t" r="r" b="b"/>
            <a:pathLst>
              <a:path w="7066893" h="3975127">
                <a:moveTo>
                  <a:pt x="0" y="0"/>
                </a:moveTo>
                <a:lnTo>
                  <a:pt x="7066893" y="0"/>
                </a:lnTo>
                <a:lnTo>
                  <a:pt x="7066893" y="3975128"/>
                </a:lnTo>
                <a:lnTo>
                  <a:pt x="0" y="3975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7682986" y="8292786"/>
            <a:ext cx="7038334" cy="794376"/>
            <a:chOff x="0" y="0"/>
            <a:chExt cx="9384445" cy="105916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384445" cy="1059169"/>
            </a:xfrm>
            <a:custGeom>
              <a:avLst/>
              <a:gdLst/>
              <a:ahLst/>
              <a:cxnLst/>
              <a:rect l="l" t="t" r="r" b="b"/>
              <a:pathLst>
                <a:path w="9384445" h="1059169">
                  <a:moveTo>
                    <a:pt x="0" y="0"/>
                  </a:moveTo>
                  <a:lnTo>
                    <a:pt x="9384445" y="0"/>
                  </a:lnTo>
                  <a:lnTo>
                    <a:pt x="9384445" y="1059169"/>
                  </a:lnTo>
                  <a:lnTo>
                    <a:pt x="0" y="10591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0215" r="33742" b="-3856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9384445" cy="10591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40"/>
                </a:lnSpc>
              </a:pPr>
              <a:r>
                <a:rPr lang="en-US" sz="2950">
                  <a:solidFill>
                    <a:srgbClr val="010100"/>
                  </a:solidFill>
                  <a:latin typeface="Aptos"/>
                  <a:ea typeface="Aptos"/>
                  <a:cs typeface="Aptos"/>
                  <a:sym typeface="Aptos"/>
                </a:rPr>
                <a:t>Result on the voice recognition model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8905114" y="1529643"/>
            <a:ext cx="7577262" cy="3788631"/>
          </a:xfrm>
          <a:custGeom>
            <a:avLst/>
            <a:gdLst/>
            <a:ahLst/>
            <a:cxnLst/>
            <a:rect l="l" t="t" r="r" b="b"/>
            <a:pathLst>
              <a:path w="7577262" h="3788631">
                <a:moveTo>
                  <a:pt x="0" y="0"/>
                </a:moveTo>
                <a:lnTo>
                  <a:pt x="7577262" y="0"/>
                </a:lnTo>
                <a:lnTo>
                  <a:pt x="7577262" y="3788631"/>
                </a:lnTo>
                <a:lnTo>
                  <a:pt x="0" y="3788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9504425" y="5645781"/>
            <a:ext cx="6378641" cy="609663"/>
            <a:chOff x="0" y="0"/>
            <a:chExt cx="8504855" cy="81288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504855" cy="812883"/>
            </a:xfrm>
            <a:custGeom>
              <a:avLst/>
              <a:gdLst/>
              <a:ahLst/>
              <a:cxnLst/>
              <a:rect l="l" t="t" r="r" b="b"/>
              <a:pathLst>
                <a:path w="8504855" h="812883">
                  <a:moveTo>
                    <a:pt x="0" y="0"/>
                  </a:moveTo>
                  <a:lnTo>
                    <a:pt x="8504855" y="0"/>
                  </a:lnTo>
                  <a:lnTo>
                    <a:pt x="8504855" y="812883"/>
                  </a:lnTo>
                  <a:lnTo>
                    <a:pt x="0" y="81288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7548" r="26889" b="-80542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8504855" cy="8128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40"/>
                </a:lnSpc>
              </a:pPr>
              <a:r>
                <a:rPr lang="en-US" sz="2950">
                  <a:solidFill>
                    <a:srgbClr val="010100"/>
                  </a:solidFill>
                  <a:latin typeface="Aptos"/>
                  <a:ea typeface="Aptos"/>
                  <a:cs typeface="Aptos"/>
                  <a:sym typeface="Aptos"/>
                </a:rPr>
                <a:t>Result on the dysgraphia CNN model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710329"/>
            <a:chOff x="0" y="0"/>
            <a:chExt cx="17465040" cy="94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947105"/>
            </a:xfrm>
            <a:custGeom>
              <a:avLst/>
              <a:gdLst/>
              <a:ahLst/>
              <a:cxnLst/>
              <a:rect l="l" t="t" r="r" b="b"/>
              <a:pathLst>
                <a:path w="17465039" h="947105">
                  <a:moveTo>
                    <a:pt x="0" y="0"/>
                  </a:moveTo>
                  <a:lnTo>
                    <a:pt x="17465039" y="0"/>
                  </a:lnTo>
                  <a:lnTo>
                    <a:pt x="17465039" y="947105"/>
                  </a:lnTo>
                  <a:lnTo>
                    <a:pt x="0" y="947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5866" b="-30275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947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Evaluation Evidence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987552" y="1508760"/>
            <a:ext cx="4663440" cy="592866"/>
            <a:chOff x="0" y="0"/>
            <a:chExt cx="6217920" cy="79048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217920" cy="790488"/>
            </a:xfrm>
            <a:custGeom>
              <a:avLst/>
              <a:gdLst/>
              <a:ahLst/>
              <a:cxnLst/>
              <a:rect l="l" t="t" r="r" b="b"/>
              <a:pathLst>
                <a:path w="6217920" h="790488">
                  <a:moveTo>
                    <a:pt x="0" y="0"/>
                  </a:moveTo>
                  <a:lnTo>
                    <a:pt x="6217920" y="0"/>
                  </a:lnTo>
                  <a:lnTo>
                    <a:pt x="6217920" y="790488"/>
                  </a:lnTo>
                  <a:lnTo>
                    <a:pt x="0" y="790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0878" b="-85656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6217920" cy="790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79"/>
                </a:lnSpc>
              </a:pPr>
              <a:r>
                <a:rPr lang="en-US" sz="3150" b="1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Feedback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685800" y="9902952"/>
            <a:ext cx="6446520" cy="219456"/>
            <a:chOff x="0" y="0"/>
            <a:chExt cx="8595360" cy="29260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95360" cy="292608"/>
            </a:xfrm>
            <a:custGeom>
              <a:avLst/>
              <a:gdLst/>
              <a:ahLst/>
              <a:cxnLst/>
              <a:rect l="l" t="t" r="r" b="b"/>
              <a:pathLst>
                <a:path w="8595360" h="292608">
                  <a:moveTo>
                    <a:pt x="0" y="0"/>
                  </a:moveTo>
                  <a:lnTo>
                    <a:pt x="8595360" y="0"/>
                  </a:lnTo>
                  <a:lnTo>
                    <a:pt x="8595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2372" b="-52237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8595360" cy="292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90"/>
                </a:lnSpc>
              </a:pPr>
              <a:r>
                <a:rPr lang="en-US" sz="825">
                  <a:solidFill>
                    <a:srgbClr val="8792A2"/>
                  </a:solidFill>
                  <a:latin typeface="Aptos"/>
                  <a:ea typeface="Aptos"/>
                  <a:cs typeface="Aptos"/>
                  <a:sym typeface="Aptos"/>
                </a:rPr>
                <a:t>IT4010 Research Project | PP2 Final Readiness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295636" y="9795365"/>
            <a:ext cx="1896980" cy="379766"/>
            <a:chOff x="0" y="0"/>
            <a:chExt cx="2716241" cy="5437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16241" cy="543779"/>
            </a:xfrm>
            <a:custGeom>
              <a:avLst/>
              <a:gdLst/>
              <a:ahLst/>
              <a:cxnLst/>
              <a:rect l="l" t="t" r="r" b="b"/>
              <a:pathLst>
                <a:path w="2716241" h="543779">
                  <a:moveTo>
                    <a:pt x="0" y="0"/>
                  </a:moveTo>
                  <a:lnTo>
                    <a:pt x="2716241" y="0"/>
                  </a:lnTo>
                  <a:lnTo>
                    <a:pt x="2716241" y="543779"/>
                  </a:lnTo>
                  <a:lnTo>
                    <a:pt x="0" y="5437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089" r="-216443" b="-234899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2716241" cy="5533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87552" y="2312974"/>
            <a:ext cx="4663440" cy="556887"/>
            <a:chOff x="0" y="0"/>
            <a:chExt cx="6217920" cy="74251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17920" cy="742516"/>
            </a:xfrm>
            <a:custGeom>
              <a:avLst/>
              <a:gdLst/>
              <a:ahLst/>
              <a:cxnLst/>
              <a:rect l="l" t="t" r="r" b="b"/>
              <a:pathLst>
                <a:path w="6217920" h="742516">
                  <a:moveTo>
                    <a:pt x="0" y="0"/>
                  </a:moveTo>
                  <a:lnTo>
                    <a:pt x="6217920" y="0"/>
                  </a:lnTo>
                  <a:lnTo>
                    <a:pt x="6217920" y="742516"/>
                  </a:lnTo>
                  <a:lnTo>
                    <a:pt x="0" y="7425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8688" b="-9765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6217920" cy="7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40"/>
                </a:lnSpc>
              </a:pPr>
              <a:r>
                <a:rPr lang="en-US" sz="2950" b="1">
                  <a:solidFill>
                    <a:srgbClr val="0101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 Tested with the child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028700" y="2869862"/>
            <a:ext cx="5286354" cy="6177090"/>
          </a:xfrm>
          <a:custGeom>
            <a:avLst/>
            <a:gdLst/>
            <a:ahLst/>
            <a:cxnLst/>
            <a:rect l="l" t="t" r="r" b="b"/>
            <a:pathLst>
              <a:path w="5286354" h="6177090">
                <a:moveTo>
                  <a:pt x="0" y="0"/>
                </a:moveTo>
                <a:lnTo>
                  <a:pt x="5286354" y="0"/>
                </a:lnTo>
                <a:lnTo>
                  <a:pt x="5286354" y="6177090"/>
                </a:lnTo>
                <a:lnTo>
                  <a:pt x="0" y="6177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273" b="-9832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9708802" y="2484204"/>
            <a:ext cx="5586834" cy="6948405"/>
          </a:xfrm>
          <a:custGeom>
            <a:avLst/>
            <a:gdLst/>
            <a:ahLst/>
            <a:cxnLst/>
            <a:rect l="l" t="t" r="r" b="b"/>
            <a:pathLst>
              <a:path w="5586834" h="6948405">
                <a:moveTo>
                  <a:pt x="0" y="0"/>
                </a:moveTo>
                <a:lnTo>
                  <a:pt x="5586834" y="0"/>
                </a:lnTo>
                <a:lnTo>
                  <a:pt x="5586834" y="6948405"/>
                </a:lnTo>
                <a:lnTo>
                  <a:pt x="0" y="6948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9144000" y="1542583"/>
            <a:ext cx="5144648" cy="556887"/>
            <a:chOff x="0" y="0"/>
            <a:chExt cx="6859531" cy="74251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59531" cy="742516"/>
            </a:xfrm>
            <a:custGeom>
              <a:avLst/>
              <a:gdLst/>
              <a:ahLst/>
              <a:cxnLst/>
              <a:rect l="l" t="t" r="r" b="b"/>
              <a:pathLst>
                <a:path w="6859531" h="742516">
                  <a:moveTo>
                    <a:pt x="0" y="0"/>
                  </a:moveTo>
                  <a:lnTo>
                    <a:pt x="6859531" y="0"/>
                  </a:lnTo>
                  <a:lnTo>
                    <a:pt x="6859531" y="742516"/>
                  </a:lnTo>
                  <a:lnTo>
                    <a:pt x="0" y="7425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8688" r="9353" b="-97651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6859531" cy="7425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40"/>
                </a:lnSpc>
              </a:pPr>
              <a:r>
                <a:rPr lang="en-US" sz="2950" b="1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Recommandation Letter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710329"/>
            <a:chOff x="0" y="0"/>
            <a:chExt cx="17465040" cy="94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947105"/>
            </a:xfrm>
            <a:custGeom>
              <a:avLst/>
              <a:gdLst/>
              <a:ahLst/>
              <a:cxnLst/>
              <a:rect l="l" t="t" r="r" b="b"/>
              <a:pathLst>
                <a:path w="17465039" h="947105">
                  <a:moveTo>
                    <a:pt x="0" y="0"/>
                  </a:moveTo>
                  <a:lnTo>
                    <a:pt x="17465039" y="0"/>
                  </a:lnTo>
                  <a:lnTo>
                    <a:pt x="17465039" y="947105"/>
                  </a:lnTo>
                  <a:lnTo>
                    <a:pt x="0" y="947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5866" b="-30275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947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Non-Functional Requirements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2133205" y="2019234"/>
            <a:ext cx="15126095" cy="6839898"/>
            <a:chOff x="0" y="0"/>
            <a:chExt cx="20168126" cy="9119864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5344815" cy="1351008"/>
              <a:chOff x="0" y="0"/>
              <a:chExt cx="2726667" cy="68921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726667" cy="689219"/>
              </a:xfrm>
              <a:custGeom>
                <a:avLst/>
                <a:gdLst/>
                <a:ahLst/>
                <a:cxnLst/>
                <a:rect l="l" t="t" r="r" b="b"/>
                <a:pathLst>
                  <a:path w="2726667" h="689219">
                    <a:moveTo>
                      <a:pt x="0" y="107655"/>
                    </a:moveTo>
                    <a:cubicBezTo>
                      <a:pt x="0" y="48165"/>
                      <a:pt x="40682" y="0"/>
                      <a:pt x="90929" y="0"/>
                    </a:cubicBezTo>
                    <a:lnTo>
                      <a:pt x="2635738" y="0"/>
                    </a:lnTo>
                    <a:cubicBezTo>
                      <a:pt x="2685985" y="0"/>
                      <a:pt x="2726667" y="48165"/>
                      <a:pt x="2726667" y="107655"/>
                    </a:cubicBezTo>
                    <a:lnTo>
                      <a:pt x="2726667" y="581564"/>
                    </a:lnTo>
                    <a:cubicBezTo>
                      <a:pt x="2726667" y="641054"/>
                      <a:pt x="2685985" y="689219"/>
                      <a:pt x="2635738" y="689219"/>
                    </a:cubicBezTo>
                    <a:lnTo>
                      <a:pt x="90929" y="689219"/>
                    </a:lnTo>
                    <a:cubicBezTo>
                      <a:pt x="40682" y="689219"/>
                      <a:pt x="0" y="641054"/>
                      <a:pt x="0" y="581564"/>
                    </a:cubicBezTo>
                    <a:close/>
                  </a:path>
                </a:pathLst>
              </a:custGeom>
              <a:solidFill>
                <a:srgbClr val="244866"/>
              </a:solidFill>
              <a:ln w="19050" cap="sq">
                <a:solidFill>
                  <a:srgbClr val="244866"/>
                </a:solidFill>
                <a:prstDash val="solid"/>
                <a:miter/>
              </a:ln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297145" y="337401"/>
              <a:ext cx="4784701" cy="850744"/>
              <a:chOff x="0" y="0"/>
              <a:chExt cx="2440924" cy="43400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440924" cy="434008"/>
              </a:xfrm>
              <a:custGeom>
                <a:avLst/>
                <a:gdLst/>
                <a:ahLst/>
                <a:cxnLst/>
                <a:rect l="l" t="t" r="r" b="b"/>
                <a:pathLst>
                  <a:path w="2440924" h="434008">
                    <a:moveTo>
                      <a:pt x="0" y="0"/>
                    </a:moveTo>
                    <a:lnTo>
                      <a:pt x="2440924" y="0"/>
                    </a:lnTo>
                    <a:lnTo>
                      <a:pt x="2440924" y="434008"/>
                    </a:lnTo>
                    <a:lnTo>
                      <a:pt x="0" y="43400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8091" r="-4891" b="-31801"/>
                </a:stretch>
              </a:blip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0"/>
                <a:ext cx="2440924" cy="43400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 b="1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Usability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1942214"/>
              <a:ext cx="5344815" cy="1351008"/>
              <a:chOff x="0" y="0"/>
              <a:chExt cx="2726667" cy="689219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726667" cy="689219"/>
              </a:xfrm>
              <a:custGeom>
                <a:avLst/>
                <a:gdLst/>
                <a:ahLst/>
                <a:cxnLst/>
                <a:rect l="l" t="t" r="r" b="b"/>
                <a:pathLst>
                  <a:path w="2726667" h="689219">
                    <a:moveTo>
                      <a:pt x="0" y="107655"/>
                    </a:moveTo>
                    <a:cubicBezTo>
                      <a:pt x="0" y="48165"/>
                      <a:pt x="40682" y="0"/>
                      <a:pt x="90929" y="0"/>
                    </a:cubicBezTo>
                    <a:lnTo>
                      <a:pt x="2635738" y="0"/>
                    </a:lnTo>
                    <a:cubicBezTo>
                      <a:pt x="2685985" y="0"/>
                      <a:pt x="2726667" y="48165"/>
                      <a:pt x="2726667" y="107655"/>
                    </a:cubicBezTo>
                    <a:lnTo>
                      <a:pt x="2726667" y="581564"/>
                    </a:lnTo>
                    <a:cubicBezTo>
                      <a:pt x="2726667" y="641054"/>
                      <a:pt x="2685985" y="689219"/>
                      <a:pt x="2635738" y="689219"/>
                    </a:cubicBezTo>
                    <a:lnTo>
                      <a:pt x="90929" y="689219"/>
                    </a:lnTo>
                    <a:cubicBezTo>
                      <a:pt x="40682" y="689219"/>
                      <a:pt x="0" y="641054"/>
                      <a:pt x="0" y="581564"/>
                    </a:cubicBezTo>
                    <a:close/>
                  </a:path>
                </a:pathLst>
              </a:custGeom>
              <a:solidFill>
                <a:srgbClr val="244866"/>
              </a:solidFill>
              <a:ln w="19050" cap="sq">
                <a:solidFill>
                  <a:srgbClr val="244866"/>
                </a:solidFill>
                <a:prstDash val="solid"/>
                <a:miter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280057" y="2365204"/>
              <a:ext cx="4784701" cy="850744"/>
              <a:chOff x="0" y="0"/>
              <a:chExt cx="2440924" cy="43400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440924" cy="434008"/>
              </a:xfrm>
              <a:custGeom>
                <a:avLst/>
                <a:gdLst/>
                <a:ahLst/>
                <a:cxnLst/>
                <a:rect l="l" t="t" r="r" b="b"/>
                <a:pathLst>
                  <a:path w="2440924" h="434008">
                    <a:moveTo>
                      <a:pt x="0" y="0"/>
                    </a:moveTo>
                    <a:lnTo>
                      <a:pt x="2440924" y="0"/>
                    </a:lnTo>
                    <a:lnTo>
                      <a:pt x="2440924" y="434008"/>
                    </a:lnTo>
                    <a:lnTo>
                      <a:pt x="0" y="43400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8091" r="-4891" b="-31801"/>
                </a:stretch>
              </a:blip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0"/>
                <a:ext cx="2440924" cy="43400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 b="1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Accessibility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3884428"/>
              <a:ext cx="5344815" cy="1351008"/>
              <a:chOff x="0" y="0"/>
              <a:chExt cx="2726667" cy="68921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2726667" cy="689219"/>
              </a:xfrm>
              <a:custGeom>
                <a:avLst/>
                <a:gdLst/>
                <a:ahLst/>
                <a:cxnLst/>
                <a:rect l="l" t="t" r="r" b="b"/>
                <a:pathLst>
                  <a:path w="2726667" h="689219">
                    <a:moveTo>
                      <a:pt x="0" y="107655"/>
                    </a:moveTo>
                    <a:cubicBezTo>
                      <a:pt x="0" y="48165"/>
                      <a:pt x="40682" y="0"/>
                      <a:pt x="90929" y="0"/>
                    </a:cubicBezTo>
                    <a:lnTo>
                      <a:pt x="2635738" y="0"/>
                    </a:lnTo>
                    <a:cubicBezTo>
                      <a:pt x="2685985" y="0"/>
                      <a:pt x="2726667" y="48165"/>
                      <a:pt x="2726667" y="107655"/>
                    </a:cubicBezTo>
                    <a:lnTo>
                      <a:pt x="2726667" y="581564"/>
                    </a:lnTo>
                    <a:cubicBezTo>
                      <a:pt x="2726667" y="641054"/>
                      <a:pt x="2685985" y="689219"/>
                      <a:pt x="2635738" y="689219"/>
                    </a:cubicBezTo>
                    <a:lnTo>
                      <a:pt x="90929" y="689219"/>
                    </a:lnTo>
                    <a:cubicBezTo>
                      <a:pt x="40682" y="689219"/>
                      <a:pt x="0" y="641054"/>
                      <a:pt x="0" y="581564"/>
                    </a:cubicBezTo>
                    <a:close/>
                  </a:path>
                </a:pathLst>
              </a:custGeom>
              <a:solidFill>
                <a:srgbClr val="244866"/>
              </a:solidFill>
              <a:ln w="19050" cap="sq">
                <a:solidFill>
                  <a:srgbClr val="244866"/>
                </a:solidFill>
                <a:prstDash val="solid"/>
                <a:miter/>
              </a:ln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297145" y="4145126"/>
              <a:ext cx="4784701" cy="850744"/>
              <a:chOff x="0" y="0"/>
              <a:chExt cx="2440924" cy="43400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440924" cy="434008"/>
              </a:xfrm>
              <a:custGeom>
                <a:avLst/>
                <a:gdLst/>
                <a:ahLst/>
                <a:cxnLst/>
                <a:rect l="l" t="t" r="r" b="b"/>
                <a:pathLst>
                  <a:path w="2440924" h="434008">
                    <a:moveTo>
                      <a:pt x="0" y="0"/>
                    </a:moveTo>
                    <a:lnTo>
                      <a:pt x="2440924" y="0"/>
                    </a:lnTo>
                    <a:lnTo>
                      <a:pt x="2440924" y="434008"/>
                    </a:lnTo>
                    <a:lnTo>
                      <a:pt x="0" y="43400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8091" r="-4891" b="-31801"/>
                </a:stretch>
              </a:blip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0"/>
                <a:ext cx="2440924" cy="43400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 b="1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Responsiveness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0" y="5826642"/>
              <a:ext cx="5344815" cy="1351008"/>
              <a:chOff x="0" y="0"/>
              <a:chExt cx="2726667" cy="68921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2726667" cy="689219"/>
              </a:xfrm>
              <a:custGeom>
                <a:avLst/>
                <a:gdLst/>
                <a:ahLst/>
                <a:cxnLst/>
                <a:rect l="l" t="t" r="r" b="b"/>
                <a:pathLst>
                  <a:path w="2726667" h="689219">
                    <a:moveTo>
                      <a:pt x="0" y="107655"/>
                    </a:moveTo>
                    <a:cubicBezTo>
                      <a:pt x="0" y="48165"/>
                      <a:pt x="40682" y="0"/>
                      <a:pt x="90929" y="0"/>
                    </a:cubicBezTo>
                    <a:lnTo>
                      <a:pt x="2635738" y="0"/>
                    </a:lnTo>
                    <a:cubicBezTo>
                      <a:pt x="2685985" y="0"/>
                      <a:pt x="2726667" y="48165"/>
                      <a:pt x="2726667" y="107655"/>
                    </a:cubicBezTo>
                    <a:lnTo>
                      <a:pt x="2726667" y="581564"/>
                    </a:lnTo>
                    <a:cubicBezTo>
                      <a:pt x="2726667" y="641054"/>
                      <a:pt x="2685985" y="689219"/>
                      <a:pt x="2635738" y="689219"/>
                    </a:cubicBezTo>
                    <a:lnTo>
                      <a:pt x="90929" y="689219"/>
                    </a:lnTo>
                    <a:cubicBezTo>
                      <a:pt x="40682" y="689219"/>
                      <a:pt x="0" y="641054"/>
                      <a:pt x="0" y="581564"/>
                    </a:cubicBezTo>
                    <a:close/>
                  </a:path>
                </a:pathLst>
              </a:custGeom>
              <a:solidFill>
                <a:srgbClr val="244866"/>
              </a:solidFill>
              <a:ln w="19050" cap="sq">
                <a:solidFill>
                  <a:srgbClr val="244866"/>
                </a:solidFill>
                <a:prstDash val="solid"/>
                <a:miter/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280057" y="6121778"/>
              <a:ext cx="4784701" cy="850744"/>
              <a:chOff x="0" y="0"/>
              <a:chExt cx="2440924" cy="43400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2440924" cy="434008"/>
              </a:xfrm>
              <a:custGeom>
                <a:avLst/>
                <a:gdLst/>
                <a:ahLst/>
                <a:cxnLst/>
                <a:rect l="l" t="t" r="r" b="b"/>
                <a:pathLst>
                  <a:path w="2440924" h="434008">
                    <a:moveTo>
                      <a:pt x="0" y="0"/>
                    </a:moveTo>
                    <a:lnTo>
                      <a:pt x="2440924" y="0"/>
                    </a:lnTo>
                    <a:lnTo>
                      <a:pt x="2440924" y="434008"/>
                    </a:lnTo>
                    <a:lnTo>
                      <a:pt x="0" y="43400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8091" r="-4891" b="-31801"/>
                </a:stretch>
              </a:blip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0"/>
                <a:ext cx="2440924" cy="43400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 b="1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Reliability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7768856"/>
              <a:ext cx="5344815" cy="1351008"/>
              <a:chOff x="0" y="0"/>
              <a:chExt cx="2726667" cy="689219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2726667" cy="689219"/>
              </a:xfrm>
              <a:custGeom>
                <a:avLst/>
                <a:gdLst/>
                <a:ahLst/>
                <a:cxnLst/>
                <a:rect l="l" t="t" r="r" b="b"/>
                <a:pathLst>
                  <a:path w="2726667" h="689219">
                    <a:moveTo>
                      <a:pt x="0" y="107655"/>
                    </a:moveTo>
                    <a:cubicBezTo>
                      <a:pt x="0" y="48165"/>
                      <a:pt x="40682" y="0"/>
                      <a:pt x="90929" y="0"/>
                    </a:cubicBezTo>
                    <a:lnTo>
                      <a:pt x="2635738" y="0"/>
                    </a:lnTo>
                    <a:cubicBezTo>
                      <a:pt x="2685985" y="0"/>
                      <a:pt x="2726667" y="48165"/>
                      <a:pt x="2726667" y="107655"/>
                    </a:cubicBezTo>
                    <a:lnTo>
                      <a:pt x="2726667" y="581564"/>
                    </a:lnTo>
                    <a:cubicBezTo>
                      <a:pt x="2726667" y="641054"/>
                      <a:pt x="2685985" y="689219"/>
                      <a:pt x="2635738" y="689219"/>
                    </a:cubicBezTo>
                    <a:lnTo>
                      <a:pt x="90929" y="689219"/>
                    </a:lnTo>
                    <a:cubicBezTo>
                      <a:pt x="40682" y="689219"/>
                      <a:pt x="0" y="641054"/>
                      <a:pt x="0" y="581564"/>
                    </a:cubicBezTo>
                    <a:close/>
                  </a:path>
                </a:pathLst>
              </a:custGeom>
              <a:solidFill>
                <a:srgbClr val="244866"/>
              </a:solidFill>
              <a:ln w="19050" cap="sq">
                <a:solidFill>
                  <a:srgbClr val="244866"/>
                </a:solidFill>
                <a:prstDash val="solid"/>
                <a:miter/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297145" y="8082671"/>
              <a:ext cx="4784701" cy="850744"/>
              <a:chOff x="0" y="0"/>
              <a:chExt cx="2440924" cy="43400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2440924" cy="434008"/>
              </a:xfrm>
              <a:custGeom>
                <a:avLst/>
                <a:gdLst/>
                <a:ahLst/>
                <a:cxnLst/>
                <a:rect l="l" t="t" r="r" b="b"/>
                <a:pathLst>
                  <a:path w="2440924" h="434008">
                    <a:moveTo>
                      <a:pt x="0" y="0"/>
                    </a:moveTo>
                    <a:lnTo>
                      <a:pt x="2440924" y="0"/>
                    </a:lnTo>
                    <a:lnTo>
                      <a:pt x="2440924" y="434008"/>
                    </a:lnTo>
                    <a:lnTo>
                      <a:pt x="0" y="43400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98091" r="-4891" b="-31801"/>
                </a:stretch>
              </a:blip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0"/>
                <a:ext cx="2440924" cy="43400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3240"/>
                  </a:lnSpc>
                </a:pPr>
                <a:r>
                  <a:rPr lang="en-US" sz="2700" b="1">
                    <a:solidFill>
                      <a:srgbClr val="FFFFFF"/>
                    </a:solidFill>
                    <a:latin typeface="Aptos Bold"/>
                    <a:ea typeface="Aptos Bold"/>
                    <a:cs typeface="Aptos Bold"/>
                    <a:sym typeface="Aptos Bold"/>
                  </a:rPr>
                  <a:t>Engagement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197506" y="220821"/>
              <a:ext cx="13970621" cy="909365"/>
              <a:chOff x="0" y="0"/>
              <a:chExt cx="7907048" cy="5146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7907048" cy="514680"/>
              </a:xfrm>
              <a:custGeom>
                <a:avLst/>
                <a:gdLst/>
                <a:ahLst/>
                <a:cxnLst/>
                <a:rect l="l" t="t" r="r" b="b"/>
                <a:pathLst>
                  <a:path w="7907048" h="514680">
                    <a:moveTo>
                      <a:pt x="0" y="0"/>
                    </a:moveTo>
                    <a:lnTo>
                      <a:pt x="7907048" y="0"/>
                    </a:lnTo>
                    <a:lnTo>
                      <a:pt x="7907048" y="514680"/>
                    </a:lnTo>
                    <a:lnTo>
                      <a:pt x="0" y="5146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21122" r="-17956" b="-285081"/>
                </a:stretch>
              </a:blip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9525"/>
                <a:ext cx="7907048" cy="50515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839"/>
                  </a:lnSpc>
                </a:pPr>
                <a:r>
                  <a:rPr lang="en-US" sz="3199">
                    <a:solidFill>
                      <a:srgbClr val="1F2937"/>
                    </a:solidFill>
                    <a:latin typeface="Aptos"/>
                    <a:ea typeface="Aptos"/>
                    <a:cs typeface="Aptos"/>
                    <a:sym typeface="Aptos"/>
                  </a:rPr>
                  <a:t>child-friendly navigation and simple task flow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197506" y="2163035"/>
              <a:ext cx="13970621" cy="909365"/>
              <a:chOff x="0" y="0"/>
              <a:chExt cx="7907048" cy="51468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907048" cy="514680"/>
              </a:xfrm>
              <a:custGeom>
                <a:avLst/>
                <a:gdLst/>
                <a:ahLst/>
                <a:cxnLst/>
                <a:rect l="l" t="t" r="r" b="b"/>
                <a:pathLst>
                  <a:path w="7907048" h="514680">
                    <a:moveTo>
                      <a:pt x="0" y="0"/>
                    </a:moveTo>
                    <a:lnTo>
                      <a:pt x="7907048" y="0"/>
                    </a:lnTo>
                    <a:lnTo>
                      <a:pt x="7907048" y="514680"/>
                    </a:lnTo>
                    <a:lnTo>
                      <a:pt x="0" y="5146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21122" r="-17956" b="-285081"/>
                </a:stretch>
              </a:blip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9525"/>
                <a:ext cx="7907048" cy="50515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839"/>
                  </a:lnSpc>
                </a:pPr>
                <a:r>
                  <a:rPr lang="en-US" sz="3199">
                    <a:solidFill>
                      <a:srgbClr val="1F2937"/>
                    </a:solidFill>
                    <a:latin typeface="Aptos"/>
                    <a:ea typeface="Aptos"/>
                    <a:cs typeface="Aptos"/>
                    <a:sym typeface="Aptos"/>
                  </a:rPr>
                  <a:t>Sinhala voice guidance and visual instructions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197506" y="4145126"/>
              <a:ext cx="13970621" cy="909365"/>
              <a:chOff x="0" y="0"/>
              <a:chExt cx="7907048" cy="51468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7907048" cy="514680"/>
              </a:xfrm>
              <a:custGeom>
                <a:avLst/>
                <a:gdLst/>
                <a:ahLst/>
                <a:cxnLst/>
                <a:rect l="l" t="t" r="r" b="b"/>
                <a:pathLst>
                  <a:path w="7907048" h="514680">
                    <a:moveTo>
                      <a:pt x="0" y="0"/>
                    </a:moveTo>
                    <a:lnTo>
                      <a:pt x="7907048" y="0"/>
                    </a:lnTo>
                    <a:lnTo>
                      <a:pt x="7907048" y="514680"/>
                    </a:lnTo>
                    <a:lnTo>
                      <a:pt x="0" y="5146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21122" r="-17956" b="-285081"/>
                </a:stretch>
              </a:blip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9525"/>
                <a:ext cx="7907048" cy="50515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839"/>
                  </a:lnSpc>
                </a:pPr>
                <a:r>
                  <a:rPr lang="en-US" sz="3199">
                    <a:solidFill>
                      <a:srgbClr val="1F2937"/>
                    </a:solidFill>
                    <a:latin typeface="Aptos"/>
                    <a:ea typeface="Aptos"/>
                    <a:cs typeface="Aptos"/>
                    <a:sym typeface="Aptos"/>
                  </a:rPr>
                  <a:t>mobile-friendly screens for children and adults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197506" y="6047463"/>
              <a:ext cx="13970621" cy="909365"/>
              <a:chOff x="0" y="0"/>
              <a:chExt cx="7907048" cy="51468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7907048" cy="514680"/>
              </a:xfrm>
              <a:custGeom>
                <a:avLst/>
                <a:gdLst/>
                <a:ahLst/>
                <a:cxnLst/>
                <a:rect l="l" t="t" r="r" b="b"/>
                <a:pathLst>
                  <a:path w="7907048" h="514680">
                    <a:moveTo>
                      <a:pt x="0" y="0"/>
                    </a:moveTo>
                    <a:lnTo>
                      <a:pt x="7907048" y="0"/>
                    </a:lnTo>
                    <a:lnTo>
                      <a:pt x="7907048" y="514680"/>
                    </a:lnTo>
                    <a:lnTo>
                      <a:pt x="0" y="5146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21122" r="-17956" b="-285081"/>
                </a:stretch>
              </a:blip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9525"/>
                <a:ext cx="7907048" cy="50515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839"/>
                  </a:lnSpc>
                </a:pPr>
                <a:r>
                  <a:rPr lang="en-US" sz="3199">
                    <a:solidFill>
                      <a:srgbClr val="1F2937"/>
                    </a:solidFill>
                    <a:latin typeface="Aptos"/>
                    <a:ea typeface="Aptos"/>
                    <a:cs typeface="Aptos"/>
                    <a:sym typeface="Aptos"/>
                  </a:rPr>
                  <a:t>progress stored and visible after activity completion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197506" y="8082671"/>
              <a:ext cx="13970621" cy="909365"/>
              <a:chOff x="0" y="0"/>
              <a:chExt cx="7907048" cy="51468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7907048" cy="514680"/>
              </a:xfrm>
              <a:custGeom>
                <a:avLst/>
                <a:gdLst/>
                <a:ahLst/>
                <a:cxnLst/>
                <a:rect l="l" t="t" r="r" b="b"/>
                <a:pathLst>
                  <a:path w="7907048" h="514680">
                    <a:moveTo>
                      <a:pt x="0" y="0"/>
                    </a:moveTo>
                    <a:lnTo>
                      <a:pt x="7907048" y="0"/>
                    </a:lnTo>
                    <a:lnTo>
                      <a:pt x="7907048" y="514680"/>
                    </a:lnTo>
                    <a:lnTo>
                      <a:pt x="0" y="5146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t="-321122" r="-17956" b="-285081"/>
                </a:stretch>
              </a:blip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0" y="9525"/>
                <a:ext cx="7907048" cy="50515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l">
                  <a:lnSpc>
                    <a:spcPts val="3839"/>
                  </a:lnSpc>
                </a:pPr>
                <a:r>
                  <a:rPr lang="en-US" sz="3199">
                    <a:solidFill>
                      <a:srgbClr val="1F2937"/>
                    </a:solidFill>
                    <a:latin typeface="Aptos"/>
                    <a:ea typeface="Aptos"/>
                    <a:cs typeface="Aptos"/>
                    <a:sym typeface="Aptos"/>
                  </a:rPr>
                  <a:t>reward feedback through stars, badges or animation</a:t>
                </a:r>
              </a:p>
            </p:txBody>
          </p:sp>
        </p:grpSp>
      </p:grpSp>
      <p:sp>
        <p:nvSpPr>
          <p:cNvPr id="50" name="AutoShape 50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1" name="Group 51"/>
          <p:cNvGrpSpPr/>
          <p:nvPr/>
        </p:nvGrpSpPr>
        <p:grpSpPr>
          <a:xfrm>
            <a:off x="685800" y="9902952"/>
            <a:ext cx="6446520" cy="219456"/>
            <a:chOff x="0" y="0"/>
            <a:chExt cx="8595360" cy="29260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595360" cy="292608"/>
            </a:xfrm>
            <a:custGeom>
              <a:avLst/>
              <a:gdLst/>
              <a:ahLst/>
              <a:cxnLst/>
              <a:rect l="l" t="t" r="r" b="b"/>
              <a:pathLst>
                <a:path w="8595360" h="292608">
                  <a:moveTo>
                    <a:pt x="0" y="0"/>
                  </a:moveTo>
                  <a:lnTo>
                    <a:pt x="8595360" y="0"/>
                  </a:lnTo>
                  <a:lnTo>
                    <a:pt x="85953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2372" b="-52237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0"/>
              <a:ext cx="8595360" cy="292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90"/>
                </a:lnSpc>
              </a:pPr>
              <a:r>
                <a:rPr lang="en-US" sz="825">
                  <a:solidFill>
                    <a:srgbClr val="8792A2"/>
                  </a:solidFill>
                  <a:latin typeface="Aptos"/>
                  <a:ea typeface="Aptos"/>
                  <a:cs typeface="Aptos"/>
                  <a:sym typeface="Aptos"/>
                </a:rPr>
                <a:t>IT4010 Research Project | PP2 Final Readiness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5295636" y="9795365"/>
            <a:ext cx="1896980" cy="379766"/>
            <a:chOff x="0" y="0"/>
            <a:chExt cx="2716241" cy="543779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716241" cy="543779"/>
            </a:xfrm>
            <a:custGeom>
              <a:avLst/>
              <a:gdLst/>
              <a:ahLst/>
              <a:cxnLst/>
              <a:rect l="l" t="t" r="r" b="b"/>
              <a:pathLst>
                <a:path w="2716241" h="543779">
                  <a:moveTo>
                    <a:pt x="0" y="0"/>
                  </a:moveTo>
                  <a:lnTo>
                    <a:pt x="2716241" y="0"/>
                  </a:lnTo>
                  <a:lnTo>
                    <a:pt x="2716241" y="543779"/>
                  </a:lnTo>
                  <a:lnTo>
                    <a:pt x="0" y="5437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089" r="-216443" b="-234899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2716241" cy="5533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710329"/>
            <a:chOff x="0" y="0"/>
            <a:chExt cx="17465040" cy="94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947105"/>
            </a:xfrm>
            <a:custGeom>
              <a:avLst/>
              <a:gdLst/>
              <a:ahLst/>
              <a:cxnLst/>
              <a:rect l="l" t="t" r="r" b="b"/>
              <a:pathLst>
                <a:path w="17465039" h="947105">
                  <a:moveTo>
                    <a:pt x="0" y="0"/>
                  </a:moveTo>
                  <a:lnTo>
                    <a:pt x="17465039" y="0"/>
                  </a:lnTo>
                  <a:lnTo>
                    <a:pt x="17465039" y="947105"/>
                  </a:lnTo>
                  <a:lnTo>
                    <a:pt x="0" y="947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5866" b="-30275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947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Commercialization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44652" y="1588426"/>
            <a:ext cx="5574844" cy="3624982"/>
            <a:chOff x="0" y="0"/>
            <a:chExt cx="5924867" cy="38525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924867" cy="3852581"/>
            </a:xfrm>
            <a:custGeom>
              <a:avLst/>
              <a:gdLst/>
              <a:ahLst/>
              <a:cxnLst/>
              <a:rect l="l" t="t" r="r" b="b"/>
              <a:pathLst>
                <a:path w="5924867" h="3852581">
                  <a:moveTo>
                    <a:pt x="0" y="275252"/>
                  </a:moveTo>
                  <a:cubicBezTo>
                    <a:pt x="0" y="123251"/>
                    <a:pt x="60357" y="0"/>
                    <a:pt x="134792" y="0"/>
                  </a:cubicBezTo>
                  <a:lnTo>
                    <a:pt x="5790074" y="0"/>
                  </a:lnTo>
                  <a:cubicBezTo>
                    <a:pt x="5864511" y="0"/>
                    <a:pt x="5924867" y="123251"/>
                    <a:pt x="5924867" y="275252"/>
                  </a:cubicBezTo>
                  <a:lnTo>
                    <a:pt x="5924867" y="3577329"/>
                  </a:lnTo>
                  <a:cubicBezTo>
                    <a:pt x="5924867" y="3729331"/>
                    <a:pt x="5864511" y="3852581"/>
                    <a:pt x="5790074" y="3852581"/>
                  </a:cubicBezTo>
                  <a:lnTo>
                    <a:pt x="134792" y="3852581"/>
                  </a:lnTo>
                  <a:cubicBezTo>
                    <a:pt x="60357" y="3852581"/>
                    <a:pt x="0" y="3729331"/>
                    <a:pt x="0" y="3577329"/>
                  </a:cubicBezTo>
                  <a:close/>
                </a:path>
              </a:pathLst>
            </a:custGeom>
            <a:solidFill>
              <a:srgbClr val="F4F8FC"/>
            </a:solidFill>
            <a:ln w="20955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902017" y="1804643"/>
            <a:ext cx="4375404" cy="581489"/>
            <a:chOff x="0" y="0"/>
            <a:chExt cx="5833872" cy="7753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833872" cy="775319"/>
            </a:xfrm>
            <a:custGeom>
              <a:avLst/>
              <a:gdLst/>
              <a:ahLst/>
              <a:cxnLst/>
              <a:rect l="l" t="t" r="r" b="b"/>
              <a:pathLst>
                <a:path w="5833872" h="775319">
                  <a:moveTo>
                    <a:pt x="0" y="0"/>
                  </a:moveTo>
                  <a:lnTo>
                    <a:pt x="5833872" y="0"/>
                  </a:lnTo>
                  <a:lnTo>
                    <a:pt x="5833872" y="775319"/>
                  </a:lnTo>
                  <a:lnTo>
                    <a:pt x="0" y="77531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3591" b="-7963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5833872" cy="7753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 b="1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Target Market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02017" y="2358220"/>
            <a:ext cx="5105748" cy="2855188"/>
            <a:chOff x="0" y="0"/>
            <a:chExt cx="6807664" cy="380691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07664" cy="3806917"/>
            </a:xfrm>
            <a:custGeom>
              <a:avLst/>
              <a:gdLst/>
              <a:ahLst/>
              <a:cxnLst/>
              <a:rect l="l" t="t" r="r" b="b"/>
              <a:pathLst>
                <a:path w="6807664" h="3806917">
                  <a:moveTo>
                    <a:pt x="0" y="0"/>
                  </a:moveTo>
                  <a:lnTo>
                    <a:pt x="6807664" y="0"/>
                  </a:lnTo>
                  <a:lnTo>
                    <a:pt x="6807664" y="3806917"/>
                  </a:lnTo>
                  <a:lnTo>
                    <a:pt x="0" y="38069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251" r="14304" b="6053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6807664" cy="38069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29"/>
                </a:lnSpc>
              </a:pPr>
              <a:r>
                <a:rPr lang="en-US" sz="3024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Primary schools, </a:t>
              </a:r>
            </a:p>
            <a:p>
              <a:pPr algn="l">
                <a:lnSpc>
                  <a:spcPts val="3629"/>
                </a:lnSpc>
              </a:pPr>
              <a:r>
                <a:rPr lang="en-US" sz="3024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Special education centers, </a:t>
              </a:r>
            </a:p>
            <a:p>
              <a:pPr algn="l">
                <a:lnSpc>
                  <a:spcPts val="3629"/>
                </a:lnSpc>
              </a:pPr>
              <a:r>
                <a:rPr lang="en-US" sz="3024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Therapy centers, </a:t>
              </a:r>
            </a:p>
            <a:p>
              <a:pPr algn="l">
                <a:lnSpc>
                  <a:spcPts val="3629"/>
                </a:lnSpc>
              </a:pPr>
              <a:r>
                <a:rPr lang="en-US" sz="3024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Parents, </a:t>
              </a:r>
            </a:p>
            <a:p>
              <a:pPr algn="l">
                <a:lnSpc>
                  <a:spcPts val="3629"/>
                </a:lnSpc>
              </a:pPr>
              <a:r>
                <a:rPr lang="en-US" sz="3024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Educational institutions in Sri Lanka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12616" y="1690597"/>
            <a:ext cx="5095958" cy="3452903"/>
            <a:chOff x="0" y="0"/>
            <a:chExt cx="5646412" cy="382587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646412" cy="3825877"/>
            </a:xfrm>
            <a:custGeom>
              <a:avLst/>
              <a:gdLst/>
              <a:ahLst/>
              <a:cxnLst/>
              <a:rect l="l" t="t" r="r" b="b"/>
              <a:pathLst>
                <a:path w="5646412" h="3825877">
                  <a:moveTo>
                    <a:pt x="0" y="273344"/>
                  </a:moveTo>
                  <a:cubicBezTo>
                    <a:pt x="0" y="122396"/>
                    <a:pt x="57520" y="0"/>
                    <a:pt x="128458" y="0"/>
                  </a:cubicBezTo>
                  <a:lnTo>
                    <a:pt x="5517954" y="0"/>
                  </a:lnTo>
                  <a:cubicBezTo>
                    <a:pt x="5588892" y="0"/>
                    <a:pt x="5646412" y="122396"/>
                    <a:pt x="5646412" y="273344"/>
                  </a:cubicBezTo>
                  <a:lnTo>
                    <a:pt x="5646412" y="3552534"/>
                  </a:lnTo>
                  <a:cubicBezTo>
                    <a:pt x="5646412" y="3703481"/>
                    <a:pt x="5588892" y="3825877"/>
                    <a:pt x="5517954" y="3825877"/>
                  </a:cubicBezTo>
                  <a:lnTo>
                    <a:pt x="128458" y="3825877"/>
                  </a:lnTo>
                  <a:cubicBezTo>
                    <a:pt x="57520" y="3825877"/>
                    <a:pt x="0" y="3703481"/>
                    <a:pt x="0" y="3552534"/>
                  </a:cubicBezTo>
                  <a:close/>
                </a:path>
              </a:pathLst>
            </a:custGeom>
            <a:solidFill>
              <a:srgbClr val="EAF7EF"/>
            </a:solidFill>
            <a:ln w="20955" cap="sq">
              <a:solidFill>
                <a:srgbClr val="35A853"/>
              </a:solidFill>
              <a:prstDash val="solid"/>
              <a:miter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7006017" y="1950783"/>
            <a:ext cx="4988041" cy="604242"/>
            <a:chOff x="0" y="0"/>
            <a:chExt cx="5526838" cy="6695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526838" cy="669511"/>
            </a:xfrm>
            <a:custGeom>
              <a:avLst/>
              <a:gdLst/>
              <a:ahLst/>
              <a:cxnLst/>
              <a:rect l="l" t="t" r="r" b="b"/>
              <a:pathLst>
                <a:path w="5526838" h="669511">
                  <a:moveTo>
                    <a:pt x="0" y="0"/>
                  </a:moveTo>
                  <a:lnTo>
                    <a:pt x="5526838" y="0"/>
                  </a:lnTo>
                  <a:lnTo>
                    <a:pt x="5526838" y="669511"/>
                  </a:lnTo>
                  <a:lnTo>
                    <a:pt x="0" y="66951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1543" r="-5555" b="-10802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5526838" cy="6599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35A85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Subscription Model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06017" y="2685001"/>
            <a:ext cx="4247945" cy="1939863"/>
            <a:chOff x="0" y="0"/>
            <a:chExt cx="4706798" cy="214940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706798" cy="2149403"/>
            </a:xfrm>
            <a:custGeom>
              <a:avLst/>
              <a:gdLst/>
              <a:ahLst/>
              <a:cxnLst/>
              <a:rect l="l" t="t" r="r" b="b"/>
              <a:pathLst>
                <a:path w="4706798" h="2149403">
                  <a:moveTo>
                    <a:pt x="0" y="0"/>
                  </a:moveTo>
                  <a:lnTo>
                    <a:pt x="4706798" y="0"/>
                  </a:lnTo>
                  <a:lnTo>
                    <a:pt x="4706798" y="2149403"/>
                  </a:lnTo>
                  <a:lnTo>
                    <a:pt x="0" y="21494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869" r="-23945" b="3009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4706798" cy="21494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Affordable monthly or annual plans for parents, schools, and therapy centers.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406178" y="1690597"/>
            <a:ext cx="5500060" cy="3319345"/>
            <a:chOff x="0" y="0"/>
            <a:chExt cx="5797263" cy="34987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797263" cy="3498710"/>
            </a:xfrm>
            <a:custGeom>
              <a:avLst/>
              <a:gdLst/>
              <a:ahLst/>
              <a:cxnLst/>
              <a:rect l="l" t="t" r="r" b="b"/>
              <a:pathLst>
                <a:path w="5797263" h="3498710">
                  <a:moveTo>
                    <a:pt x="0" y="249969"/>
                  </a:moveTo>
                  <a:cubicBezTo>
                    <a:pt x="0" y="111930"/>
                    <a:pt x="59057" y="0"/>
                    <a:pt x="131889" y="0"/>
                  </a:cubicBezTo>
                  <a:lnTo>
                    <a:pt x="5665374" y="0"/>
                  </a:lnTo>
                  <a:cubicBezTo>
                    <a:pt x="5738206" y="0"/>
                    <a:pt x="5797263" y="111930"/>
                    <a:pt x="5797263" y="249969"/>
                  </a:cubicBezTo>
                  <a:lnTo>
                    <a:pt x="5797263" y="3248741"/>
                  </a:lnTo>
                  <a:cubicBezTo>
                    <a:pt x="5797263" y="3386780"/>
                    <a:pt x="5738206" y="3498710"/>
                    <a:pt x="5665374" y="3498710"/>
                  </a:cubicBezTo>
                  <a:lnTo>
                    <a:pt x="131889" y="3498710"/>
                  </a:lnTo>
                  <a:cubicBezTo>
                    <a:pt x="59057" y="3498710"/>
                    <a:pt x="0" y="3386780"/>
                    <a:pt x="0" y="3248741"/>
                  </a:cubicBezTo>
                  <a:close/>
                </a:path>
              </a:pathLst>
            </a:custGeom>
            <a:solidFill>
              <a:srgbClr val="F7F3E9"/>
            </a:solidFill>
            <a:ln w="20955" cap="sq">
              <a:solidFill>
                <a:srgbClr val="8E846B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695644" y="1879048"/>
            <a:ext cx="4921129" cy="604242"/>
            <a:chOff x="0" y="0"/>
            <a:chExt cx="5187048" cy="63689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87049" cy="636893"/>
            </a:xfrm>
            <a:custGeom>
              <a:avLst/>
              <a:gdLst/>
              <a:ahLst/>
              <a:cxnLst/>
              <a:rect l="l" t="t" r="r" b="b"/>
              <a:pathLst>
                <a:path w="5187049" h="636893">
                  <a:moveTo>
                    <a:pt x="0" y="0"/>
                  </a:moveTo>
                  <a:lnTo>
                    <a:pt x="5187049" y="0"/>
                  </a:lnTo>
                  <a:lnTo>
                    <a:pt x="5187049" y="636893"/>
                  </a:lnTo>
                  <a:lnTo>
                    <a:pt x="0" y="6368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8280" r="-12469" b="-11868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9525"/>
              <a:ext cx="5187048" cy="6273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8E846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Language Expansion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627904" y="2815883"/>
            <a:ext cx="5056607" cy="1939863"/>
            <a:chOff x="0" y="0"/>
            <a:chExt cx="5329848" cy="204468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329848" cy="2044686"/>
            </a:xfrm>
            <a:custGeom>
              <a:avLst/>
              <a:gdLst/>
              <a:ahLst/>
              <a:cxnLst/>
              <a:rect l="l" t="t" r="r" b="b"/>
              <a:pathLst>
                <a:path w="5329848" h="2044686">
                  <a:moveTo>
                    <a:pt x="0" y="0"/>
                  </a:moveTo>
                  <a:lnTo>
                    <a:pt x="5329848" y="0"/>
                  </a:lnTo>
                  <a:lnTo>
                    <a:pt x="5329848" y="2044686"/>
                  </a:lnTo>
                  <a:lnTo>
                    <a:pt x="0" y="204468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706" r="-9456" b="26517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5329848" cy="20446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Future versions can support Tamil, English, and other languages, increasing the potential market.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4" name="Group 34"/>
          <p:cNvGrpSpPr/>
          <p:nvPr/>
        </p:nvGrpSpPr>
        <p:grpSpPr>
          <a:xfrm>
            <a:off x="15295636" y="9795365"/>
            <a:ext cx="1896980" cy="379766"/>
            <a:chOff x="0" y="0"/>
            <a:chExt cx="2716241" cy="54377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716241" cy="543779"/>
            </a:xfrm>
            <a:custGeom>
              <a:avLst/>
              <a:gdLst/>
              <a:ahLst/>
              <a:cxnLst/>
              <a:rect l="l" t="t" r="r" b="b"/>
              <a:pathLst>
                <a:path w="2716241" h="543779">
                  <a:moveTo>
                    <a:pt x="0" y="0"/>
                  </a:moveTo>
                  <a:lnTo>
                    <a:pt x="2716241" y="0"/>
                  </a:lnTo>
                  <a:lnTo>
                    <a:pt x="2716241" y="543779"/>
                  </a:lnTo>
                  <a:lnTo>
                    <a:pt x="0" y="5437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089" r="-216443" b="-234899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2716241" cy="5533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79135" y="5842058"/>
            <a:ext cx="5212080" cy="606093"/>
            <a:chOff x="0" y="0"/>
            <a:chExt cx="6949440" cy="80812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949440" cy="808124"/>
            </a:xfrm>
            <a:custGeom>
              <a:avLst/>
              <a:gdLst/>
              <a:ahLst/>
              <a:cxnLst/>
              <a:rect l="l" t="t" r="r" b="b"/>
              <a:pathLst>
                <a:path w="6949440" h="808124">
                  <a:moveTo>
                    <a:pt x="0" y="0"/>
                  </a:moveTo>
                  <a:lnTo>
                    <a:pt x="6949440" y="0"/>
                  </a:lnTo>
                  <a:lnTo>
                    <a:pt x="6949440" y="808124"/>
                  </a:lnTo>
                  <a:lnTo>
                    <a:pt x="0" y="8081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3615" b="-10150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9525"/>
              <a:ext cx="6949440" cy="7985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99"/>
                </a:lnSpc>
              </a:pPr>
              <a:r>
                <a:rPr lang="en-US" sz="3249" b="1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Benefits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44652" y="6705326"/>
            <a:ext cx="16874871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6327" lvl="1" indent="-328164" algn="l">
              <a:lnSpc>
                <a:spcPts val="3647"/>
              </a:lnSpc>
              <a:buFont typeface="Arial"/>
              <a:buChar char="•"/>
            </a:pPr>
            <a:r>
              <a:rPr lang="en-US" sz="303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Sinhala-based Learning</a:t>
            </a:r>
            <a:r>
              <a:rPr lang="en-US" sz="303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: Activities and voice instructions designed for Sinhala-medium children.</a:t>
            </a:r>
          </a:p>
          <a:p>
            <a:pPr marL="656327" lvl="1" indent="-328164" algn="l">
              <a:lnSpc>
                <a:spcPts val="3647"/>
              </a:lnSpc>
              <a:buFont typeface="Arial"/>
              <a:buChar char="•"/>
            </a:pPr>
            <a:r>
              <a:rPr lang="en-US" sz="303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Engaging Intervention</a:t>
            </a:r>
            <a:r>
              <a:rPr lang="en-US" sz="303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: Game-based activities encourage children to participate continuously.</a:t>
            </a:r>
          </a:p>
          <a:p>
            <a:pPr marL="656327" lvl="1" indent="-328164" algn="l">
              <a:lnSpc>
                <a:spcPts val="3647"/>
              </a:lnSpc>
              <a:buFont typeface="Arial"/>
              <a:buChar char="•"/>
            </a:pPr>
            <a:r>
              <a:rPr lang="en-US" sz="303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Adaptive Learning:</a:t>
            </a:r>
            <a:r>
              <a:rPr lang="en-US" sz="303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 Activities are adjusted according to each child's performance and progress.</a:t>
            </a:r>
          </a:p>
          <a:p>
            <a:pPr marL="656327" lvl="1" indent="-328164" algn="l">
              <a:lnSpc>
                <a:spcPts val="3647"/>
              </a:lnSpc>
              <a:buFont typeface="Arial"/>
              <a:buChar char="•"/>
            </a:pPr>
            <a:r>
              <a:rPr lang="en-US" sz="3039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Accessible Support</a:t>
            </a:r>
            <a:r>
              <a:rPr lang="en-US" sz="3039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: Provides a more accessible digital option for continuous learning support outside specialized centers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710329"/>
            <a:chOff x="0" y="0"/>
            <a:chExt cx="17465040" cy="94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947105"/>
            </a:xfrm>
            <a:custGeom>
              <a:avLst/>
              <a:gdLst/>
              <a:ahLst/>
              <a:cxnLst/>
              <a:rect l="l" t="t" r="r" b="b"/>
              <a:pathLst>
                <a:path w="17465039" h="947105">
                  <a:moveTo>
                    <a:pt x="0" y="0"/>
                  </a:moveTo>
                  <a:lnTo>
                    <a:pt x="17465039" y="0"/>
                  </a:lnTo>
                  <a:lnTo>
                    <a:pt x="17465039" y="947105"/>
                  </a:lnTo>
                  <a:lnTo>
                    <a:pt x="0" y="947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5866" b="-30275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947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Use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34708" y="3656831"/>
            <a:ext cx="205740" cy="511401"/>
            <a:chOff x="0" y="0"/>
            <a:chExt cx="274320" cy="6818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4320" cy="681868"/>
            </a:xfrm>
            <a:custGeom>
              <a:avLst/>
              <a:gdLst/>
              <a:ahLst/>
              <a:cxnLst/>
              <a:rect l="l" t="t" r="r" b="b"/>
              <a:pathLst>
                <a:path w="274320" h="681868">
                  <a:moveTo>
                    <a:pt x="0" y="0"/>
                  </a:moveTo>
                  <a:lnTo>
                    <a:pt x="274320" y="0"/>
                  </a:lnTo>
                  <a:lnTo>
                    <a:pt x="274320" y="681868"/>
                  </a:lnTo>
                  <a:lnTo>
                    <a:pt x="0" y="6818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28" r="-18428" b="78543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274320" cy="6818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99"/>
                </a:lnSpc>
              </a:pPr>
              <a:r>
                <a:rPr lang="en-US" sz="2749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55912" y="1706576"/>
            <a:ext cx="10382141" cy="3510477"/>
            <a:chOff x="0" y="0"/>
            <a:chExt cx="13842855" cy="46806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842854" cy="4680636"/>
            </a:xfrm>
            <a:custGeom>
              <a:avLst/>
              <a:gdLst/>
              <a:ahLst/>
              <a:cxnLst/>
              <a:rect l="l" t="t" r="r" b="b"/>
              <a:pathLst>
                <a:path w="13842854" h="4680636">
                  <a:moveTo>
                    <a:pt x="0" y="0"/>
                  </a:moveTo>
                  <a:lnTo>
                    <a:pt x="13842854" y="0"/>
                  </a:lnTo>
                  <a:lnTo>
                    <a:pt x="13842854" y="4680636"/>
                  </a:lnTo>
                  <a:lnTo>
                    <a:pt x="0" y="46806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571" r="62348" b="7517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3842855" cy="4671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95"/>
                </a:lnSpc>
              </a:pPr>
              <a:r>
                <a:rPr lang="en-US" sz="3329" b="1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Code Support — ChatGPT &amp; Claude</a:t>
              </a:r>
            </a:p>
            <a:p>
              <a:pPr algn="l">
                <a:lnSpc>
                  <a:spcPts val="3995"/>
                </a:lnSpc>
              </a:pPr>
              <a:endParaRPr lang="en-US" sz="3329" b="1">
                <a:solidFill>
                  <a:srgbClr val="244866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  <a:p>
              <a:pPr marL="675762" lvl="1" indent="-337881" algn="l">
                <a:lnSpc>
                  <a:spcPts val="3755"/>
                </a:lnSpc>
                <a:buFont typeface="Arial"/>
                <a:buChar char="•"/>
              </a:pPr>
              <a:r>
                <a:rPr lang="en-US" sz="3129">
                  <a:solidFill>
                    <a:srgbClr val="010100"/>
                  </a:solidFill>
                  <a:latin typeface="Aptos"/>
                  <a:ea typeface="Aptos"/>
                  <a:cs typeface="Aptos"/>
                  <a:sym typeface="Aptos"/>
                </a:rPr>
                <a:t>Supported code development and debugging</a:t>
              </a:r>
            </a:p>
            <a:p>
              <a:pPr marL="675762" lvl="1" indent="-337881" algn="l">
                <a:lnSpc>
                  <a:spcPts val="3755"/>
                </a:lnSpc>
                <a:buFont typeface="Arial"/>
                <a:buChar char="•"/>
              </a:pPr>
              <a:r>
                <a:rPr lang="en-US" sz="3129">
                  <a:solidFill>
                    <a:srgbClr val="010100"/>
                  </a:solidFill>
                  <a:latin typeface="Aptos"/>
                  <a:ea typeface="Aptos"/>
                  <a:cs typeface="Aptos"/>
                  <a:sym typeface="Aptos"/>
                </a:rPr>
                <a:t>Helped identify and resolve implementation errors</a:t>
              </a:r>
            </a:p>
            <a:p>
              <a:pPr marL="675762" lvl="1" indent="-337881" algn="l">
                <a:lnSpc>
                  <a:spcPts val="3755"/>
                </a:lnSpc>
                <a:buFont typeface="Arial"/>
                <a:buChar char="•"/>
              </a:pPr>
              <a:r>
                <a:rPr lang="en-US" sz="3129">
                  <a:solidFill>
                    <a:srgbClr val="010100"/>
                  </a:solidFill>
                  <a:latin typeface="Aptos"/>
                  <a:ea typeface="Aptos"/>
                  <a:cs typeface="Aptos"/>
                  <a:sym typeface="Aptos"/>
                </a:rPr>
                <a:t>Assisted with code optimization and restructuring</a:t>
              </a:r>
            </a:p>
            <a:p>
              <a:pPr marL="675762" lvl="1" indent="-337881" algn="l">
                <a:lnSpc>
                  <a:spcPts val="3755"/>
                </a:lnSpc>
                <a:buFont typeface="Arial"/>
                <a:buChar char="•"/>
              </a:pPr>
              <a:r>
                <a:rPr lang="en-US" sz="3129">
                  <a:solidFill>
                    <a:srgbClr val="010100"/>
                  </a:solidFill>
                  <a:latin typeface="Aptos"/>
                  <a:ea typeface="Aptos"/>
                  <a:cs typeface="Aptos"/>
                  <a:sym typeface="Aptos"/>
                </a:rPr>
                <a:t>Provided guidance for frontend–backend integration</a:t>
              </a:r>
            </a:p>
            <a:p>
              <a:pPr algn="l">
                <a:lnSpc>
                  <a:spcPts val="3755"/>
                </a:lnSpc>
              </a:pPr>
              <a:endParaRPr lang="en-US" sz="3129">
                <a:solidFill>
                  <a:srgbClr val="010100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5295636" y="9795365"/>
            <a:ext cx="1896980" cy="379766"/>
            <a:chOff x="0" y="0"/>
            <a:chExt cx="2716241" cy="5437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16241" cy="543779"/>
            </a:xfrm>
            <a:custGeom>
              <a:avLst/>
              <a:gdLst/>
              <a:ahLst/>
              <a:cxnLst/>
              <a:rect l="l" t="t" r="r" b="b"/>
              <a:pathLst>
                <a:path w="2716241" h="543779">
                  <a:moveTo>
                    <a:pt x="0" y="0"/>
                  </a:moveTo>
                  <a:lnTo>
                    <a:pt x="2716241" y="0"/>
                  </a:lnTo>
                  <a:lnTo>
                    <a:pt x="2716241" y="543779"/>
                  </a:lnTo>
                  <a:lnTo>
                    <a:pt x="0" y="5437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089" r="-216443" b="-234899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2716241" cy="5533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28700" y="5143500"/>
            <a:ext cx="9480189" cy="2081727"/>
            <a:chOff x="0" y="0"/>
            <a:chExt cx="12640251" cy="277563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640251" cy="2775636"/>
            </a:xfrm>
            <a:custGeom>
              <a:avLst/>
              <a:gdLst/>
              <a:ahLst/>
              <a:cxnLst/>
              <a:rect l="l" t="t" r="r" b="b"/>
              <a:pathLst>
                <a:path w="12640251" h="2775636">
                  <a:moveTo>
                    <a:pt x="0" y="0"/>
                  </a:moveTo>
                  <a:lnTo>
                    <a:pt x="12640251" y="0"/>
                  </a:lnTo>
                  <a:lnTo>
                    <a:pt x="12640251" y="2775636"/>
                  </a:lnTo>
                  <a:lnTo>
                    <a:pt x="0" y="27756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317" r="58766" b="5814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9525"/>
              <a:ext cx="12640251" cy="2766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95"/>
                </a:lnSpc>
              </a:pPr>
              <a:r>
                <a:rPr lang="en-US" sz="3329" b="1">
                  <a:solidFill>
                    <a:srgbClr val="24486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Introduction Video — google flow</a:t>
              </a:r>
            </a:p>
            <a:p>
              <a:pPr algn="l">
                <a:lnSpc>
                  <a:spcPts val="3995"/>
                </a:lnSpc>
              </a:pPr>
              <a:endParaRPr lang="en-US" sz="3329" b="1">
                <a:solidFill>
                  <a:srgbClr val="244866"/>
                </a:solidFill>
                <a:latin typeface="Aptos Bold"/>
                <a:ea typeface="Aptos Bold"/>
                <a:cs typeface="Aptos Bold"/>
                <a:sym typeface="Aptos Bold"/>
              </a:endParaRPr>
            </a:p>
            <a:p>
              <a:pPr marL="675762" lvl="1" indent="-337881" algn="l">
                <a:lnSpc>
                  <a:spcPts val="3755"/>
                </a:lnSpc>
                <a:buFont typeface="Arial"/>
                <a:buChar char="•"/>
              </a:pPr>
              <a:r>
                <a:rPr lang="en-US" sz="3129">
                  <a:solidFill>
                    <a:srgbClr val="010100"/>
                  </a:solidFill>
                  <a:latin typeface="Aptos"/>
                  <a:ea typeface="Aptos"/>
                  <a:cs typeface="Aptos"/>
                  <a:sym typeface="Aptos"/>
                </a:rPr>
                <a:t>Used AI tools to support video content creation</a:t>
              </a:r>
            </a:p>
            <a:p>
              <a:pPr algn="l">
                <a:lnSpc>
                  <a:spcPts val="3755"/>
                </a:lnSpc>
              </a:pPr>
              <a:endParaRPr lang="en-US" sz="3129">
                <a:solidFill>
                  <a:srgbClr val="010100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6593" cy="1143762"/>
            <a:chOff x="0" y="0"/>
            <a:chExt cx="24408790" cy="15250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8764" cy="1525016"/>
            </a:xfrm>
            <a:custGeom>
              <a:avLst/>
              <a:gdLst/>
              <a:ahLst/>
              <a:cxnLst/>
              <a:rect l="l" t="t" r="r" b="b"/>
              <a:pathLst>
                <a:path w="24408764" h="1525016">
                  <a:moveTo>
                    <a:pt x="0" y="0"/>
                  </a:moveTo>
                  <a:lnTo>
                    <a:pt x="24408764" y="0"/>
                  </a:lnTo>
                  <a:lnTo>
                    <a:pt x="24408764" y="1525016"/>
                  </a:lnTo>
                  <a:lnTo>
                    <a:pt x="0" y="1525016"/>
                  </a:lnTo>
                  <a:close/>
                </a:path>
              </a:pathLst>
            </a:custGeom>
            <a:solidFill>
              <a:srgbClr val="244866"/>
            </a:solidFill>
            <a:ln w="19050" cap="sq">
              <a:solidFill>
                <a:srgbClr val="244866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44652" y="246888"/>
            <a:ext cx="13098780" cy="710329"/>
            <a:chOff x="0" y="0"/>
            <a:chExt cx="17465040" cy="94710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65039" cy="947105"/>
            </a:xfrm>
            <a:custGeom>
              <a:avLst/>
              <a:gdLst/>
              <a:ahLst/>
              <a:cxnLst/>
              <a:rect l="l" t="t" r="r" b="b"/>
              <a:pathLst>
                <a:path w="17465039" h="947105">
                  <a:moveTo>
                    <a:pt x="0" y="0"/>
                  </a:moveTo>
                  <a:lnTo>
                    <a:pt x="17465039" y="0"/>
                  </a:lnTo>
                  <a:lnTo>
                    <a:pt x="17465039" y="947105"/>
                  </a:lnTo>
                  <a:lnTo>
                    <a:pt x="0" y="94710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5866" b="-30275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7465040" cy="947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Demo Roadmap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519523" y="-9525"/>
            <a:ext cx="773430" cy="1143762"/>
            <a:chOff x="0" y="0"/>
            <a:chExt cx="1031240" cy="152501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1240" cy="1525016"/>
            </a:xfrm>
            <a:custGeom>
              <a:avLst/>
              <a:gdLst/>
              <a:ahLst/>
              <a:cxnLst/>
              <a:rect l="l" t="t" r="r" b="b"/>
              <a:pathLst>
                <a:path w="1031240" h="1525016">
                  <a:moveTo>
                    <a:pt x="0" y="0"/>
                  </a:moveTo>
                  <a:lnTo>
                    <a:pt x="515620" y="0"/>
                  </a:lnTo>
                  <a:lnTo>
                    <a:pt x="1031240" y="762508"/>
                  </a:lnTo>
                  <a:lnTo>
                    <a:pt x="515620" y="1525016"/>
                  </a:lnTo>
                  <a:lnTo>
                    <a:pt x="0" y="1525016"/>
                  </a:lnTo>
                  <a:lnTo>
                    <a:pt x="515620" y="762508"/>
                  </a:lnTo>
                  <a:close/>
                </a:path>
              </a:pathLst>
            </a:custGeom>
            <a:solidFill>
              <a:srgbClr val="C8BBA0"/>
            </a:solidFill>
            <a:ln w="19050" cap="sq">
              <a:solidFill>
                <a:srgbClr val="C8BBA0"/>
              </a:solidFill>
              <a:prstDash val="solid"/>
              <a:miter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207355" y="3621637"/>
            <a:ext cx="7570174" cy="1037711"/>
            <a:chOff x="0" y="0"/>
            <a:chExt cx="1993791" cy="2733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93791" cy="273307"/>
            </a:xfrm>
            <a:custGeom>
              <a:avLst/>
              <a:gdLst/>
              <a:ahLst/>
              <a:cxnLst/>
              <a:rect l="l" t="t" r="r" b="b"/>
              <a:pathLst>
                <a:path w="1993791" h="273307">
                  <a:moveTo>
                    <a:pt x="17386" y="0"/>
                  </a:moveTo>
                  <a:lnTo>
                    <a:pt x="1976405" y="0"/>
                  </a:lnTo>
                  <a:cubicBezTo>
                    <a:pt x="1986007" y="0"/>
                    <a:pt x="1993791" y="7784"/>
                    <a:pt x="1993791" y="17386"/>
                  </a:cubicBezTo>
                  <a:lnTo>
                    <a:pt x="1993791" y="255921"/>
                  </a:lnTo>
                  <a:cubicBezTo>
                    <a:pt x="1993791" y="265523"/>
                    <a:pt x="1986007" y="273307"/>
                    <a:pt x="1976405" y="273307"/>
                  </a:cubicBezTo>
                  <a:lnTo>
                    <a:pt x="17386" y="273307"/>
                  </a:lnTo>
                  <a:cubicBezTo>
                    <a:pt x="7784" y="273307"/>
                    <a:pt x="0" y="265523"/>
                    <a:pt x="0" y="255921"/>
                  </a:cubicBezTo>
                  <a:lnTo>
                    <a:pt x="0" y="17386"/>
                  </a:lnTo>
                  <a:cubicBezTo>
                    <a:pt x="0" y="7784"/>
                    <a:pt x="7784" y="0"/>
                    <a:pt x="17386" y="0"/>
                  </a:cubicBezTo>
                  <a:close/>
                </a:path>
              </a:pathLst>
            </a:custGeom>
            <a:solidFill>
              <a:srgbClr val="D4DCE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1993791" cy="282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99948" y="2060051"/>
            <a:ext cx="7577580" cy="1037711"/>
            <a:chOff x="0" y="0"/>
            <a:chExt cx="1995741" cy="2733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95741" cy="273307"/>
            </a:xfrm>
            <a:custGeom>
              <a:avLst/>
              <a:gdLst/>
              <a:ahLst/>
              <a:cxnLst/>
              <a:rect l="l" t="t" r="r" b="b"/>
              <a:pathLst>
                <a:path w="1995741" h="273307">
                  <a:moveTo>
                    <a:pt x="17369" y="0"/>
                  </a:moveTo>
                  <a:lnTo>
                    <a:pt x="1978373" y="0"/>
                  </a:lnTo>
                  <a:cubicBezTo>
                    <a:pt x="1987965" y="0"/>
                    <a:pt x="1995741" y="7776"/>
                    <a:pt x="1995741" y="17369"/>
                  </a:cubicBezTo>
                  <a:lnTo>
                    <a:pt x="1995741" y="255938"/>
                  </a:lnTo>
                  <a:cubicBezTo>
                    <a:pt x="1995741" y="260544"/>
                    <a:pt x="1993911" y="264962"/>
                    <a:pt x="1990654" y="268219"/>
                  </a:cubicBezTo>
                  <a:cubicBezTo>
                    <a:pt x="1987397" y="271477"/>
                    <a:pt x="1982979" y="273307"/>
                    <a:pt x="1978373" y="273307"/>
                  </a:cubicBezTo>
                  <a:lnTo>
                    <a:pt x="17369" y="273307"/>
                  </a:lnTo>
                  <a:cubicBezTo>
                    <a:pt x="12762" y="273307"/>
                    <a:pt x="8344" y="271477"/>
                    <a:pt x="5087" y="268219"/>
                  </a:cubicBezTo>
                  <a:cubicBezTo>
                    <a:pt x="1830" y="264962"/>
                    <a:pt x="0" y="260544"/>
                    <a:pt x="0" y="255938"/>
                  </a:cubicBezTo>
                  <a:lnTo>
                    <a:pt x="0" y="17369"/>
                  </a:lnTo>
                  <a:cubicBezTo>
                    <a:pt x="0" y="12762"/>
                    <a:pt x="1830" y="8344"/>
                    <a:pt x="5087" y="5087"/>
                  </a:cubicBezTo>
                  <a:cubicBezTo>
                    <a:pt x="8344" y="1830"/>
                    <a:pt x="12762" y="0"/>
                    <a:pt x="17369" y="0"/>
                  </a:cubicBezTo>
                  <a:close/>
                </a:path>
              </a:pathLst>
            </a:custGeom>
            <a:solidFill>
              <a:srgbClr val="D4DCE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995741" cy="282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947749" y="2159510"/>
            <a:ext cx="4543581" cy="838794"/>
            <a:chOff x="0" y="0"/>
            <a:chExt cx="6058107" cy="11183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058107" cy="1118392"/>
            </a:xfrm>
            <a:custGeom>
              <a:avLst/>
              <a:gdLst/>
              <a:ahLst/>
              <a:cxnLst/>
              <a:rect l="l" t="t" r="r" b="b"/>
              <a:pathLst>
                <a:path w="6058107" h="1118392">
                  <a:moveTo>
                    <a:pt x="0" y="0"/>
                  </a:moveTo>
                  <a:lnTo>
                    <a:pt x="6058107" y="0"/>
                  </a:lnTo>
                  <a:lnTo>
                    <a:pt x="6058107" y="1118392"/>
                  </a:lnTo>
                  <a:lnTo>
                    <a:pt x="0" y="11183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725" r="13965" b="-3888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6058107" cy="11183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35"/>
                </a:lnSpc>
              </a:pPr>
              <a:r>
                <a:rPr lang="en-US" sz="402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Login / child profile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820433" y="3761116"/>
            <a:ext cx="6122801" cy="758754"/>
            <a:chOff x="0" y="0"/>
            <a:chExt cx="8163735" cy="10116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63734" cy="1011672"/>
            </a:xfrm>
            <a:custGeom>
              <a:avLst/>
              <a:gdLst/>
              <a:ahLst/>
              <a:cxnLst/>
              <a:rect l="l" t="t" r="r" b="b"/>
              <a:pathLst>
                <a:path w="8163734" h="1011672">
                  <a:moveTo>
                    <a:pt x="0" y="0"/>
                  </a:moveTo>
                  <a:lnTo>
                    <a:pt x="8163734" y="0"/>
                  </a:lnTo>
                  <a:lnTo>
                    <a:pt x="8163734" y="1011672"/>
                  </a:lnTo>
                  <a:lnTo>
                    <a:pt x="0" y="1011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924" r="36155" b="-1484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8163735" cy="1011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35"/>
                </a:lnSpc>
              </a:pPr>
              <a:r>
                <a:rPr lang="en-US" sz="402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Select one module activity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07355" y="5145123"/>
            <a:ext cx="7650562" cy="1037711"/>
            <a:chOff x="0" y="0"/>
            <a:chExt cx="2014963" cy="2733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14963" cy="273307"/>
            </a:xfrm>
            <a:custGeom>
              <a:avLst/>
              <a:gdLst/>
              <a:ahLst/>
              <a:cxnLst/>
              <a:rect l="l" t="t" r="r" b="b"/>
              <a:pathLst>
                <a:path w="2014963" h="273307">
                  <a:moveTo>
                    <a:pt x="17203" y="0"/>
                  </a:moveTo>
                  <a:lnTo>
                    <a:pt x="1997760" y="0"/>
                  </a:lnTo>
                  <a:cubicBezTo>
                    <a:pt x="2002322" y="0"/>
                    <a:pt x="2006698" y="1812"/>
                    <a:pt x="2009924" y="5039"/>
                  </a:cubicBezTo>
                  <a:cubicBezTo>
                    <a:pt x="2013150" y="8265"/>
                    <a:pt x="2014963" y="12640"/>
                    <a:pt x="2014963" y="17203"/>
                  </a:cubicBezTo>
                  <a:lnTo>
                    <a:pt x="2014963" y="256104"/>
                  </a:lnTo>
                  <a:cubicBezTo>
                    <a:pt x="2014963" y="260666"/>
                    <a:pt x="2013150" y="265042"/>
                    <a:pt x="2009924" y="268268"/>
                  </a:cubicBezTo>
                  <a:cubicBezTo>
                    <a:pt x="2006698" y="271494"/>
                    <a:pt x="2002322" y="273307"/>
                    <a:pt x="1997760" y="273307"/>
                  </a:cubicBezTo>
                  <a:lnTo>
                    <a:pt x="17203" y="273307"/>
                  </a:lnTo>
                  <a:cubicBezTo>
                    <a:pt x="12640" y="273307"/>
                    <a:pt x="8265" y="271494"/>
                    <a:pt x="5039" y="268268"/>
                  </a:cubicBezTo>
                  <a:cubicBezTo>
                    <a:pt x="1812" y="265042"/>
                    <a:pt x="0" y="260666"/>
                    <a:pt x="0" y="256104"/>
                  </a:cubicBezTo>
                  <a:lnTo>
                    <a:pt x="0" y="17203"/>
                  </a:lnTo>
                  <a:cubicBezTo>
                    <a:pt x="0" y="12640"/>
                    <a:pt x="1812" y="8265"/>
                    <a:pt x="5039" y="5039"/>
                  </a:cubicBezTo>
                  <a:cubicBezTo>
                    <a:pt x="8265" y="1812"/>
                    <a:pt x="12640" y="0"/>
                    <a:pt x="17203" y="0"/>
                  </a:cubicBezTo>
                  <a:close/>
                </a:path>
              </a:pathLst>
            </a:custGeom>
            <a:solidFill>
              <a:srgbClr val="D4DCE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2014963" cy="282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9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41335" y="5279103"/>
            <a:ext cx="7436194" cy="758754"/>
            <a:chOff x="0" y="0"/>
            <a:chExt cx="9914925" cy="10116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914924" cy="1011672"/>
            </a:xfrm>
            <a:custGeom>
              <a:avLst/>
              <a:gdLst/>
              <a:ahLst/>
              <a:cxnLst/>
              <a:rect l="l" t="t" r="r" b="b"/>
              <a:pathLst>
                <a:path w="9914924" h="1011672">
                  <a:moveTo>
                    <a:pt x="0" y="0"/>
                  </a:moveTo>
                  <a:lnTo>
                    <a:pt x="9914924" y="0"/>
                  </a:lnTo>
                  <a:lnTo>
                    <a:pt x="9914924" y="1011672"/>
                  </a:lnTo>
                  <a:lnTo>
                    <a:pt x="0" y="1011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924" r="47431" b="-14847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9914925" cy="1011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35"/>
                </a:lnSpc>
              </a:pPr>
              <a:r>
                <a:rPr lang="en-US" sz="402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Show voice guidance + gameplay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207355" y="6668609"/>
            <a:ext cx="7570174" cy="1037711"/>
            <a:chOff x="0" y="0"/>
            <a:chExt cx="1993791" cy="27330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93791" cy="273307"/>
            </a:xfrm>
            <a:custGeom>
              <a:avLst/>
              <a:gdLst/>
              <a:ahLst/>
              <a:cxnLst/>
              <a:rect l="l" t="t" r="r" b="b"/>
              <a:pathLst>
                <a:path w="1993791" h="273307">
                  <a:moveTo>
                    <a:pt x="17386" y="0"/>
                  </a:moveTo>
                  <a:lnTo>
                    <a:pt x="1976405" y="0"/>
                  </a:lnTo>
                  <a:cubicBezTo>
                    <a:pt x="1986007" y="0"/>
                    <a:pt x="1993791" y="7784"/>
                    <a:pt x="1993791" y="17386"/>
                  </a:cubicBezTo>
                  <a:lnTo>
                    <a:pt x="1993791" y="255921"/>
                  </a:lnTo>
                  <a:cubicBezTo>
                    <a:pt x="1993791" y="265523"/>
                    <a:pt x="1986007" y="273307"/>
                    <a:pt x="1976405" y="273307"/>
                  </a:cubicBezTo>
                  <a:lnTo>
                    <a:pt x="17386" y="273307"/>
                  </a:lnTo>
                  <a:cubicBezTo>
                    <a:pt x="7784" y="273307"/>
                    <a:pt x="0" y="265523"/>
                    <a:pt x="0" y="255921"/>
                  </a:cubicBezTo>
                  <a:lnTo>
                    <a:pt x="0" y="17386"/>
                  </a:lnTo>
                  <a:cubicBezTo>
                    <a:pt x="0" y="7784"/>
                    <a:pt x="7784" y="0"/>
                    <a:pt x="17386" y="0"/>
                  </a:cubicBezTo>
                  <a:close/>
                </a:path>
              </a:pathLst>
            </a:custGeom>
            <a:solidFill>
              <a:srgbClr val="D4DCE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993791" cy="282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121612" y="6849326"/>
            <a:ext cx="5985666" cy="758754"/>
            <a:chOff x="0" y="0"/>
            <a:chExt cx="7980888" cy="101167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980888" cy="1011672"/>
            </a:xfrm>
            <a:custGeom>
              <a:avLst/>
              <a:gdLst/>
              <a:ahLst/>
              <a:cxnLst/>
              <a:rect l="l" t="t" r="r" b="b"/>
              <a:pathLst>
                <a:path w="7980888" h="1011672">
                  <a:moveTo>
                    <a:pt x="0" y="0"/>
                  </a:moveTo>
                  <a:lnTo>
                    <a:pt x="7980888" y="0"/>
                  </a:lnTo>
                  <a:lnTo>
                    <a:pt x="7980888" y="1011672"/>
                  </a:lnTo>
                  <a:lnTo>
                    <a:pt x="0" y="1011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924" r="34692" b="-14847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7980888" cy="1011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35"/>
                </a:lnSpc>
              </a:pPr>
              <a:r>
                <a:rPr lang="en-US" sz="402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Complete task and reward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41335" y="8089758"/>
            <a:ext cx="7436194" cy="1037711"/>
            <a:chOff x="0" y="0"/>
            <a:chExt cx="1958504" cy="27330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58504" cy="273307"/>
            </a:xfrm>
            <a:custGeom>
              <a:avLst/>
              <a:gdLst/>
              <a:ahLst/>
              <a:cxnLst/>
              <a:rect l="l" t="t" r="r" b="b"/>
              <a:pathLst>
                <a:path w="1958504" h="273307">
                  <a:moveTo>
                    <a:pt x="17699" y="0"/>
                  </a:moveTo>
                  <a:lnTo>
                    <a:pt x="1940805" y="0"/>
                  </a:lnTo>
                  <a:cubicBezTo>
                    <a:pt x="1945499" y="0"/>
                    <a:pt x="1950001" y="1865"/>
                    <a:pt x="1953320" y="5184"/>
                  </a:cubicBezTo>
                  <a:cubicBezTo>
                    <a:pt x="1956639" y="8503"/>
                    <a:pt x="1958504" y="13005"/>
                    <a:pt x="1958504" y="17699"/>
                  </a:cubicBezTo>
                  <a:lnTo>
                    <a:pt x="1958504" y="255608"/>
                  </a:lnTo>
                  <a:cubicBezTo>
                    <a:pt x="1958504" y="260302"/>
                    <a:pt x="1956639" y="264803"/>
                    <a:pt x="1953320" y="268123"/>
                  </a:cubicBezTo>
                  <a:cubicBezTo>
                    <a:pt x="1950001" y="271442"/>
                    <a:pt x="1945499" y="273307"/>
                    <a:pt x="1940805" y="273307"/>
                  </a:cubicBezTo>
                  <a:lnTo>
                    <a:pt x="17699" y="273307"/>
                  </a:lnTo>
                  <a:cubicBezTo>
                    <a:pt x="7924" y="273307"/>
                    <a:pt x="0" y="265382"/>
                    <a:pt x="0" y="255608"/>
                  </a:cubicBezTo>
                  <a:lnTo>
                    <a:pt x="0" y="17699"/>
                  </a:lnTo>
                  <a:cubicBezTo>
                    <a:pt x="0" y="13005"/>
                    <a:pt x="1865" y="8503"/>
                    <a:pt x="5184" y="5184"/>
                  </a:cubicBezTo>
                  <a:cubicBezTo>
                    <a:pt x="8503" y="1865"/>
                    <a:pt x="13005" y="0"/>
                    <a:pt x="17699" y="0"/>
                  </a:cubicBezTo>
                  <a:close/>
                </a:path>
              </a:pathLst>
            </a:custGeom>
            <a:solidFill>
              <a:srgbClr val="D4DCE6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958504" cy="282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108370" y="8229236"/>
            <a:ext cx="5985666" cy="758754"/>
            <a:chOff x="0" y="0"/>
            <a:chExt cx="7980888" cy="10116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7980888" cy="1011672"/>
            </a:xfrm>
            <a:custGeom>
              <a:avLst/>
              <a:gdLst/>
              <a:ahLst/>
              <a:cxnLst/>
              <a:rect l="l" t="t" r="r" b="b"/>
              <a:pathLst>
                <a:path w="7980888" h="1011672">
                  <a:moveTo>
                    <a:pt x="0" y="0"/>
                  </a:moveTo>
                  <a:lnTo>
                    <a:pt x="7980888" y="0"/>
                  </a:lnTo>
                  <a:lnTo>
                    <a:pt x="7980888" y="1011672"/>
                  </a:lnTo>
                  <a:lnTo>
                    <a:pt x="0" y="10116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5924" r="34692" b="-14847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7980888" cy="10116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35"/>
                </a:lnSpc>
              </a:pPr>
              <a:r>
                <a:rPr lang="en-US" sz="4029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rPr>
                <a:t>Open progress dashboard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 rot="2700">
            <a:off x="679132" y="9733598"/>
            <a:ext cx="16815445" cy="0"/>
          </a:xfrm>
          <a:prstGeom prst="line">
            <a:avLst/>
          </a:prstGeom>
          <a:ln w="9525" cap="rnd">
            <a:solidFill>
              <a:srgbClr val="C9D2D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0" name="Group 40"/>
          <p:cNvGrpSpPr/>
          <p:nvPr/>
        </p:nvGrpSpPr>
        <p:grpSpPr>
          <a:xfrm>
            <a:off x="15295636" y="9795365"/>
            <a:ext cx="1896980" cy="379766"/>
            <a:chOff x="0" y="0"/>
            <a:chExt cx="2716241" cy="54377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716241" cy="543779"/>
            </a:xfrm>
            <a:custGeom>
              <a:avLst/>
              <a:gdLst/>
              <a:ahLst/>
              <a:cxnLst/>
              <a:rect l="l" t="t" r="r" b="b"/>
              <a:pathLst>
                <a:path w="2716241" h="543779">
                  <a:moveTo>
                    <a:pt x="0" y="0"/>
                  </a:moveTo>
                  <a:lnTo>
                    <a:pt x="2716241" y="0"/>
                  </a:lnTo>
                  <a:lnTo>
                    <a:pt x="2716241" y="543779"/>
                  </a:lnTo>
                  <a:lnTo>
                    <a:pt x="0" y="54377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81089" r="-216443" b="-234899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2716241" cy="5533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29"/>
                </a:lnSpc>
              </a:pPr>
              <a:r>
                <a:rPr lang="en-US" sz="2024" b="1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R26-IT-114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590570" y="3097762"/>
            <a:ext cx="523875" cy="523875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44866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203200" y="-9525"/>
              <a:ext cx="406400" cy="720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619896" y="4659348"/>
            <a:ext cx="523875" cy="523875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44866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203200" y="-9525"/>
              <a:ext cx="406400" cy="720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590570" y="6144734"/>
            <a:ext cx="523875" cy="523875"/>
            <a:chOff x="0" y="0"/>
            <a:chExt cx="812800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44866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203200" y="-9525"/>
              <a:ext cx="406400" cy="720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590570" y="7706320"/>
            <a:ext cx="523875" cy="425635"/>
            <a:chOff x="0" y="0"/>
            <a:chExt cx="812800" cy="660379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660379"/>
            </a:xfrm>
            <a:custGeom>
              <a:avLst/>
              <a:gdLst/>
              <a:ahLst/>
              <a:cxnLst/>
              <a:rect l="l" t="t" r="r" b="b"/>
              <a:pathLst>
                <a:path w="812800" h="660379">
                  <a:moveTo>
                    <a:pt x="406400" y="660379"/>
                  </a:moveTo>
                  <a:lnTo>
                    <a:pt x="0" y="253979"/>
                  </a:lnTo>
                  <a:lnTo>
                    <a:pt x="203200" y="253979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253979"/>
                  </a:lnTo>
                  <a:lnTo>
                    <a:pt x="812800" y="253979"/>
                  </a:lnTo>
                  <a:lnTo>
                    <a:pt x="406400" y="660379"/>
                  </a:lnTo>
                  <a:close/>
                </a:path>
              </a:pathLst>
            </a:custGeom>
            <a:solidFill>
              <a:srgbClr val="244866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203200" y="-9525"/>
              <a:ext cx="406400" cy="5683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8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7995" y="3912603"/>
            <a:ext cx="9856281" cy="1415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69"/>
              </a:lnSpc>
            </a:pPr>
            <a:r>
              <a:rPr lang="en-US" sz="9699" b="1">
                <a:solidFill>
                  <a:srgbClr val="FFFFFF"/>
                </a:solidFill>
                <a:latin typeface="Helios Bold"/>
                <a:ea typeface="Helios Bold"/>
                <a:cs typeface="Helios Bold"/>
                <a:sym typeface="Helios Bold"/>
              </a:rPr>
              <a:t>THANK YOU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806073" y="-1558141"/>
            <a:ext cx="13403282" cy="1340328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4834" y="14834"/>
              <a:ext cx="783132" cy="783132"/>
            </a:xfrm>
            <a:custGeom>
              <a:avLst/>
              <a:gdLst/>
              <a:ahLst/>
              <a:cxnLst/>
              <a:rect l="l" t="t" r="r" b="b"/>
              <a:pathLst>
                <a:path w="783132" h="783132">
                  <a:moveTo>
                    <a:pt x="416889" y="10489"/>
                  </a:moveTo>
                  <a:lnTo>
                    <a:pt x="772643" y="366243"/>
                  </a:lnTo>
                  <a:cubicBezTo>
                    <a:pt x="779359" y="372959"/>
                    <a:pt x="783132" y="382068"/>
                    <a:pt x="783132" y="391566"/>
                  </a:cubicBezTo>
                  <a:cubicBezTo>
                    <a:pt x="783132" y="401064"/>
                    <a:pt x="779359" y="410173"/>
                    <a:pt x="772643" y="416889"/>
                  </a:cubicBezTo>
                  <a:lnTo>
                    <a:pt x="416889" y="772643"/>
                  </a:lnTo>
                  <a:cubicBezTo>
                    <a:pt x="410173" y="779359"/>
                    <a:pt x="401064" y="783132"/>
                    <a:pt x="391566" y="783132"/>
                  </a:cubicBezTo>
                  <a:cubicBezTo>
                    <a:pt x="382068" y="783132"/>
                    <a:pt x="372959" y="779359"/>
                    <a:pt x="366243" y="772643"/>
                  </a:cubicBezTo>
                  <a:lnTo>
                    <a:pt x="10489" y="416889"/>
                  </a:lnTo>
                  <a:cubicBezTo>
                    <a:pt x="3773" y="410173"/>
                    <a:pt x="0" y="401064"/>
                    <a:pt x="0" y="391566"/>
                  </a:cubicBezTo>
                  <a:cubicBezTo>
                    <a:pt x="0" y="382068"/>
                    <a:pt x="3773" y="372959"/>
                    <a:pt x="10489" y="366243"/>
                  </a:cubicBezTo>
                  <a:lnTo>
                    <a:pt x="366243" y="10489"/>
                  </a:lnTo>
                  <a:cubicBezTo>
                    <a:pt x="372959" y="3773"/>
                    <a:pt x="382068" y="0"/>
                    <a:pt x="391566" y="0"/>
                  </a:cubicBezTo>
                  <a:cubicBezTo>
                    <a:pt x="401064" y="0"/>
                    <a:pt x="410173" y="3773"/>
                    <a:pt x="416889" y="10489"/>
                  </a:cubicBezTo>
                  <a:close/>
                </a:path>
              </a:pathLst>
            </a:custGeom>
            <a:blipFill>
              <a:blip r:embed="rId2"/>
              <a:stretch>
                <a:fillRect l="-22082" t="-3974" r="-36719" b="-1894"/>
              </a:stretch>
            </a:blipFill>
            <a:ln w="419100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1DECD5E-E059-4973-8708-622AB907B335}"/>
</file>

<file path=customXml/itemProps2.xml><?xml version="1.0" encoding="utf-8"?>
<ds:datastoreItem xmlns:ds="http://schemas.openxmlformats.org/officeDocument/2006/customXml" ds:itemID="{BB089320-D095-4465-B9FD-FCEADAA88F9A}"/>
</file>

<file path=customXml/itemProps3.xml><?xml version="1.0" encoding="utf-8"?>
<ds:datastoreItem xmlns:ds="http://schemas.openxmlformats.org/officeDocument/2006/customXml" ds:itemID="{13950B5E-D765-4FF2-9C77-4A5D0E044071}"/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881</Words>
  <Application>Microsoft Office PowerPoint</Application>
  <PresentationFormat>Custom</PresentationFormat>
  <Paragraphs>167</Paragraphs>
  <Slides>16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Helios Bold</vt:lpstr>
      <vt:lpstr>Arial</vt:lpstr>
      <vt:lpstr>Aptos Bold</vt:lpstr>
      <vt:lpstr>Calibri</vt:lpstr>
      <vt:lpstr>Canva Sans</vt:lpstr>
      <vt:lpstr>Aptos</vt:lpstr>
      <vt:lpstr>Helios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Playful Family Care Logo</dc:title>
  <dc:creator>Dilshani</dc:creator>
  <cp:lastModifiedBy>SENAVIRATHNA  B.W.J.D it22128836</cp:lastModifiedBy>
  <cp:revision>4</cp:revision>
  <dcterms:created xsi:type="dcterms:W3CDTF">2006-08-16T00:00:00Z</dcterms:created>
  <dcterms:modified xsi:type="dcterms:W3CDTF">2026-08-30T20:17:05Z</dcterms:modified>
  <dc:identifier>DAHS_JB1vP8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