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Canva Sans Bold" panose="020B0604020202020204" charset="0"/>
      <p:regular r:id="rId34"/>
      <p:bold r:id="rId35"/>
    </p:embeddedFont>
    <p:embeddedFont>
      <p:font typeface="Gram Bold" panose="020B0604020202020204" charset="0"/>
      <p:regular r:id="rId36"/>
      <p:bold r:id="rId37"/>
    </p:embeddedFont>
    <p:embeddedFont>
      <p:font typeface="Helios" panose="020B0604020202020204" charset="0"/>
      <p:regular r:id="rId38"/>
    </p:embeddedFont>
    <p:embeddedFont>
      <p:font typeface="Helios Bold" panose="020B0604020202020204" charset="0"/>
      <p:regular r:id="rId39"/>
      <p:bold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38" d="100"/>
          <a:sy n="38" d="100"/>
        </p:scale>
        <p:origin x="1152" y="9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BCF58-CCAE-4B54-95DB-E03768CF1B5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3EF5A-E1B2-4721-875D-7D9894EC1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1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3EF5A-E1B2-4721-875D-7D9894EC14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24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3EF5A-E1B2-4721-875D-7D9894EC14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7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jpe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16.sv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35.png"/><Relationship Id="rId5" Type="http://schemas.openxmlformats.org/officeDocument/2006/relationships/image" Target="../media/image39.jpeg"/><Relationship Id="rId10" Type="http://schemas.openxmlformats.org/officeDocument/2006/relationships/image" Target="../media/image34.pn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38.jpe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8.png"/><Relationship Id="rId5" Type="http://schemas.openxmlformats.org/officeDocument/2006/relationships/image" Target="../media/image35.png"/><Relationship Id="rId10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hatgpt.com/g/g-p-69ae875e9da88191a478b05aa137d5f9/c/69b2c06e-cbe4-83aa-b81e-cac7c3c0f622#:~:text=SUPPORT%20AND%20IMPROVEMENT%20OF%20NUMERACY%20SKILLS%20IN%20CHILDREN%20WITH%20DYSCALCULIA,-System" TargetMode="Externa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9.jpeg"/><Relationship Id="rId12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11" Type="http://schemas.openxmlformats.org/officeDocument/2006/relationships/image" Target="../media/image52.png"/><Relationship Id="rId5" Type="http://schemas.openxmlformats.org/officeDocument/2006/relationships/image" Target="../media/image37.png"/><Relationship Id="rId10" Type="http://schemas.openxmlformats.org/officeDocument/2006/relationships/image" Target="../media/image51.png"/><Relationship Id="rId4" Type="http://schemas.openxmlformats.org/officeDocument/2006/relationships/image" Target="../media/image35.png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jpe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57.jpeg"/><Relationship Id="rId5" Type="http://schemas.openxmlformats.org/officeDocument/2006/relationships/image" Target="../media/image39.jpeg"/><Relationship Id="rId10" Type="http://schemas.openxmlformats.org/officeDocument/2006/relationships/image" Target="../media/image35.png"/><Relationship Id="rId4" Type="http://schemas.openxmlformats.org/officeDocument/2006/relationships/image" Target="../media/image38.jpeg"/><Relationship Id="rId9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6124705" y="8674244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2700000">
            <a:off x="8380054" y="7730212"/>
            <a:ext cx="5776308" cy="3366163"/>
            <a:chOff x="0" y="0"/>
            <a:chExt cx="1721191" cy="10030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1191" cy="1003030"/>
            </a:xfrm>
            <a:custGeom>
              <a:avLst/>
              <a:gdLst/>
              <a:ahLst/>
              <a:cxnLst/>
              <a:rect l="l" t="t" r="r" b="b"/>
              <a:pathLst>
                <a:path w="1721191" h="1003030">
                  <a:moveTo>
                    <a:pt x="0" y="0"/>
                  </a:moveTo>
                  <a:lnTo>
                    <a:pt x="1721191" y="0"/>
                  </a:lnTo>
                  <a:lnTo>
                    <a:pt x="1721191" y="1003030"/>
                  </a:lnTo>
                  <a:lnTo>
                    <a:pt x="0" y="1003030"/>
                  </a:ln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721191" cy="1050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700000">
            <a:off x="4526162" y="-302985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1" name="Group 11"/>
          <p:cNvGrpSpPr/>
          <p:nvPr/>
        </p:nvGrpSpPr>
        <p:grpSpPr>
          <a:xfrm rot="-8100000">
            <a:off x="7037046" y="-1748062"/>
            <a:ext cx="4007001" cy="2511321"/>
            <a:chOff x="0" y="0"/>
            <a:chExt cx="1193983" cy="7483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3983" cy="748309"/>
            </a:xfrm>
            <a:custGeom>
              <a:avLst/>
              <a:gdLst/>
              <a:ahLst/>
              <a:cxnLst/>
              <a:rect l="l" t="t" r="r" b="b"/>
              <a:pathLst>
                <a:path w="1193983" h="748309">
                  <a:moveTo>
                    <a:pt x="0" y="0"/>
                  </a:moveTo>
                  <a:lnTo>
                    <a:pt x="1193983" y="0"/>
                  </a:lnTo>
                  <a:lnTo>
                    <a:pt x="1193983" y="748309"/>
                  </a:lnTo>
                  <a:lnTo>
                    <a:pt x="0" y="748309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193983" cy="79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2700000">
            <a:off x="11627109" y="-3237042"/>
            <a:ext cx="10830820" cy="10723057"/>
            <a:chOff x="0" y="0"/>
            <a:chExt cx="2035474" cy="20152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5474" cy="2015221"/>
            </a:xfrm>
            <a:custGeom>
              <a:avLst/>
              <a:gdLst/>
              <a:ahLst/>
              <a:cxnLst/>
              <a:rect l="l" t="t" r="r" b="b"/>
              <a:pathLst>
                <a:path w="2035474" h="2015221">
                  <a:moveTo>
                    <a:pt x="71480" y="0"/>
                  </a:moveTo>
                  <a:lnTo>
                    <a:pt x="1963993" y="0"/>
                  </a:lnTo>
                  <a:cubicBezTo>
                    <a:pt x="1982951" y="0"/>
                    <a:pt x="2001132" y="7531"/>
                    <a:pt x="2014538" y="20936"/>
                  </a:cubicBezTo>
                  <a:cubicBezTo>
                    <a:pt x="2027943" y="34341"/>
                    <a:pt x="2035474" y="52523"/>
                    <a:pt x="2035474" y="71480"/>
                  </a:cubicBezTo>
                  <a:lnTo>
                    <a:pt x="2035474" y="1943741"/>
                  </a:lnTo>
                  <a:cubicBezTo>
                    <a:pt x="2035474" y="1962699"/>
                    <a:pt x="2027943" y="1980880"/>
                    <a:pt x="2014538" y="1994285"/>
                  </a:cubicBezTo>
                  <a:cubicBezTo>
                    <a:pt x="2001132" y="2007690"/>
                    <a:pt x="1982951" y="2015221"/>
                    <a:pt x="1963993" y="2015221"/>
                  </a:cubicBezTo>
                  <a:lnTo>
                    <a:pt x="71480" y="2015221"/>
                  </a:lnTo>
                  <a:cubicBezTo>
                    <a:pt x="52523" y="2015221"/>
                    <a:pt x="34341" y="2007690"/>
                    <a:pt x="20936" y="1994285"/>
                  </a:cubicBezTo>
                  <a:cubicBezTo>
                    <a:pt x="7531" y="1980880"/>
                    <a:pt x="0" y="1962699"/>
                    <a:pt x="0" y="1943741"/>
                  </a:cubicBezTo>
                  <a:lnTo>
                    <a:pt x="0" y="71480"/>
                  </a:lnTo>
                  <a:cubicBezTo>
                    <a:pt x="0" y="52523"/>
                    <a:pt x="7531" y="34341"/>
                    <a:pt x="20936" y="20936"/>
                  </a:cubicBezTo>
                  <a:cubicBezTo>
                    <a:pt x="34341" y="7531"/>
                    <a:pt x="52523" y="0"/>
                    <a:pt x="71480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35474" cy="2062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13044" y="-3200481"/>
            <a:ext cx="10625701" cy="1062570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18711" y="18711"/>
              <a:ext cx="775377" cy="775377"/>
            </a:xfrm>
            <a:custGeom>
              <a:avLst/>
              <a:gdLst/>
              <a:ahLst/>
              <a:cxnLst/>
              <a:rect l="l" t="t" r="r" b="b"/>
              <a:pathLst>
                <a:path w="775377" h="775377">
                  <a:moveTo>
                    <a:pt x="419631" y="13231"/>
                  </a:moveTo>
                  <a:lnTo>
                    <a:pt x="762147" y="355747"/>
                  </a:lnTo>
                  <a:cubicBezTo>
                    <a:pt x="770618" y="364218"/>
                    <a:pt x="775378" y="375708"/>
                    <a:pt x="775378" y="387689"/>
                  </a:cubicBezTo>
                  <a:cubicBezTo>
                    <a:pt x="775378" y="399670"/>
                    <a:pt x="770618" y="411160"/>
                    <a:pt x="762147" y="419631"/>
                  </a:cubicBezTo>
                  <a:lnTo>
                    <a:pt x="419631" y="762147"/>
                  </a:lnTo>
                  <a:cubicBezTo>
                    <a:pt x="411160" y="770618"/>
                    <a:pt x="399670" y="775378"/>
                    <a:pt x="387689" y="775378"/>
                  </a:cubicBezTo>
                  <a:cubicBezTo>
                    <a:pt x="375708" y="775378"/>
                    <a:pt x="364218" y="770618"/>
                    <a:pt x="355747" y="762147"/>
                  </a:cubicBezTo>
                  <a:lnTo>
                    <a:pt x="13231" y="419631"/>
                  </a:lnTo>
                  <a:cubicBezTo>
                    <a:pt x="4760" y="411160"/>
                    <a:pt x="0" y="399670"/>
                    <a:pt x="0" y="387689"/>
                  </a:cubicBezTo>
                  <a:cubicBezTo>
                    <a:pt x="0" y="375708"/>
                    <a:pt x="4760" y="364218"/>
                    <a:pt x="13231" y="355747"/>
                  </a:cubicBezTo>
                  <a:lnTo>
                    <a:pt x="355747" y="13231"/>
                  </a:lnTo>
                  <a:cubicBezTo>
                    <a:pt x="364218" y="4760"/>
                    <a:pt x="375708" y="0"/>
                    <a:pt x="387689" y="0"/>
                  </a:cubicBezTo>
                  <a:cubicBezTo>
                    <a:pt x="399670" y="0"/>
                    <a:pt x="411160" y="4760"/>
                    <a:pt x="419631" y="13231"/>
                  </a:cubicBezTo>
                  <a:close/>
                </a:path>
              </a:pathLst>
            </a:custGeom>
            <a:blipFill>
              <a:blip r:embed="rId4"/>
              <a:stretch>
                <a:fillRect l="-39777" t="-500" r="-39777" b="-500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19" name="Freeform 19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0" name="Group 20"/>
          <p:cNvGrpSpPr/>
          <p:nvPr/>
        </p:nvGrpSpPr>
        <p:grpSpPr>
          <a:xfrm rot="-2700000">
            <a:off x="11433694" y="6980262"/>
            <a:ext cx="10211745" cy="2440924"/>
            <a:chOff x="0" y="0"/>
            <a:chExt cx="3042837" cy="72733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42837" cy="727333"/>
            </a:xfrm>
            <a:custGeom>
              <a:avLst/>
              <a:gdLst/>
              <a:ahLst/>
              <a:cxnLst/>
              <a:rect l="l" t="t" r="r" b="b"/>
              <a:pathLst>
                <a:path w="3042837" h="727333">
                  <a:moveTo>
                    <a:pt x="0" y="0"/>
                  </a:moveTo>
                  <a:lnTo>
                    <a:pt x="3042837" y="0"/>
                  </a:lnTo>
                  <a:lnTo>
                    <a:pt x="3042837" y="727333"/>
                  </a:lnTo>
                  <a:lnTo>
                    <a:pt x="0" y="727333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042837" cy="77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8100000">
            <a:off x="13721104" y="8138017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4" name="Group 24"/>
          <p:cNvGrpSpPr/>
          <p:nvPr/>
        </p:nvGrpSpPr>
        <p:grpSpPr>
          <a:xfrm rot="-2700000">
            <a:off x="14773604" y="8138004"/>
            <a:ext cx="5641848" cy="2550578"/>
            <a:chOff x="0" y="0"/>
            <a:chExt cx="1681125" cy="7600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81125" cy="760006"/>
            </a:xfrm>
            <a:custGeom>
              <a:avLst/>
              <a:gdLst/>
              <a:ahLst/>
              <a:cxnLst/>
              <a:rect l="l" t="t" r="r" b="b"/>
              <a:pathLst>
                <a:path w="1681125" h="760006">
                  <a:moveTo>
                    <a:pt x="0" y="0"/>
                  </a:moveTo>
                  <a:lnTo>
                    <a:pt x="1681125" y="0"/>
                  </a:lnTo>
                  <a:lnTo>
                    <a:pt x="1681125" y="760006"/>
                  </a:lnTo>
                  <a:lnTo>
                    <a:pt x="0" y="760006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681125" cy="80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10800000">
            <a:off x="1990008" y="8860639"/>
            <a:ext cx="1854742" cy="48684"/>
            <a:chOff x="0" y="0"/>
            <a:chExt cx="552665" cy="145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2665" cy="14507"/>
            </a:xfrm>
            <a:custGeom>
              <a:avLst/>
              <a:gdLst/>
              <a:ahLst/>
              <a:cxnLst/>
              <a:rect l="l" t="t" r="r" b="b"/>
              <a:pathLst>
                <a:path w="552665" h="14507">
                  <a:moveTo>
                    <a:pt x="7253" y="0"/>
                  </a:moveTo>
                  <a:lnTo>
                    <a:pt x="545412" y="0"/>
                  </a:lnTo>
                  <a:cubicBezTo>
                    <a:pt x="547336" y="0"/>
                    <a:pt x="549181" y="764"/>
                    <a:pt x="550541" y="2124"/>
                  </a:cubicBezTo>
                  <a:cubicBezTo>
                    <a:pt x="551901" y="3485"/>
                    <a:pt x="552665" y="5330"/>
                    <a:pt x="552665" y="7253"/>
                  </a:cubicBezTo>
                  <a:lnTo>
                    <a:pt x="552665" y="7253"/>
                  </a:lnTo>
                  <a:cubicBezTo>
                    <a:pt x="552665" y="11259"/>
                    <a:pt x="549418" y="14507"/>
                    <a:pt x="545412" y="14507"/>
                  </a:cubicBezTo>
                  <a:lnTo>
                    <a:pt x="7253" y="14507"/>
                  </a:lnTo>
                  <a:cubicBezTo>
                    <a:pt x="3247" y="14507"/>
                    <a:pt x="0" y="11259"/>
                    <a:pt x="0" y="7253"/>
                  </a:cubicBezTo>
                  <a:lnTo>
                    <a:pt x="0" y="7253"/>
                  </a:lnTo>
                  <a:cubicBezTo>
                    <a:pt x="0" y="3247"/>
                    <a:pt x="3247" y="0"/>
                    <a:pt x="7253" y="0"/>
                  </a:cubicBez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52665" cy="62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4326222" y="8885510"/>
            <a:ext cx="916749" cy="47625"/>
            <a:chOff x="0" y="0"/>
            <a:chExt cx="273168" cy="141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3168" cy="14191"/>
            </a:xfrm>
            <a:custGeom>
              <a:avLst/>
              <a:gdLst/>
              <a:ahLst/>
              <a:cxnLst/>
              <a:rect l="l" t="t" r="r" b="b"/>
              <a:pathLst>
                <a:path w="273168" h="14191">
                  <a:moveTo>
                    <a:pt x="7096" y="0"/>
                  </a:moveTo>
                  <a:lnTo>
                    <a:pt x="266072" y="0"/>
                  </a:lnTo>
                  <a:cubicBezTo>
                    <a:pt x="267954" y="0"/>
                    <a:pt x="269759" y="748"/>
                    <a:pt x="271089" y="2078"/>
                  </a:cubicBezTo>
                  <a:cubicBezTo>
                    <a:pt x="272420" y="3409"/>
                    <a:pt x="273168" y="5214"/>
                    <a:pt x="273168" y="7096"/>
                  </a:cubicBezTo>
                  <a:lnTo>
                    <a:pt x="273168" y="7096"/>
                  </a:lnTo>
                  <a:cubicBezTo>
                    <a:pt x="273168" y="8977"/>
                    <a:pt x="272420" y="10782"/>
                    <a:pt x="271089" y="12113"/>
                  </a:cubicBezTo>
                  <a:cubicBezTo>
                    <a:pt x="269759" y="13443"/>
                    <a:pt x="267954" y="14191"/>
                    <a:pt x="266072" y="14191"/>
                  </a:cubicBezTo>
                  <a:lnTo>
                    <a:pt x="7096" y="14191"/>
                  </a:lnTo>
                  <a:cubicBezTo>
                    <a:pt x="5214" y="14191"/>
                    <a:pt x="3409" y="13443"/>
                    <a:pt x="2078" y="12113"/>
                  </a:cubicBezTo>
                  <a:cubicBezTo>
                    <a:pt x="748" y="10782"/>
                    <a:pt x="0" y="8977"/>
                    <a:pt x="0" y="7096"/>
                  </a:cubicBezTo>
                  <a:lnTo>
                    <a:pt x="0" y="7096"/>
                  </a:lnTo>
                  <a:cubicBezTo>
                    <a:pt x="0" y="5214"/>
                    <a:pt x="748" y="3409"/>
                    <a:pt x="2078" y="2078"/>
                  </a:cubicBezTo>
                  <a:cubicBezTo>
                    <a:pt x="3409" y="748"/>
                    <a:pt x="5214" y="0"/>
                    <a:pt x="7096" y="0"/>
                  </a:cubicBezTo>
                  <a:close/>
                </a:path>
              </a:pathLst>
            </a:custGeom>
            <a:solidFill>
              <a:srgbClr val="292A2B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73168" cy="61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7995" y="726914"/>
            <a:ext cx="4367092" cy="1290206"/>
            <a:chOff x="0" y="0"/>
            <a:chExt cx="5822789" cy="1720274"/>
          </a:xfrm>
        </p:grpSpPr>
        <p:sp>
          <p:nvSpPr>
            <p:cNvPr id="34" name="Freeform 34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5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28700" y="2162587"/>
            <a:ext cx="11037473" cy="49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SMART LEARN:</a:t>
            </a:r>
          </a:p>
          <a:p>
            <a:pPr algn="l">
              <a:lnSpc>
                <a:spcPts val="6600"/>
              </a:lnSpc>
            </a:pPr>
            <a:endParaRPr lang="en-US" sz="6100" b="1">
              <a:solidFill>
                <a:srgbClr val="16599D"/>
              </a:solidFill>
              <a:latin typeface="Helios Bold"/>
              <a:ea typeface="Helios Bold"/>
              <a:cs typeface="Helios Bold"/>
              <a:sym typeface="Helios Bold"/>
            </a:endParaRPr>
          </a:p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An Adaptive Mobile Platform for Neurodevelopmental Learning Disorders</a:t>
            </a:r>
          </a:p>
          <a:p>
            <a:pPr algn="l">
              <a:lnSpc>
                <a:spcPts val="5500"/>
              </a:lnSpc>
            </a:pPr>
            <a:endParaRPr lang="en-US" sz="6000" b="1">
              <a:solidFill>
                <a:srgbClr val="16599D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410418" y="7663866"/>
            <a:ext cx="4399736" cy="87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R26-IT-114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7001768" y="1126950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8515005" y="-553860"/>
            <a:ext cx="5359870" cy="2511321"/>
            <a:chOff x="0" y="0"/>
            <a:chExt cx="1597103" cy="7483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7103" cy="748309"/>
            </a:xfrm>
            <a:custGeom>
              <a:avLst/>
              <a:gdLst/>
              <a:ahLst/>
              <a:cxnLst/>
              <a:rect l="l" t="t" r="r" b="b"/>
              <a:pathLst>
                <a:path w="1597103" h="748309">
                  <a:moveTo>
                    <a:pt x="0" y="0"/>
                  </a:moveTo>
                  <a:lnTo>
                    <a:pt x="1597103" y="0"/>
                  </a:lnTo>
                  <a:lnTo>
                    <a:pt x="1597103" y="748309"/>
                  </a:lnTo>
                  <a:lnTo>
                    <a:pt x="0" y="748309"/>
                  </a:ln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97103" cy="79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9928259" y="810181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Freeform 7"/>
          <p:cNvSpPr/>
          <p:nvPr/>
        </p:nvSpPr>
        <p:spPr>
          <a:xfrm rot="-2700000">
            <a:off x="-4317047" y="-3837181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8" name="Group 8"/>
          <p:cNvGrpSpPr/>
          <p:nvPr/>
        </p:nvGrpSpPr>
        <p:grpSpPr>
          <a:xfrm rot="-2700000">
            <a:off x="-3985629" y="-3505764"/>
            <a:ext cx="10863149" cy="10863149"/>
            <a:chOff x="0" y="0"/>
            <a:chExt cx="2041549" cy="20415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700000">
            <a:off x="9790314" y="2257197"/>
            <a:ext cx="10898709" cy="10898709"/>
          </a:xfrm>
          <a:custGeom>
            <a:avLst/>
            <a:gdLst/>
            <a:ahLst/>
            <a:cxnLst/>
            <a:rect l="l" t="t" r="r" b="b"/>
            <a:pathLst>
              <a:path w="10898709" h="10898709">
                <a:moveTo>
                  <a:pt x="0" y="0"/>
                </a:moveTo>
                <a:lnTo>
                  <a:pt x="10898710" y="0"/>
                </a:lnTo>
                <a:lnTo>
                  <a:pt x="10898710" y="10898709"/>
                </a:lnTo>
                <a:lnTo>
                  <a:pt x="0" y="10898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2" name="Group 12"/>
          <p:cNvGrpSpPr/>
          <p:nvPr/>
        </p:nvGrpSpPr>
        <p:grpSpPr>
          <a:xfrm rot="-2700000">
            <a:off x="10100574" y="2567456"/>
            <a:ext cx="10169646" cy="10169646"/>
            <a:chOff x="0" y="0"/>
            <a:chExt cx="2041549" cy="20415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6128" y="0"/>
                  </a:moveTo>
                  <a:lnTo>
                    <a:pt x="1965422" y="0"/>
                  </a:lnTo>
                  <a:cubicBezTo>
                    <a:pt x="1985612" y="0"/>
                    <a:pt x="2004975" y="8021"/>
                    <a:pt x="2019252" y="22297"/>
                  </a:cubicBezTo>
                  <a:cubicBezTo>
                    <a:pt x="2033529" y="36574"/>
                    <a:pt x="2041549" y="55937"/>
                    <a:pt x="2041549" y="76128"/>
                  </a:cubicBezTo>
                  <a:lnTo>
                    <a:pt x="2041549" y="1965422"/>
                  </a:lnTo>
                  <a:cubicBezTo>
                    <a:pt x="2041549" y="1985612"/>
                    <a:pt x="2033529" y="2004975"/>
                    <a:pt x="2019252" y="2019252"/>
                  </a:cubicBezTo>
                  <a:cubicBezTo>
                    <a:pt x="2004975" y="2033529"/>
                    <a:pt x="1985612" y="2041549"/>
                    <a:pt x="1965422" y="2041549"/>
                  </a:cubicBezTo>
                  <a:lnTo>
                    <a:pt x="76128" y="2041549"/>
                  </a:lnTo>
                  <a:cubicBezTo>
                    <a:pt x="55937" y="2041549"/>
                    <a:pt x="36574" y="2033529"/>
                    <a:pt x="22297" y="2019252"/>
                  </a:cubicBezTo>
                  <a:cubicBezTo>
                    <a:pt x="8021" y="2004975"/>
                    <a:pt x="0" y="1985612"/>
                    <a:pt x="0" y="1965422"/>
                  </a:cubicBezTo>
                  <a:lnTo>
                    <a:pt x="0" y="76128"/>
                  </a:lnTo>
                  <a:cubicBezTo>
                    <a:pt x="0" y="55937"/>
                    <a:pt x="8021" y="36574"/>
                    <a:pt x="22297" y="22297"/>
                  </a:cubicBezTo>
                  <a:cubicBezTo>
                    <a:pt x="36574" y="8021"/>
                    <a:pt x="55937" y="0"/>
                    <a:pt x="761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11588" y="1378470"/>
            <a:ext cx="12547618" cy="1254761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15845" y="15845"/>
              <a:ext cx="781109" cy="781109"/>
            </a:xfrm>
            <a:custGeom>
              <a:avLst/>
              <a:gdLst/>
              <a:ahLst/>
              <a:cxnLst/>
              <a:rect l="l" t="t" r="r" b="b"/>
              <a:pathLst>
                <a:path w="781109" h="781109">
                  <a:moveTo>
                    <a:pt x="417605" y="11205"/>
                  </a:moveTo>
                  <a:lnTo>
                    <a:pt x="769905" y="363505"/>
                  </a:lnTo>
                  <a:cubicBezTo>
                    <a:pt x="784844" y="378444"/>
                    <a:pt x="784844" y="402666"/>
                    <a:pt x="769905" y="417605"/>
                  </a:cubicBezTo>
                  <a:lnTo>
                    <a:pt x="417605" y="769905"/>
                  </a:lnTo>
                  <a:cubicBezTo>
                    <a:pt x="402666" y="784844"/>
                    <a:pt x="378444" y="784844"/>
                    <a:pt x="363505" y="769905"/>
                  </a:cubicBezTo>
                  <a:lnTo>
                    <a:pt x="11205" y="417605"/>
                  </a:lnTo>
                  <a:cubicBezTo>
                    <a:pt x="-3734" y="402666"/>
                    <a:pt x="-3734" y="378444"/>
                    <a:pt x="11205" y="363505"/>
                  </a:cubicBezTo>
                  <a:lnTo>
                    <a:pt x="363505" y="11205"/>
                  </a:lnTo>
                  <a:cubicBezTo>
                    <a:pt x="378444" y="-3734"/>
                    <a:pt x="402666" y="-3734"/>
                    <a:pt x="417605" y="11205"/>
                  </a:cubicBezTo>
                  <a:close/>
                </a:path>
              </a:pathLst>
            </a:custGeom>
            <a:blipFill>
              <a:blip r:embed="rId6"/>
              <a:stretch>
                <a:fillRect l="-24906" r="-24906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grpSp>
        <p:nvGrpSpPr>
          <p:cNvPr id="17" name="Group 17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1" name="Group 21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1189974"/>
            <a:ext cx="6615789" cy="79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14600" y="1302270"/>
            <a:ext cx="7249850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92A2B"/>
                </a:solidFill>
                <a:latin typeface="Helios"/>
                <a:ea typeface="Helios"/>
                <a:cs typeface="Helios"/>
                <a:sym typeface="Helios"/>
              </a:rPr>
              <a:t>VIDEO</a:t>
            </a:r>
          </a:p>
        </p:txBody>
      </p:sp>
      <p:pic>
        <p:nvPicPr>
          <p:cNvPr id="26" name="Untitled design.mp4">
            <a:hlinkClick r:id="" action="ppaction://media"/>
            <a:extLst>
              <a:ext uri="{FF2B5EF4-FFF2-40B4-BE49-F238E27FC236}">
                <a16:creationId xmlns:a16="http://schemas.microsoft.com/office/drawing/2014/main" id="{1FB61FEE-8F49-B961-697C-529112E2D9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311128" y="2277285"/>
            <a:ext cx="13665745" cy="7686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7001768" y="1126950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8100000">
            <a:off x="8515005" y="-553860"/>
            <a:ext cx="5359870" cy="2511321"/>
            <a:chOff x="0" y="0"/>
            <a:chExt cx="1597103" cy="7483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97103" cy="748309"/>
            </a:xfrm>
            <a:custGeom>
              <a:avLst/>
              <a:gdLst/>
              <a:ahLst/>
              <a:cxnLst/>
              <a:rect l="l" t="t" r="r" b="b"/>
              <a:pathLst>
                <a:path w="1597103" h="748309">
                  <a:moveTo>
                    <a:pt x="0" y="0"/>
                  </a:moveTo>
                  <a:lnTo>
                    <a:pt x="1597103" y="0"/>
                  </a:lnTo>
                  <a:lnTo>
                    <a:pt x="1597103" y="748309"/>
                  </a:lnTo>
                  <a:lnTo>
                    <a:pt x="0" y="748309"/>
                  </a:lnTo>
                  <a:close/>
                </a:path>
              </a:pathLst>
            </a:custGeom>
            <a:solidFill>
              <a:srgbClr val="0F4984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97103" cy="79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9928259" y="810181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Freeform 7"/>
          <p:cNvSpPr/>
          <p:nvPr/>
        </p:nvSpPr>
        <p:spPr>
          <a:xfrm rot="-2700000">
            <a:off x="-4317047" y="-3837181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8" name="Group 8"/>
          <p:cNvGrpSpPr/>
          <p:nvPr/>
        </p:nvGrpSpPr>
        <p:grpSpPr>
          <a:xfrm rot="-2700000">
            <a:off x="-3985629" y="-3505764"/>
            <a:ext cx="10863149" cy="10863149"/>
            <a:chOff x="0" y="0"/>
            <a:chExt cx="2041549" cy="20415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700000">
            <a:off x="9790314" y="2257197"/>
            <a:ext cx="10898709" cy="10898709"/>
          </a:xfrm>
          <a:custGeom>
            <a:avLst/>
            <a:gdLst/>
            <a:ahLst/>
            <a:cxnLst/>
            <a:rect l="l" t="t" r="r" b="b"/>
            <a:pathLst>
              <a:path w="10898709" h="10898709">
                <a:moveTo>
                  <a:pt x="0" y="0"/>
                </a:moveTo>
                <a:lnTo>
                  <a:pt x="10898710" y="0"/>
                </a:lnTo>
                <a:lnTo>
                  <a:pt x="10898710" y="10898709"/>
                </a:lnTo>
                <a:lnTo>
                  <a:pt x="0" y="10898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2" name="Group 12"/>
          <p:cNvGrpSpPr/>
          <p:nvPr/>
        </p:nvGrpSpPr>
        <p:grpSpPr>
          <a:xfrm rot="-2700000">
            <a:off x="10100574" y="2567456"/>
            <a:ext cx="10169646" cy="10169646"/>
            <a:chOff x="0" y="0"/>
            <a:chExt cx="2041549" cy="20415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6128" y="0"/>
                  </a:moveTo>
                  <a:lnTo>
                    <a:pt x="1965422" y="0"/>
                  </a:lnTo>
                  <a:cubicBezTo>
                    <a:pt x="1985612" y="0"/>
                    <a:pt x="2004975" y="8021"/>
                    <a:pt x="2019252" y="22297"/>
                  </a:cubicBezTo>
                  <a:cubicBezTo>
                    <a:pt x="2033529" y="36574"/>
                    <a:pt x="2041549" y="55937"/>
                    <a:pt x="2041549" y="76128"/>
                  </a:cubicBezTo>
                  <a:lnTo>
                    <a:pt x="2041549" y="1965422"/>
                  </a:lnTo>
                  <a:cubicBezTo>
                    <a:pt x="2041549" y="1985612"/>
                    <a:pt x="2033529" y="2004975"/>
                    <a:pt x="2019252" y="2019252"/>
                  </a:cubicBezTo>
                  <a:cubicBezTo>
                    <a:pt x="2004975" y="2033529"/>
                    <a:pt x="1985612" y="2041549"/>
                    <a:pt x="1965422" y="2041549"/>
                  </a:cubicBezTo>
                  <a:lnTo>
                    <a:pt x="76128" y="2041549"/>
                  </a:lnTo>
                  <a:cubicBezTo>
                    <a:pt x="55937" y="2041549"/>
                    <a:pt x="36574" y="2033529"/>
                    <a:pt x="22297" y="2019252"/>
                  </a:cubicBezTo>
                  <a:cubicBezTo>
                    <a:pt x="8021" y="2004975"/>
                    <a:pt x="0" y="1985612"/>
                    <a:pt x="0" y="1965422"/>
                  </a:cubicBezTo>
                  <a:lnTo>
                    <a:pt x="0" y="76128"/>
                  </a:lnTo>
                  <a:cubicBezTo>
                    <a:pt x="0" y="55937"/>
                    <a:pt x="8021" y="36574"/>
                    <a:pt x="22297" y="22297"/>
                  </a:cubicBezTo>
                  <a:cubicBezTo>
                    <a:pt x="36574" y="8021"/>
                    <a:pt x="55937" y="0"/>
                    <a:pt x="761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10669360" y="993471"/>
            <a:ext cx="10132302" cy="2304198"/>
            <a:chOff x="0" y="0"/>
            <a:chExt cx="3019165" cy="68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19165" cy="686592"/>
            </a:xfrm>
            <a:custGeom>
              <a:avLst/>
              <a:gdLst/>
              <a:ahLst/>
              <a:cxnLst/>
              <a:rect l="l" t="t" r="r" b="b"/>
              <a:pathLst>
                <a:path w="3019165" h="686592">
                  <a:moveTo>
                    <a:pt x="0" y="0"/>
                  </a:moveTo>
                  <a:lnTo>
                    <a:pt x="3019165" y="0"/>
                  </a:lnTo>
                  <a:lnTo>
                    <a:pt x="3019165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019165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2700000">
            <a:off x="13557061" y="128027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9" name="Group 19"/>
          <p:cNvGrpSpPr/>
          <p:nvPr/>
        </p:nvGrpSpPr>
        <p:grpSpPr>
          <a:xfrm rot="-8100000">
            <a:off x="15049711" y="-350832"/>
            <a:ext cx="5000402" cy="2304198"/>
            <a:chOff x="0" y="0"/>
            <a:chExt cx="1489991" cy="68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9991" cy="686592"/>
            </a:xfrm>
            <a:custGeom>
              <a:avLst/>
              <a:gdLst/>
              <a:ahLst/>
              <a:cxnLst/>
              <a:rect l="l" t="t" r="r" b="b"/>
              <a:pathLst>
                <a:path w="1489991" h="686592">
                  <a:moveTo>
                    <a:pt x="0" y="0"/>
                  </a:moveTo>
                  <a:lnTo>
                    <a:pt x="1489991" y="0"/>
                  </a:lnTo>
                  <a:lnTo>
                    <a:pt x="1489991" y="686592"/>
                  </a:lnTo>
                  <a:lnTo>
                    <a:pt x="0" y="686592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89991" cy="734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1199499"/>
            <a:ext cx="7699202" cy="1084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9"/>
              </a:lnSpc>
            </a:pPr>
            <a:r>
              <a:rPr lang="en-US" sz="73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INTRODUCTION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8700" y="2464896"/>
            <a:ext cx="13556488" cy="1172236"/>
            <a:chOff x="0" y="0"/>
            <a:chExt cx="18075317" cy="1562981"/>
          </a:xfrm>
        </p:grpSpPr>
        <p:sp>
          <p:nvSpPr>
            <p:cNvPr id="24" name="Freeform 24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0"/>
              <a:ext cx="18075317" cy="1562981"/>
              <a:chOff x="0" y="0"/>
              <a:chExt cx="3570433" cy="30873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570433" cy="308737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08737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4368"/>
                    </a:lnTo>
                    <a:lnTo>
                      <a:pt x="0" y="308737"/>
                    </a:lnTo>
                    <a:lnTo>
                      <a:pt x="3570433" y="308737"/>
                    </a:lnTo>
                    <a:lnTo>
                      <a:pt x="3468833" y="154368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900" y="-47625"/>
                <a:ext cx="3392633" cy="356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515004" y="336991"/>
              <a:ext cx="15045310" cy="88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2226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No supportive digital apps exist in Sinhala to assist therapists, and existing tools focus mainly on detection rather than adaptive, comprehensive treatment.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6212342"/>
            <a:ext cx="13556488" cy="1172236"/>
            <a:chOff x="0" y="0"/>
            <a:chExt cx="18075317" cy="1562981"/>
          </a:xfrm>
        </p:grpSpPr>
        <p:sp>
          <p:nvSpPr>
            <p:cNvPr id="30" name="Freeform 30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0"/>
              <a:ext cx="18075317" cy="1562981"/>
              <a:chOff x="0" y="0"/>
              <a:chExt cx="3570433" cy="3087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570433" cy="308737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08737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4368"/>
                    </a:lnTo>
                    <a:lnTo>
                      <a:pt x="0" y="308737"/>
                    </a:lnTo>
                    <a:lnTo>
                      <a:pt x="3570433" y="308737"/>
                    </a:lnTo>
                    <a:lnTo>
                      <a:pt x="3468833" y="154368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8900" y="-47625"/>
                <a:ext cx="3392633" cy="356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515004" y="336991"/>
              <a:ext cx="15045310" cy="88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2226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Most  apps use text-based instructions, which young children with limited reading skills may struggle to understand, making task completion difficult.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702812" y="8086064"/>
            <a:ext cx="13556488" cy="1172236"/>
            <a:chOff x="0" y="0"/>
            <a:chExt cx="18075317" cy="1562981"/>
          </a:xfrm>
        </p:grpSpPr>
        <p:sp>
          <p:nvSpPr>
            <p:cNvPr id="36" name="Freeform 36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0"/>
              <a:ext cx="18075317" cy="1562981"/>
              <a:chOff x="0" y="0"/>
              <a:chExt cx="3570433" cy="3087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570433" cy="308737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08737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4368"/>
                    </a:lnTo>
                    <a:lnTo>
                      <a:pt x="0" y="308737"/>
                    </a:lnTo>
                    <a:lnTo>
                      <a:pt x="3570433" y="308737"/>
                    </a:lnTo>
                    <a:lnTo>
                      <a:pt x="3468833" y="154368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8900" y="-47625"/>
                <a:ext cx="3392633" cy="356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515004" y="336991"/>
              <a:ext cx="15045310" cy="88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2226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No single digital tool currently supports Dyslexia, Dyscalculia, Dysgraphia, and Working Memory Disorder together.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02812" y="4338619"/>
            <a:ext cx="13556488" cy="1172236"/>
            <a:chOff x="0" y="0"/>
            <a:chExt cx="18075317" cy="1562981"/>
          </a:xfrm>
        </p:grpSpPr>
        <p:sp>
          <p:nvSpPr>
            <p:cNvPr id="42" name="Freeform 42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0" y="0"/>
              <a:ext cx="18075317" cy="1562981"/>
              <a:chOff x="0" y="0"/>
              <a:chExt cx="3570433" cy="308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570433" cy="308737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08737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4368"/>
                    </a:lnTo>
                    <a:lnTo>
                      <a:pt x="0" y="308737"/>
                    </a:lnTo>
                    <a:lnTo>
                      <a:pt x="3570433" y="308737"/>
                    </a:lnTo>
                    <a:lnTo>
                      <a:pt x="3468833" y="154368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8900" y="-47625"/>
                <a:ext cx="3392633" cy="356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515004" y="336991"/>
              <a:ext cx="15045310" cy="88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2226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Current NLD interventions depend on costly therapist-guided assessments and clinical programs, often inaccessible to low- and middle-income families.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07696" y="2094553"/>
            <a:ext cx="7028718" cy="6793295"/>
            <a:chOff x="0" y="0"/>
            <a:chExt cx="9371625" cy="905772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674" b="1674"/>
            <a:stretch>
              <a:fillRect/>
            </a:stretch>
          </p:blipFill>
          <p:spPr>
            <a:xfrm>
              <a:off x="0" y="0"/>
              <a:ext cx="9371625" cy="9057727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0" y="1643658"/>
            <a:ext cx="8984726" cy="4569220"/>
          </a:xfrm>
          <a:custGeom>
            <a:avLst/>
            <a:gdLst/>
            <a:ahLst/>
            <a:cxnLst/>
            <a:rect l="l" t="t" r="r" b="b"/>
            <a:pathLst>
              <a:path w="8984726" h="4569220">
                <a:moveTo>
                  <a:pt x="0" y="0"/>
                </a:moveTo>
                <a:lnTo>
                  <a:pt x="8984726" y="0"/>
                </a:lnTo>
                <a:lnTo>
                  <a:pt x="8984726" y="4569220"/>
                </a:lnTo>
                <a:lnTo>
                  <a:pt x="0" y="456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-4245" r="-424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6033901" y="8519549"/>
            <a:ext cx="805027" cy="368300"/>
          </a:xfrm>
          <a:custGeom>
            <a:avLst/>
            <a:gdLst/>
            <a:ahLst/>
            <a:cxnLst/>
            <a:rect l="l" t="t" r="r" b="b"/>
            <a:pathLst>
              <a:path w="805027" h="368300">
                <a:moveTo>
                  <a:pt x="0" y="0"/>
                </a:moveTo>
                <a:lnTo>
                  <a:pt x="805027" y="0"/>
                </a:lnTo>
                <a:lnTo>
                  <a:pt x="805027" y="368300"/>
                </a:lnTo>
                <a:lnTo>
                  <a:pt x="0" y="36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1028700" y="1129134"/>
            <a:ext cx="7414449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USER &amp;STAKEHOLDERS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5283" y="2599498"/>
            <a:ext cx="5274160" cy="238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1"/>
              </a:lnSpc>
            </a:pPr>
            <a:r>
              <a:rPr lang="en-US" sz="3099" b="1">
                <a:solidFill>
                  <a:srgbClr val="292A2B"/>
                </a:solidFill>
                <a:latin typeface="Helios Bold"/>
                <a:ea typeface="Helios Bold"/>
                <a:cs typeface="Helios Bold"/>
                <a:sym typeface="Helios Bold"/>
              </a:rPr>
              <a:t>Users</a:t>
            </a:r>
          </a:p>
          <a:p>
            <a:pPr marL="582925" lvl="1" indent="-291463" algn="l">
              <a:lnSpc>
                <a:spcPts val="3104"/>
              </a:lnSpc>
              <a:buFont typeface="Arial"/>
              <a:buChar char="•"/>
            </a:pPr>
            <a:r>
              <a:rPr lang="en-US" sz="2699" b="1">
                <a:solidFill>
                  <a:srgbClr val="292A2B"/>
                </a:solidFill>
                <a:latin typeface="Helios Bold"/>
                <a:ea typeface="Helios Bold"/>
                <a:cs typeface="Helios Bold"/>
                <a:sym typeface="Helios Bold"/>
              </a:rPr>
              <a:t>Children (6–8 years)</a:t>
            </a:r>
          </a:p>
          <a:p>
            <a:pPr algn="l">
              <a:lnSpc>
                <a:spcPts val="1916"/>
              </a:lnSpc>
            </a:pPr>
            <a:endParaRPr lang="en-US" sz="2699" b="1">
              <a:solidFill>
                <a:srgbClr val="292A2B"/>
              </a:solidFill>
              <a:latin typeface="Helios Bold"/>
              <a:ea typeface="Helios Bold"/>
              <a:cs typeface="Helios Bold"/>
              <a:sym typeface="Helios Bold"/>
            </a:endParaRPr>
          </a:p>
          <a:p>
            <a:pPr marL="582925" lvl="1" indent="-291463" algn="l">
              <a:lnSpc>
                <a:spcPts val="1916"/>
              </a:lnSpc>
              <a:buFont typeface="Arial"/>
              <a:buChar char="•"/>
            </a:pPr>
            <a:r>
              <a:rPr lang="en-US" sz="2699" b="1">
                <a:solidFill>
                  <a:srgbClr val="292A2B"/>
                </a:solidFill>
                <a:latin typeface="Helios Bold"/>
                <a:ea typeface="Helios Bold"/>
                <a:cs typeface="Helios Bold"/>
                <a:sym typeface="Helios Bold"/>
              </a:rPr>
              <a:t>Parents / Guardians</a:t>
            </a:r>
          </a:p>
          <a:p>
            <a:pPr algn="l">
              <a:lnSpc>
                <a:spcPts val="1916"/>
              </a:lnSpc>
            </a:pPr>
            <a:endParaRPr lang="en-US" sz="2699" b="1">
              <a:solidFill>
                <a:srgbClr val="292A2B"/>
              </a:solidFill>
              <a:latin typeface="Helios Bold"/>
              <a:ea typeface="Helios Bold"/>
              <a:cs typeface="Helios Bold"/>
              <a:sym typeface="Helios Bold"/>
            </a:endParaRPr>
          </a:p>
          <a:p>
            <a:pPr marL="582925" lvl="1" indent="-291463" algn="l">
              <a:lnSpc>
                <a:spcPts val="1916"/>
              </a:lnSpc>
              <a:buFont typeface="Arial"/>
              <a:buChar char="•"/>
            </a:pPr>
            <a:r>
              <a:rPr lang="en-US" sz="2699" b="1">
                <a:solidFill>
                  <a:srgbClr val="292A2B"/>
                </a:solidFill>
                <a:latin typeface="Helios Bold"/>
                <a:ea typeface="Helios Bold"/>
                <a:cs typeface="Helios Bold"/>
                <a:sym typeface="Helios Bold"/>
              </a:rPr>
              <a:t>Teachers / Therapists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60881" y="5725568"/>
            <a:ext cx="8404119" cy="3939431"/>
            <a:chOff x="0" y="0"/>
            <a:chExt cx="11205492" cy="52525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05492" cy="5252574"/>
            </a:xfrm>
            <a:custGeom>
              <a:avLst/>
              <a:gdLst/>
              <a:ahLst/>
              <a:cxnLst/>
              <a:rect l="l" t="t" r="r" b="b"/>
              <a:pathLst>
                <a:path w="11205492" h="5252574">
                  <a:moveTo>
                    <a:pt x="0" y="0"/>
                  </a:moveTo>
                  <a:lnTo>
                    <a:pt x="11205492" y="0"/>
                  </a:lnTo>
                  <a:lnTo>
                    <a:pt x="11205492" y="5252574"/>
                  </a:lnTo>
                  <a:lnTo>
                    <a:pt x="0" y="5252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02708" y="1044696"/>
              <a:ext cx="8000076" cy="2572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77"/>
                </a:lnSpc>
              </a:pPr>
              <a:r>
                <a:rPr lang="en-US" sz="3126" b="1">
                  <a:solidFill>
                    <a:srgbClr val="292A2B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Stakeholders</a:t>
              </a:r>
            </a:p>
            <a:p>
              <a:pPr marL="576796" lvl="1" indent="-288398" algn="l">
                <a:lnSpc>
                  <a:spcPts val="3740"/>
                </a:lnSpc>
                <a:buFont typeface="Arial"/>
                <a:buChar char="•"/>
              </a:pPr>
              <a:r>
                <a:rPr lang="en-US" sz="2671" b="1">
                  <a:solidFill>
                    <a:srgbClr val="292A2B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Schools</a:t>
              </a:r>
            </a:p>
            <a:p>
              <a:pPr marL="576796" lvl="1" indent="-288398" algn="l">
                <a:lnSpc>
                  <a:spcPts val="3740"/>
                </a:lnSpc>
                <a:buFont typeface="Arial"/>
                <a:buChar char="•"/>
              </a:pPr>
              <a:r>
                <a:rPr lang="en-US" sz="2671" b="1">
                  <a:solidFill>
                    <a:srgbClr val="292A2B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Therapy centers</a:t>
              </a:r>
            </a:p>
            <a:p>
              <a:pPr marL="576796" lvl="1" indent="-288398" algn="l">
                <a:lnSpc>
                  <a:spcPts val="3740"/>
                </a:lnSpc>
                <a:buFont typeface="Arial"/>
                <a:buChar char="•"/>
              </a:pPr>
              <a:r>
                <a:rPr lang="en-US" sz="2671" b="1">
                  <a:solidFill>
                    <a:srgbClr val="292A2B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Researchers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6310" y="8718621"/>
            <a:ext cx="309261" cy="278721"/>
          </a:xfrm>
          <a:custGeom>
            <a:avLst/>
            <a:gdLst/>
            <a:ahLst/>
            <a:cxnLst/>
            <a:rect l="l" t="t" r="r" b="b"/>
            <a:pathLst>
              <a:path w="309261" h="278721">
                <a:moveTo>
                  <a:pt x="0" y="0"/>
                </a:moveTo>
                <a:lnTo>
                  <a:pt x="309261" y="0"/>
                </a:lnTo>
                <a:lnTo>
                  <a:pt x="309261" y="278721"/>
                </a:lnTo>
                <a:lnTo>
                  <a:pt x="0" y="278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>
            <a:off x="5811022" y="8703351"/>
            <a:ext cx="309261" cy="309261"/>
          </a:xfrm>
          <a:custGeom>
            <a:avLst/>
            <a:gdLst/>
            <a:ahLst/>
            <a:cxnLst/>
            <a:rect l="l" t="t" r="r" b="b"/>
            <a:pathLst>
              <a:path w="309261" h="309261">
                <a:moveTo>
                  <a:pt x="0" y="0"/>
                </a:moveTo>
                <a:lnTo>
                  <a:pt x="309261" y="0"/>
                </a:lnTo>
                <a:lnTo>
                  <a:pt x="309261" y="309261"/>
                </a:lnTo>
                <a:lnTo>
                  <a:pt x="0" y="30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>
            <a:off x="3124200" y="7344087"/>
            <a:ext cx="13556488" cy="1391162"/>
            <a:chOff x="0" y="-241101"/>
            <a:chExt cx="18075317" cy="185488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-241101"/>
              <a:ext cx="18075317" cy="1854882"/>
              <a:chOff x="0" y="-47625"/>
              <a:chExt cx="3570433" cy="36639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570433" cy="318772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18772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9386"/>
                    </a:lnTo>
                    <a:lnTo>
                      <a:pt x="0" y="318772"/>
                    </a:lnTo>
                    <a:lnTo>
                      <a:pt x="3570433" y="318772"/>
                    </a:lnTo>
                    <a:lnTo>
                      <a:pt x="3468833" y="159386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8900" y="-47625"/>
                <a:ext cx="3392633" cy="3663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5004" y="336991"/>
              <a:ext cx="1504531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1"/>
                </a:lnSpc>
              </a:pPr>
              <a:r>
                <a:rPr lang="en-US" sz="2326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Teachers and therapists have limited ability to monitor and guide children outside therapy sessions or classrooms.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flipV="1">
            <a:off x="12169768" y="5824169"/>
            <a:ext cx="584287" cy="383505"/>
          </a:xfrm>
          <a:custGeom>
            <a:avLst/>
            <a:gdLst/>
            <a:ahLst/>
            <a:cxnLst/>
            <a:rect l="l" t="t" r="r" b="b"/>
            <a:pathLst>
              <a:path w="584287" h="383505">
                <a:moveTo>
                  <a:pt x="0" y="383504"/>
                </a:moveTo>
                <a:lnTo>
                  <a:pt x="584287" y="383504"/>
                </a:lnTo>
                <a:lnTo>
                  <a:pt x="584287" y="0"/>
                </a:lnTo>
                <a:lnTo>
                  <a:pt x="0" y="0"/>
                </a:lnTo>
                <a:lnTo>
                  <a:pt x="0" y="3835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1" name="TextBox 11"/>
          <p:cNvSpPr txBox="1"/>
          <p:nvPr/>
        </p:nvSpPr>
        <p:spPr>
          <a:xfrm>
            <a:off x="2520111" y="726612"/>
            <a:ext cx="13247778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IMPACT OF THE PROBLEM TO USER AND SOCIETY</a:t>
            </a:r>
          </a:p>
          <a:p>
            <a:pPr algn="l">
              <a:lnSpc>
                <a:spcPts val="5199"/>
              </a:lnSpc>
            </a:pPr>
            <a:endParaRPr lang="en-US" sz="3999" b="1">
              <a:solidFill>
                <a:srgbClr val="16599D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3124200" y="2324099"/>
            <a:ext cx="13556488" cy="1528471"/>
            <a:chOff x="0" y="0"/>
            <a:chExt cx="18075317" cy="2037961"/>
          </a:xfrm>
        </p:grpSpPr>
        <p:sp>
          <p:nvSpPr>
            <p:cNvPr id="13" name="Freeform 13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0"/>
              <a:ext cx="18075317" cy="2037961"/>
              <a:chOff x="0" y="0"/>
              <a:chExt cx="3570433" cy="40256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570433" cy="402560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402560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201280"/>
                    </a:lnTo>
                    <a:lnTo>
                      <a:pt x="0" y="402560"/>
                    </a:lnTo>
                    <a:lnTo>
                      <a:pt x="3570433" y="402560"/>
                    </a:lnTo>
                    <a:lnTo>
                      <a:pt x="3468833" y="201280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900" y="-47625"/>
                <a:ext cx="3392633" cy="4501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515004" y="336991"/>
              <a:ext cx="15045310" cy="1363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1"/>
                </a:lnSpc>
              </a:pPr>
              <a:r>
                <a:rPr lang="en-US" sz="2226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Children with neurodevelopmental learning disorders such as dyslexia, dysgraphia, dyscalculia, and working memory disorders face difficulties in reading, writing, and basic mathematical skills during early education.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24200" y="4212615"/>
            <a:ext cx="13556488" cy="1210336"/>
            <a:chOff x="0" y="0"/>
            <a:chExt cx="18075317" cy="1613781"/>
          </a:xfrm>
        </p:grpSpPr>
        <p:sp>
          <p:nvSpPr>
            <p:cNvPr id="20" name="Freeform 20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18075317" cy="1613781"/>
              <a:chOff x="0" y="0"/>
              <a:chExt cx="3570433" cy="31877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570433" cy="318772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18772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59386"/>
                    </a:lnTo>
                    <a:lnTo>
                      <a:pt x="0" y="318772"/>
                    </a:lnTo>
                    <a:lnTo>
                      <a:pt x="3570433" y="318772"/>
                    </a:lnTo>
                    <a:lnTo>
                      <a:pt x="3468833" y="159386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900" y="-47625"/>
                <a:ext cx="3392633" cy="3663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15004" y="336991"/>
              <a:ext cx="1504531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1"/>
                </a:lnSpc>
              </a:pPr>
              <a:r>
                <a:rPr lang="en-US" sz="2326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These challenges can lead to poor academic performance, low self-confidence, and reduced motivation to learn.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24200" y="5856843"/>
            <a:ext cx="13556488" cy="1267486"/>
            <a:chOff x="0" y="0"/>
            <a:chExt cx="18075317" cy="1689981"/>
          </a:xfrm>
        </p:grpSpPr>
        <p:sp>
          <p:nvSpPr>
            <p:cNvPr id="26" name="Freeform 26"/>
            <p:cNvSpPr/>
            <p:nvPr/>
          </p:nvSpPr>
          <p:spPr>
            <a:xfrm>
              <a:off x="2114829" y="461017"/>
              <a:ext cx="412347" cy="412347"/>
            </a:xfrm>
            <a:custGeom>
              <a:avLst/>
              <a:gdLst/>
              <a:ahLst/>
              <a:cxnLst/>
              <a:rect l="l" t="t" r="r" b="b"/>
              <a:pathLst>
                <a:path w="412347" h="412347">
                  <a:moveTo>
                    <a:pt x="0" y="0"/>
                  </a:moveTo>
                  <a:lnTo>
                    <a:pt x="412348" y="0"/>
                  </a:lnTo>
                  <a:lnTo>
                    <a:pt x="412348" y="412347"/>
                  </a:lnTo>
                  <a:lnTo>
                    <a:pt x="0" y="41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0" y="0"/>
              <a:ext cx="18075317" cy="1689981"/>
              <a:chOff x="0" y="0"/>
              <a:chExt cx="3570433" cy="3338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570433" cy="333823"/>
              </a:xfrm>
              <a:custGeom>
                <a:avLst/>
                <a:gdLst/>
                <a:ahLst/>
                <a:cxnLst/>
                <a:rect l="l" t="t" r="r" b="b"/>
                <a:pathLst>
                  <a:path w="3570433" h="333823">
                    <a:moveTo>
                      <a:pt x="3570433" y="0"/>
                    </a:moveTo>
                    <a:lnTo>
                      <a:pt x="0" y="0"/>
                    </a:lnTo>
                    <a:lnTo>
                      <a:pt x="101600" y="166912"/>
                    </a:lnTo>
                    <a:lnTo>
                      <a:pt x="0" y="333823"/>
                    </a:lnTo>
                    <a:lnTo>
                      <a:pt x="3570433" y="333823"/>
                    </a:lnTo>
                    <a:lnTo>
                      <a:pt x="3468833" y="166912"/>
                    </a:lnTo>
                    <a:lnTo>
                      <a:pt x="3570433" y="0"/>
                    </a:ln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900" y="-47625"/>
                <a:ext cx="3392633" cy="3814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515004" y="413191"/>
              <a:ext cx="1504531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91"/>
                </a:lnSpc>
              </a:pPr>
              <a:r>
                <a:rPr lang="en-US" sz="2326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Parents often lack affordable and accessible tools to support their children’s learning at home.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0" y="6510601"/>
            <a:ext cx="3776399" cy="3776399"/>
          </a:xfrm>
          <a:custGeom>
            <a:avLst/>
            <a:gdLst/>
            <a:ahLst/>
            <a:cxnLst/>
            <a:rect l="l" t="t" r="r" b="b"/>
            <a:pathLst>
              <a:path w="3776399" h="3776399">
                <a:moveTo>
                  <a:pt x="0" y="0"/>
                </a:moveTo>
                <a:lnTo>
                  <a:pt x="3776399" y="0"/>
                </a:lnTo>
                <a:lnTo>
                  <a:pt x="3776399" y="3776399"/>
                </a:lnTo>
                <a:lnTo>
                  <a:pt x="0" y="37763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6" name="TextBox 36"/>
          <p:cNvSpPr txBox="1"/>
          <p:nvPr/>
        </p:nvSpPr>
        <p:spPr>
          <a:xfrm>
            <a:off x="2867178" y="7302664"/>
            <a:ext cx="12881404" cy="139116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4" name="Freeform 44"/>
          <p:cNvSpPr/>
          <p:nvPr/>
        </p:nvSpPr>
        <p:spPr>
          <a:xfrm rot="-1186074">
            <a:off x="15204016" y="-78099"/>
            <a:ext cx="2978062" cy="2978062"/>
          </a:xfrm>
          <a:custGeom>
            <a:avLst/>
            <a:gdLst/>
            <a:ahLst/>
            <a:cxnLst/>
            <a:rect l="l" t="t" r="r" b="b"/>
            <a:pathLst>
              <a:path w="2978062" h="2978062">
                <a:moveTo>
                  <a:pt x="0" y="0"/>
                </a:moveTo>
                <a:lnTo>
                  <a:pt x="2978062" y="0"/>
                </a:lnTo>
                <a:lnTo>
                  <a:pt x="2978062" y="2978062"/>
                </a:lnTo>
                <a:lnTo>
                  <a:pt x="0" y="29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88587" y="292100"/>
            <a:ext cx="12660826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EXISTING SOLUTIONS AND THEIR LIMITATIONS</a:t>
            </a:r>
          </a:p>
          <a:p>
            <a:pPr algn="l">
              <a:lnSpc>
                <a:spcPts val="5199"/>
              </a:lnSpc>
            </a:pPr>
            <a:endParaRPr lang="en-US" sz="3999" b="1">
              <a:solidFill>
                <a:srgbClr val="16599D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236578-197D-2E0C-ABF0-26BB6F792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28988"/>
              </p:ext>
            </p:extLst>
          </p:nvPr>
        </p:nvGraphicFramePr>
        <p:xfrm>
          <a:off x="798856" y="1104900"/>
          <a:ext cx="16690288" cy="8731816"/>
        </p:xfrm>
        <a:graphic>
          <a:graphicData uri="http://schemas.openxmlformats.org/drawingml/2006/table">
            <a:tbl>
              <a:tblPr/>
              <a:tblGrid>
                <a:gridCol w="2331521">
                  <a:extLst>
                    <a:ext uri="{9D8B030D-6E8A-4147-A177-3AD203B41FA5}">
                      <a16:colId xmlns:a16="http://schemas.microsoft.com/office/drawing/2014/main" val="556071413"/>
                    </a:ext>
                  </a:extLst>
                </a:gridCol>
                <a:gridCol w="1991097">
                  <a:extLst>
                    <a:ext uri="{9D8B030D-6E8A-4147-A177-3AD203B41FA5}">
                      <a16:colId xmlns:a16="http://schemas.microsoft.com/office/drawing/2014/main" val="392379609"/>
                    </a:ext>
                  </a:extLst>
                </a:gridCol>
                <a:gridCol w="1770562">
                  <a:extLst>
                    <a:ext uri="{9D8B030D-6E8A-4147-A177-3AD203B41FA5}">
                      <a16:colId xmlns:a16="http://schemas.microsoft.com/office/drawing/2014/main" val="2343064215"/>
                    </a:ext>
                  </a:extLst>
                </a:gridCol>
                <a:gridCol w="3587297">
                  <a:extLst>
                    <a:ext uri="{9D8B030D-6E8A-4147-A177-3AD203B41FA5}">
                      <a16:colId xmlns:a16="http://schemas.microsoft.com/office/drawing/2014/main" val="2225073090"/>
                    </a:ext>
                  </a:extLst>
                </a:gridCol>
                <a:gridCol w="7009811">
                  <a:extLst>
                    <a:ext uri="{9D8B030D-6E8A-4147-A177-3AD203B41FA5}">
                      <a16:colId xmlns:a16="http://schemas.microsoft.com/office/drawing/2014/main" val="1471899076"/>
                    </a:ext>
                  </a:extLst>
                </a:gridCol>
              </a:tblGrid>
              <a:tr h="289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>
                          <a:effectLst/>
                        </a:rPr>
                        <a:t>Learning Challenge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>
                          <a:effectLst/>
                        </a:rPr>
                        <a:t>Existing Solution (App)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>
                          <a:effectLst/>
                        </a:rPr>
                        <a:t>Medium / Language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>
                          <a:effectLst/>
                        </a:rPr>
                        <a:t>What It Focuses On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 dirty="0">
                          <a:effectLst/>
                        </a:rPr>
                        <a:t>Limitations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097186"/>
                  </a:ext>
                </a:extLst>
              </a:tr>
              <a:tr h="10849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 dirty="0">
                          <a:effectLst/>
                        </a:rPr>
                        <a:t>Dyslexia Support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Gall Lalla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Sinhala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Letter recognition, basic reading exercises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Limited literacy support beyond letters, no adaptive difficulty, no comprehension strategies, lacks performance tracking, not suitable for all age ranges.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73300"/>
                  </a:ext>
                </a:extLst>
              </a:tr>
              <a:tr h="1276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LK" sz="2000" dirty="0">
                        <a:effectLst/>
                      </a:endParaRP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Sinhala Follow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Sinhala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Reading support with audio guidance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Only basic reading support, limited scope (letters/words), not adaptive to individual struggles; lacks integrated tasks for comprehension or working memory.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838384"/>
                  </a:ext>
                </a:extLst>
              </a:tr>
              <a:tr h="11806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 dirty="0">
                          <a:effectLst/>
                        </a:rPr>
                        <a:t>Dysgraphia Support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The Kio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Handwriting practice &amp; fine motor tasks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English only, doesn’t support Sinhala script; limited adaptive feedback, mainly focuses on motor output rather than spelling/cognitive errors.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46707"/>
                  </a:ext>
                </a:extLst>
              </a:tr>
              <a:tr h="7977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LK" sz="2000" dirty="0">
                        <a:effectLst/>
                      </a:endParaRP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Dyspuzzle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Puzzle-based writing/word tasks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English only, difficulty not personalized; no Sinhala support, limited cognitive skill integration.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478944"/>
                  </a:ext>
                </a:extLst>
              </a:tr>
              <a:tr h="8934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 dirty="0">
                          <a:effectLst/>
                        </a:rPr>
                        <a:t>Dyscalculia Support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Magrid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Math grid &amp; logic puzzles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English only, lacks explicit instruction, not adaptive to specific numeracy weaknesses, no Sinhala support.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362478"/>
                  </a:ext>
                </a:extLst>
              </a:tr>
              <a:tr h="9891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LK" sz="2000">
                        <a:effectLst/>
                      </a:endParaRP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Meister Cody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Game-like math skill training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English only, mainly arithmetic practice; limited conceptual numeracy support, no Sinhala interface.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12841"/>
                  </a:ext>
                </a:extLst>
              </a:tr>
              <a:tr h="7977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b="1">
                          <a:effectLst/>
                        </a:rPr>
                        <a:t>Working Memory Disorder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Lumosity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General brain training (memory, attention)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Not tailored for children or clinical deficits; no Sinhala interface, minimal educational content.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091414"/>
                  </a:ext>
                </a:extLst>
              </a:tr>
              <a:tr h="10849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LK" sz="2000">
                        <a:effectLst/>
                      </a:endParaRP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Mind Games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English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Memory, attention, logic games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Broad cognitive games but not specific to learning difficulties; no Sinhala support; no evidence for transfer to real-life learning skills.</a:t>
                      </a:r>
                    </a:p>
                  </a:txBody>
                  <a:tcPr marL="17204" marR="17204" marT="8602" marB="86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53852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94F7455E-2576-BBA6-DADA-B399173D4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557051" y="1600200"/>
            <a:ext cx="194463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L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00799" y="-901102"/>
            <a:ext cx="6397241" cy="10159402"/>
            <a:chOff x="0" y="0"/>
            <a:chExt cx="8529655" cy="1354587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788" r="2788"/>
            <a:stretch>
              <a:fillRect/>
            </a:stretch>
          </p:blipFill>
          <p:spPr>
            <a:xfrm>
              <a:off x="0" y="0"/>
              <a:ext cx="8529655" cy="1354587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 rot="-10800000">
            <a:off x="15422480" y="1734388"/>
            <a:ext cx="1836820" cy="1843734"/>
          </a:xfrm>
          <a:custGeom>
            <a:avLst/>
            <a:gdLst/>
            <a:ahLst/>
            <a:cxnLst/>
            <a:rect l="l" t="t" r="r" b="b"/>
            <a:pathLst>
              <a:path w="1836820" h="1843734">
                <a:moveTo>
                  <a:pt x="0" y="0"/>
                </a:moveTo>
                <a:lnTo>
                  <a:pt x="1836820" y="0"/>
                </a:lnTo>
                <a:lnTo>
                  <a:pt x="1836820" y="1843734"/>
                </a:lnTo>
                <a:lnTo>
                  <a:pt x="0" y="1843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5540722" y="1856087"/>
            <a:ext cx="1600337" cy="160033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5611876" y="1927241"/>
            <a:ext cx="1458028" cy="145802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703688" y="2019053"/>
            <a:ext cx="1274405" cy="12744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11155" y="2329817"/>
            <a:ext cx="659470" cy="652875"/>
          </a:xfrm>
          <a:custGeom>
            <a:avLst/>
            <a:gdLst/>
            <a:ahLst/>
            <a:cxnLst/>
            <a:rect l="l" t="t" r="r" b="b"/>
            <a:pathLst>
              <a:path w="659470" h="652875">
                <a:moveTo>
                  <a:pt x="0" y="0"/>
                </a:moveTo>
                <a:lnTo>
                  <a:pt x="659470" y="0"/>
                </a:lnTo>
                <a:lnTo>
                  <a:pt x="659470" y="652876"/>
                </a:lnTo>
                <a:lnTo>
                  <a:pt x="0" y="652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5" name="Freeform 15"/>
          <p:cNvSpPr/>
          <p:nvPr/>
        </p:nvSpPr>
        <p:spPr>
          <a:xfrm>
            <a:off x="1017872" y="2677268"/>
            <a:ext cx="402495" cy="362245"/>
          </a:xfrm>
          <a:custGeom>
            <a:avLst/>
            <a:gdLst/>
            <a:ahLst/>
            <a:cxnLst/>
            <a:rect l="l" t="t" r="r" b="b"/>
            <a:pathLst>
              <a:path w="402495" h="362245">
                <a:moveTo>
                  <a:pt x="0" y="0"/>
                </a:moveTo>
                <a:lnTo>
                  <a:pt x="402495" y="0"/>
                </a:lnTo>
                <a:lnTo>
                  <a:pt x="402495" y="362245"/>
                </a:lnTo>
                <a:lnTo>
                  <a:pt x="0" y="36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6" name="Freeform 16"/>
          <p:cNvSpPr/>
          <p:nvPr/>
        </p:nvSpPr>
        <p:spPr>
          <a:xfrm>
            <a:off x="1017872" y="3269365"/>
            <a:ext cx="402495" cy="362245"/>
          </a:xfrm>
          <a:custGeom>
            <a:avLst/>
            <a:gdLst/>
            <a:ahLst/>
            <a:cxnLst/>
            <a:rect l="l" t="t" r="r" b="b"/>
            <a:pathLst>
              <a:path w="402495" h="362245">
                <a:moveTo>
                  <a:pt x="0" y="0"/>
                </a:moveTo>
                <a:lnTo>
                  <a:pt x="402495" y="0"/>
                </a:lnTo>
                <a:lnTo>
                  <a:pt x="402495" y="362245"/>
                </a:lnTo>
                <a:lnTo>
                  <a:pt x="0" y="36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Freeform 17"/>
          <p:cNvSpPr/>
          <p:nvPr/>
        </p:nvSpPr>
        <p:spPr>
          <a:xfrm>
            <a:off x="1017872" y="3861462"/>
            <a:ext cx="402495" cy="362245"/>
          </a:xfrm>
          <a:custGeom>
            <a:avLst/>
            <a:gdLst/>
            <a:ahLst/>
            <a:cxnLst/>
            <a:rect l="l" t="t" r="r" b="b"/>
            <a:pathLst>
              <a:path w="402495" h="362245">
                <a:moveTo>
                  <a:pt x="0" y="0"/>
                </a:moveTo>
                <a:lnTo>
                  <a:pt x="402495" y="0"/>
                </a:lnTo>
                <a:lnTo>
                  <a:pt x="402495" y="362245"/>
                </a:lnTo>
                <a:lnTo>
                  <a:pt x="0" y="36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8" name="Group 18"/>
          <p:cNvGrpSpPr/>
          <p:nvPr/>
        </p:nvGrpSpPr>
        <p:grpSpPr>
          <a:xfrm>
            <a:off x="-1830339" y="2162020"/>
            <a:ext cx="2171502" cy="2588807"/>
            <a:chOff x="0" y="0"/>
            <a:chExt cx="571918" cy="6818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1918" cy="681826"/>
            </a:xfrm>
            <a:custGeom>
              <a:avLst/>
              <a:gdLst/>
              <a:ahLst/>
              <a:cxnLst/>
              <a:rect l="l" t="t" r="r" b="b"/>
              <a:pathLst>
                <a:path w="571918" h="681826">
                  <a:moveTo>
                    <a:pt x="153305" y="0"/>
                  </a:moveTo>
                  <a:lnTo>
                    <a:pt x="418613" y="0"/>
                  </a:lnTo>
                  <a:cubicBezTo>
                    <a:pt x="459272" y="0"/>
                    <a:pt x="498266" y="16152"/>
                    <a:pt x="527016" y="44902"/>
                  </a:cubicBezTo>
                  <a:cubicBezTo>
                    <a:pt x="555766" y="73652"/>
                    <a:pt x="571918" y="112646"/>
                    <a:pt x="571918" y="153305"/>
                  </a:cubicBezTo>
                  <a:lnTo>
                    <a:pt x="571918" y="528521"/>
                  </a:lnTo>
                  <a:cubicBezTo>
                    <a:pt x="571918" y="569180"/>
                    <a:pt x="555766" y="608173"/>
                    <a:pt x="527016" y="636924"/>
                  </a:cubicBezTo>
                  <a:cubicBezTo>
                    <a:pt x="498266" y="665674"/>
                    <a:pt x="459272" y="681826"/>
                    <a:pt x="418613" y="681826"/>
                  </a:cubicBezTo>
                  <a:lnTo>
                    <a:pt x="153305" y="681826"/>
                  </a:lnTo>
                  <a:cubicBezTo>
                    <a:pt x="112646" y="681826"/>
                    <a:pt x="73652" y="665674"/>
                    <a:pt x="44902" y="636924"/>
                  </a:cubicBezTo>
                  <a:cubicBezTo>
                    <a:pt x="16152" y="608173"/>
                    <a:pt x="0" y="569180"/>
                    <a:pt x="0" y="528521"/>
                  </a:cubicBezTo>
                  <a:lnTo>
                    <a:pt x="0" y="153305"/>
                  </a:lnTo>
                  <a:cubicBezTo>
                    <a:pt x="0" y="112646"/>
                    <a:pt x="16152" y="73652"/>
                    <a:pt x="44902" y="44902"/>
                  </a:cubicBezTo>
                  <a:cubicBezTo>
                    <a:pt x="73652" y="16152"/>
                    <a:pt x="112646" y="0"/>
                    <a:pt x="153305" y="0"/>
                  </a:cubicBez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571918" cy="729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975468"/>
            <a:ext cx="7660333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PROPOSED SOLUTION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939396"/>
            <a:ext cx="6858930" cy="38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382" b="1">
                <a:solidFill>
                  <a:srgbClr val="0F4984"/>
                </a:solidFill>
                <a:latin typeface="Helios Bold"/>
                <a:ea typeface="Helios Bold"/>
                <a:cs typeface="Helios Bold"/>
                <a:sym typeface="Helios Bold"/>
              </a:rPr>
              <a:t>Solution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0213" y="2407930"/>
            <a:ext cx="8797306" cy="397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Sinhala-medium web-based mobile learning support system for children aged 6–8 with neurodevelopmental learning disorders.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Provides interactive activities and educational games to improve reading, writing, mathematics, and memory skills.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Supports dyslexia, dysgraphia, dyscalculia, and working memory difficulties.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 dirty="0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Usable by therapists, teachers, and parents at home or therapy centers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b="1" dirty="0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68487" y="6173394"/>
            <a:ext cx="8689033" cy="397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F4984"/>
                </a:solidFill>
                <a:latin typeface="Helios Bold"/>
                <a:ea typeface="Helios Bold"/>
                <a:cs typeface="Helios Bold"/>
                <a:sym typeface="Helios Bold"/>
              </a:rPr>
              <a:t>How the Solution Overcomes Limitations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Sinhala language support – localized for Sri Lankan children.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Multiple disorder support – not limited to a single difficulty.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Adaptive assessment activities – identify the child’s actual skill level.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Gradually increasing tasks and games – personalized learning path.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Progress tracking dashboard – monitor improvements by therapists, teachers, and parents.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19393" y="7062518"/>
            <a:ext cx="7583468" cy="2293578"/>
            <a:chOff x="0" y="0"/>
            <a:chExt cx="10111291" cy="305810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350519" cy="2337750"/>
              <a:chOff x="0" y="0"/>
              <a:chExt cx="1993337" cy="49836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93337" cy="498360"/>
              </a:xfrm>
              <a:custGeom>
                <a:avLst/>
                <a:gdLst/>
                <a:ahLst/>
                <a:cxnLst/>
                <a:rect l="l" t="t" r="r" b="b"/>
                <a:pathLst>
                  <a:path w="1993337" h="498360">
                    <a:moveTo>
                      <a:pt x="29805" y="0"/>
                    </a:moveTo>
                    <a:lnTo>
                      <a:pt x="1963532" y="0"/>
                    </a:lnTo>
                    <a:cubicBezTo>
                      <a:pt x="1971436" y="0"/>
                      <a:pt x="1979018" y="3140"/>
                      <a:pt x="1984607" y="8730"/>
                    </a:cubicBezTo>
                    <a:cubicBezTo>
                      <a:pt x="1990197" y="14319"/>
                      <a:pt x="1993337" y="21901"/>
                      <a:pt x="1993337" y="29805"/>
                    </a:cubicBezTo>
                    <a:lnTo>
                      <a:pt x="1993337" y="468554"/>
                    </a:lnTo>
                    <a:cubicBezTo>
                      <a:pt x="1993337" y="485016"/>
                      <a:pt x="1979993" y="498360"/>
                      <a:pt x="1963532" y="498360"/>
                    </a:cubicBezTo>
                    <a:lnTo>
                      <a:pt x="29805" y="498360"/>
                    </a:lnTo>
                    <a:cubicBezTo>
                      <a:pt x="21901" y="498360"/>
                      <a:pt x="14319" y="495220"/>
                      <a:pt x="8730" y="489630"/>
                    </a:cubicBezTo>
                    <a:cubicBezTo>
                      <a:pt x="3140" y="484040"/>
                      <a:pt x="0" y="476459"/>
                      <a:pt x="0" y="468554"/>
                    </a:cubicBezTo>
                    <a:lnTo>
                      <a:pt x="0" y="29805"/>
                    </a:lnTo>
                    <a:cubicBezTo>
                      <a:pt x="0" y="21901"/>
                      <a:pt x="3140" y="14319"/>
                      <a:pt x="8730" y="8730"/>
                    </a:cubicBezTo>
                    <a:cubicBezTo>
                      <a:pt x="14319" y="3140"/>
                      <a:pt x="21901" y="0"/>
                      <a:pt x="2980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993337" cy="545985"/>
              </a:xfrm>
              <a:prstGeom prst="rect">
                <a:avLst/>
              </a:prstGeom>
            </p:spPr>
            <p:txBody>
              <a:bodyPr lIns="52304" tIns="52304" rIns="52304" bIns="5230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451848" y="256071"/>
              <a:ext cx="8446823" cy="173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6"/>
                </a:lnSpc>
                <a:spcBef>
                  <a:spcPct val="0"/>
                </a:spcBef>
              </a:pPr>
              <a:r>
                <a:rPr lang="en-US" sz="3804">
                  <a:solidFill>
                    <a:srgbClr val="F7FBFF"/>
                  </a:solidFill>
                  <a:latin typeface="Helios"/>
                  <a:ea typeface="Helios"/>
                  <a:cs typeface="Helios"/>
                  <a:sym typeface="Helios"/>
                </a:rPr>
                <a:t>Game based Dyscalculia intervention module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0"/>
              <a:ext cx="10111291" cy="3058104"/>
              <a:chOff x="0" y="0"/>
              <a:chExt cx="769084" cy="23260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69084" cy="232605"/>
              </a:xfrm>
              <a:custGeom>
                <a:avLst/>
                <a:gdLst/>
                <a:ahLst/>
                <a:cxnLst/>
                <a:rect l="l" t="t" r="r" b="b"/>
                <a:pathLst>
                  <a:path w="769084" h="232605">
                    <a:moveTo>
                      <a:pt x="17945" y="0"/>
                    </a:moveTo>
                    <a:lnTo>
                      <a:pt x="751140" y="0"/>
                    </a:lnTo>
                    <a:cubicBezTo>
                      <a:pt x="755899" y="0"/>
                      <a:pt x="760463" y="1891"/>
                      <a:pt x="763829" y="5256"/>
                    </a:cubicBezTo>
                    <a:cubicBezTo>
                      <a:pt x="767194" y="8621"/>
                      <a:pt x="769084" y="13185"/>
                      <a:pt x="769084" y="17945"/>
                    </a:cubicBezTo>
                    <a:lnTo>
                      <a:pt x="769084" y="214661"/>
                    </a:lnTo>
                    <a:cubicBezTo>
                      <a:pt x="769084" y="219420"/>
                      <a:pt x="767194" y="223984"/>
                      <a:pt x="763829" y="227349"/>
                    </a:cubicBezTo>
                    <a:cubicBezTo>
                      <a:pt x="760463" y="230715"/>
                      <a:pt x="755899" y="232605"/>
                      <a:pt x="751140" y="232605"/>
                    </a:cubicBezTo>
                    <a:lnTo>
                      <a:pt x="17945" y="232605"/>
                    </a:lnTo>
                    <a:cubicBezTo>
                      <a:pt x="13185" y="232605"/>
                      <a:pt x="8621" y="230715"/>
                      <a:pt x="5256" y="227349"/>
                    </a:cubicBezTo>
                    <a:cubicBezTo>
                      <a:pt x="1891" y="223984"/>
                      <a:pt x="0" y="219420"/>
                      <a:pt x="0" y="214661"/>
                    </a:cubicBezTo>
                    <a:lnTo>
                      <a:pt x="0" y="17945"/>
                    </a:lnTo>
                    <a:cubicBezTo>
                      <a:pt x="0" y="13185"/>
                      <a:pt x="1891" y="8621"/>
                      <a:pt x="5256" y="5256"/>
                    </a:cubicBezTo>
                    <a:cubicBezTo>
                      <a:pt x="8621" y="1891"/>
                      <a:pt x="13185" y="0"/>
                      <a:pt x="1794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69084" cy="280230"/>
              </a:xfrm>
              <a:prstGeom prst="rect">
                <a:avLst/>
              </a:prstGeom>
            </p:spPr>
            <p:txBody>
              <a:bodyPr lIns="57769" tIns="57769" rIns="57769" bIns="5776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0392937" y="7219389"/>
            <a:ext cx="7409925" cy="184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Support and improvement of working memory skills in children with working memory disorder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622" y="431540"/>
            <a:ext cx="16188139" cy="136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Helios Bold"/>
                <a:ea typeface="Helios Bold"/>
                <a:cs typeface="Helios Bold"/>
                <a:sym typeface="Helios Bold"/>
              </a:rPr>
              <a:t>INDIVIDUAL STUDENTS’ COMPONENTS/CONTRIBUTIONS</a:t>
            </a:r>
          </a:p>
          <a:p>
            <a:pPr algn="ctr">
              <a:lnSpc>
                <a:spcPts val="5329"/>
              </a:lnSpc>
            </a:pPr>
            <a:endParaRPr lang="en-US" sz="4099" b="1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29532" y="7101353"/>
            <a:ext cx="7409925" cy="2156947"/>
            <a:chOff x="0" y="0"/>
            <a:chExt cx="9879900" cy="287592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136538" cy="2284252"/>
              <a:chOff x="0" y="0"/>
              <a:chExt cx="1993337" cy="4983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93337" cy="498360"/>
              </a:xfrm>
              <a:custGeom>
                <a:avLst/>
                <a:gdLst/>
                <a:ahLst/>
                <a:cxnLst/>
                <a:rect l="l" t="t" r="r" b="b"/>
                <a:pathLst>
                  <a:path w="1993337" h="498360">
                    <a:moveTo>
                      <a:pt x="29805" y="0"/>
                    </a:moveTo>
                    <a:lnTo>
                      <a:pt x="1963532" y="0"/>
                    </a:lnTo>
                    <a:cubicBezTo>
                      <a:pt x="1971436" y="0"/>
                      <a:pt x="1979018" y="3140"/>
                      <a:pt x="1984607" y="8730"/>
                    </a:cubicBezTo>
                    <a:cubicBezTo>
                      <a:pt x="1990197" y="14319"/>
                      <a:pt x="1993337" y="21901"/>
                      <a:pt x="1993337" y="29805"/>
                    </a:cubicBezTo>
                    <a:lnTo>
                      <a:pt x="1993337" y="468554"/>
                    </a:lnTo>
                    <a:cubicBezTo>
                      <a:pt x="1993337" y="485016"/>
                      <a:pt x="1979993" y="498360"/>
                      <a:pt x="1963532" y="498360"/>
                    </a:cubicBezTo>
                    <a:lnTo>
                      <a:pt x="29805" y="498360"/>
                    </a:lnTo>
                    <a:cubicBezTo>
                      <a:pt x="21901" y="498360"/>
                      <a:pt x="14319" y="495220"/>
                      <a:pt x="8730" y="489630"/>
                    </a:cubicBezTo>
                    <a:cubicBezTo>
                      <a:pt x="3140" y="484040"/>
                      <a:pt x="0" y="476459"/>
                      <a:pt x="0" y="468554"/>
                    </a:cubicBezTo>
                    <a:lnTo>
                      <a:pt x="0" y="29805"/>
                    </a:lnTo>
                    <a:cubicBezTo>
                      <a:pt x="0" y="21901"/>
                      <a:pt x="3140" y="14319"/>
                      <a:pt x="8730" y="8730"/>
                    </a:cubicBezTo>
                    <a:cubicBezTo>
                      <a:pt x="14319" y="3140"/>
                      <a:pt x="21901" y="0"/>
                      <a:pt x="2980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993337" cy="545985"/>
              </a:xfrm>
              <a:prstGeom prst="rect">
                <a:avLst/>
              </a:prstGeom>
            </p:spPr>
            <p:txBody>
              <a:bodyPr lIns="52304" tIns="52304" rIns="52304" bIns="5230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1508" y="248249"/>
              <a:ext cx="8253522" cy="170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4"/>
                </a:lnSpc>
                <a:spcBef>
                  <a:spcPct val="0"/>
                </a:spcBef>
              </a:pPr>
              <a:r>
                <a:rPr lang="en-US" sz="3717">
                  <a:solidFill>
                    <a:srgbClr val="F7FBFF"/>
                  </a:solidFill>
                  <a:latin typeface="Helios"/>
                  <a:ea typeface="Helios"/>
                  <a:cs typeface="Helios"/>
                  <a:sym typeface="Helios"/>
                </a:rPr>
                <a:t>Game based Dyscalculia intervention module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9879900" cy="2875929"/>
              <a:chOff x="0" y="0"/>
              <a:chExt cx="769084" cy="22387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9084" cy="223872"/>
              </a:xfrm>
              <a:custGeom>
                <a:avLst/>
                <a:gdLst/>
                <a:ahLst/>
                <a:cxnLst/>
                <a:rect l="l" t="t" r="r" b="b"/>
                <a:pathLst>
                  <a:path w="769084" h="223872">
                    <a:moveTo>
                      <a:pt x="17945" y="0"/>
                    </a:moveTo>
                    <a:lnTo>
                      <a:pt x="751140" y="0"/>
                    </a:lnTo>
                    <a:cubicBezTo>
                      <a:pt x="755899" y="0"/>
                      <a:pt x="760463" y="1891"/>
                      <a:pt x="763829" y="5256"/>
                    </a:cubicBezTo>
                    <a:cubicBezTo>
                      <a:pt x="767194" y="8621"/>
                      <a:pt x="769084" y="13185"/>
                      <a:pt x="769084" y="17945"/>
                    </a:cubicBezTo>
                    <a:lnTo>
                      <a:pt x="769084" y="205927"/>
                    </a:lnTo>
                    <a:cubicBezTo>
                      <a:pt x="769084" y="210687"/>
                      <a:pt x="767194" y="215251"/>
                      <a:pt x="763829" y="218616"/>
                    </a:cubicBezTo>
                    <a:cubicBezTo>
                      <a:pt x="760463" y="221981"/>
                      <a:pt x="755899" y="223872"/>
                      <a:pt x="751140" y="223872"/>
                    </a:cubicBezTo>
                    <a:lnTo>
                      <a:pt x="17945" y="223872"/>
                    </a:lnTo>
                    <a:cubicBezTo>
                      <a:pt x="13185" y="223872"/>
                      <a:pt x="8621" y="221981"/>
                      <a:pt x="5256" y="218616"/>
                    </a:cubicBezTo>
                    <a:cubicBezTo>
                      <a:pt x="1891" y="215251"/>
                      <a:pt x="0" y="210687"/>
                      <a:pt x="0" y="205927"/>
                    </a:cubicBezTo>
                    <a:lnTo>
                      <a:pt x="0" y="17945"/>
                    </a:lnTo>
                    <a:cubicBezTo>
                      <a:pt x="0" y="13185"/>
                      <a:pt x="1891" y="8621"/>
                      <a:pt x="5256" y="5256"/>
                    </a:cubicBezTo>
                    <a:cubicBezTo>
                      <a:pt x="8621" y="1891"/>
                      <a:pt x="13185" y="0"/>
                      <a:pt x="1794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69084" cy="271497"/>
              </a:xfrm>
              <a:prstGeom prst="rect">
                <a:avLst/>
              </a:prstGeom>
            </p:spPr>
            <p:txBody>
              <a:bodyPr lIns="57769" tIns="57769" rIns="57769" bIns="5776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92132"/>
              <a:ext cx="9879900" cy="1608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Game based Dyscalculia intervention module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4456217" y="7782336"/>
            <a:ext cx="4040881" cy="2272996"/>
          </a:xfrm>
          <a:custGeom>
            <a:avLst/>
            <a:gdLst/>
            <a:ahLst/>
            <a:cxnLst/>
            <a:rect l="l" t="t" r="r" b="b"/>
            <a:pathLst>
              <a:path w="4040881" h="2272996">
                <a:moveTo>
                  <a:pt x="0" y="0"/>
                </a:moveTo>
                <a:lnTo>
                  <a:pt x="4040882" y="0"/>
                </a:lnTo>
                <a:lnTo>
                  <a:pt x="4040882" y="2272996"/>
                </a:lnTo>
                <a:lnTo>
                  <a:pt x="0" y="227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2" name="Group 22"/>
          <p:cNvGrpSpPr/>
          <p:nvPr/>
        </p:nvGrpSpPr>
        <p:grpSpPr>
          <a:xfrm>
            <a:off x="529532" y="2211529"/>
            <a:ext cx="7409925" cy="2638483"/>
            <a:chOff x="0" y="0"/>
            <a:chExt cx="9879900" cy="3517977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9136538" cy="2284252"/>
              <a:chOff x="0" y="0"/>
              <a:chExt cx="1993337" cy="4983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93337" cy="498360"/>
              </a:xfrm>
              <a:custGeom>
                <a:avLst/>
                <a:gdLst/>
                <a:ahLst/>
                <a:cxnLst/>
                <a:rect l="l" t="t" r="r" b="b"/>
                <a:pathLst>
                  <a:path w="1993337" h="498360">
                    <a:moveTo>
                      <a:pt x="29805" y="0"/>
                    </a:moveTo>
                    <a:lnTo>
                      <a:pt x="1963532" y="0"/>
                    </a:lnTo>
                    <a:cubicBezTo>
                      <a:pt x="1971436" y="0"/>
                      <a:pt x="1979018" y="3140"/>
                      <a:pt x="1984607" y="8730"/>
                    </a:cubicBezTo>
                    <a:cubicBezTo>
                      <a:pt x="1990197" y="14319"/>
                      <a:pt x="1993337" y="21901"/>
                      <a:pt x="1993337" y="29805"/>
                    </a:cubicBezTo>
                    <a:lnTo>
                      <a:pt x="1993337" y="468554"/>
                    </a:lnTo>
                    <a:cubicBezTo>
                      <a:pt x="1993337" y="485016"/>
                      <a:pt x="1979993" y="498360"/>
                      <a:pt x="1963532" y="498360"/>
                    </a:cubicBezTo>
                    <a:lnTo>
                      <a:pt x="29805" y="498360"/>
                    </a:lnTo>
                    <a:cubicBezTo>
                      <a:pt x="21901" y="498360"/>
                      <a:pt x="14319" y="495220"/>
                      <a:pt x="8730" y="489630"/>
                    </a:cubicBezTo>
                    <a:cubicBezTo>
                      <a:pt x="3140" y="484040"/>
                      <a:pt x="0" y="476459"/>
                      <a:pt x="0" y="468554"/>
                    </a:cubicBezTo>
                    <a:lnTo>
                      <a:pt x="0" y="29805"/>
                    </a:lnTo>
                    <a:cubicBezTo>
                      <a:pt x="0" y="21901"/>
                      <a:pt x="3140" y="14319"/>
                      <a:pt x="8730" y="8730"/>
                    </a:cubicBezTo>
                    <a:cubicBezTo>
                      <a:pt x="14319" y="3140"/>
                      <a:pt x="21901" y="0"/>
                      <a:pt x="2980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1993337" cy="545985"/>
              </a:xfrm>
              <a:prstGeom prst="rect">
                <a:avLst/>
              </a:prstGeom>
            </p:spPr>
            <p:txBody>
              <a:bodyPr lIns="52304" tIns="52304" rIns="52304" bIns="5230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41508" y="248249"/>
              <a:ext cx="8253522" cy="170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4"/>
                </a:lnSpc>
                <a:spcBef>
                  <a:spcPct val="0"/>
                </a:spcBef>
              </a:pPr>
              <a:r>
                <a:rPr lang="en-US" sz="3717">
                  <a:solidFill>
                    <a:srgbClr val="F7FBFF"/>
                  </a:solidFill>
                  <a:latin typeface="Helios"/>
                  <a:ea typeface="Helios"/>
                  <a:cs typeface="Helios"/>
                  <a:sym typeface="Helios"/>
                </a:rPr>
                <a:t>Game based Dyscalculia intervention module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0" y="0"/>
              <a:ext cx="9879900" cy="3517977"/>
              <a:chOff x="0" y="0"/>
              <a:chExt cx="769084" cy="2738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69084" cy="273851"/>
              </a:xfrm>
              <a:custGeom>
                <a:avLst/>
                <a:gdLst/>
                <a:ahLst/>
                <a:cxnLst/>
                <a:rect l="l" t="t" r="r" b="b"/>
                <a:pathLst>
                  <a:path w="769084" h="273851">
                    <a:moveTo>
                      <a:pt x="17945" y="0"/>
                    </a:moveTo>
                    <a:lnTo>
                      <a:pt x="751140" y="0"/>
                    </a:lnTo>
                    <a:cubicBezTo>
                      <a:pt x="755899" y="0"/>
                      <a:pt x="760463" y="1891"/>
                      <a:pt x="763829" y="5256"/>
                    </a:cubicBezTo>
                    <a:cubicBezTo>
                      <a:pt x="767194" y="8621"/>
                      <a:pt x="769084" y="13185"/>
                      <a:pt x="769084" y="17945"/>
                    </a:cubicBezTo>
                    <a:lnTo>
                      <a:pt x="769084" y="255906"/>
                    </a:lnTo>
                    <a:cubicBezTo>
                      <a:pt x="769084" y="260666"/>
                      <a:pt x="767194" y="265230"/>
                      <a:pt x="763829" y="268595"/>
                    </a:cubicBezTo>
                    <a:cubicBezTo>
                      <a:pt x="760463" y="271960"/>
                      <a:pt x="755899" y="273851"/>
                      <a:pt x="751140" y="273851"/>
                    </a:cubicBezTo>
                    <a:lnTo>
                      <a:pt x="17945" y="273851"/>
                    </a:lnTo>
                    <a:cubicBezTo>
                      <a:pt x="13185" y="273851"/>
                      <a:pt x="8621" y="271960"/>
                      <a:pt x="5256" y="268595"/>
                    </a:cubicBezTo>
                    <a:cubicBezTo>
                      <a:pt x="1891" y="265230"/>
                      <a:pt x="0" y="260666"/>
                      <a:pt x="0" y="255906"/>
                    </a:cubicBezTo>
                    <a:lnTo>
                      <a:pt x="0" y="17945"/>
                    </a:lnTo>
                    <a:cubicBezTo>
                      <a:pt x="0" y="13185"/>
                      <a:pt x="1891" y="8621"/>
                      <a:pt x="5256" y="5256"/>
                    </a:cubicBezTo>
                    <a:cubicBezTo>
                      <a:pt x="8621" y="1891"/>
                      <a:pt x="13185" y="0"/>
                      <a:pt x="1794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769084" cy="321476"/>
              </a:xfrm>
              <a:prstGeom prst="rect">
                <a:avLst/>
              </a:prstGeom>
            </p:spPr>
            <p:txBody>
              <a:bodyPr lIns="57769" tIns="57769" rIns="57769" bIns="5776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0" y="492132"/>
              <a:ext cx="9879900" cy="2434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Adaptive mobile learning and intervention module for children with Dyslexia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4829326" y="1142740"/>
            <a:ext cx="3110130" cy="1491158"/>
          </a:xfrm>
          <a:custGeom>
            <a:avLst/>
            <a:gdLst/>
            <a:ahLst/>
            <a:cxnLst/>
            <a:rect l="l" t="t" r="r" b="b"/>
            <a:pathLst>
              <a:path w="3110130" h="1491158">
                <a:moveTo>
                  <a:pt x="0" y="0"/>
                </a:moveTo>
                <a:lnTo>
                  <a:pt x="3110130" y="0"/>
                </a:lnTo>
                <a:lnTo>
                  <a:pt x="3110130" y="1491158"/>
                </a:lnTo>
                <a:lnTo>
                  <a:pt x="0" y="1491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2" name="Group 32"/>
          <p:cNvGrpSpPr/>
          <p:nvPr/>
        </p:nvGrpSpPr>
        <p:grpSpPr>
          <a:xfrm>
            <a:off x="10219393" y="2211529"/>
            <a:ext cx="7409925" cy="2156947"/>
            <a:chOff x="0" y="0"/>
            <a:chExt cx="9879900" cy="2875929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9136538" cy="2284252"/>
              <a:chOff x="0" y="0"/>
              <a:chExt cx="1993337" cy="4983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993337" cy="498360"/>
              </a:xfrm>
              <a:custGeom>
                <a:avLst/>
                <a:gdLst/>
                <a:ahLst/>
                <a:cxnLst/>
                <a:rect l="l" t="t" r="r" b="b"/>
                <a:pathLst>
                  <a:path w="1993337" h="498360">
                    <a:moveTo>
                      <a:pt x="29805" y="0"/>
                    </a:moveTo>
                    <a:lnTo>
                      <a:pt x="1963532" y="0"/>
                    </a:lnTo>
                    <a:cubicBezTo>
                      <a:pt x="1971436" y="0"/>
                      <a:pt x="1979018" y="3140"/>
                      <a:pt x="1984607" y="8730"/>
                    </a:cubicBezTo>
                    <a:cubicBezTo>
                      <a:pt x="1990197" y="14319"/>
                      <a:pt x="1993337" y="21901"/>
                      <a:pt x="1993337" y="29805"/>
                    </a:cubicBezTo>
                    <a:lnTo>
                      <a:pt x="1993337" y="468554"/>
                    </a:lnTo>
                    <a:cubicBezTo>
                      <a:pt x="1993337" y="485016"/>
                      <a:pt x="1979993" y="498360"/>
                      <a:pt x="1963532" y="498360"/>
                    </a:cubicBezTo>
                    <a:lnTo>
                      <a:pt x="29805" y="498360"/>
                    </a:lnTo>
                    <a:cubicBezTo>
                      <a:pt x="21901" y="498360"/>
                      <a:pt x="14319" y="495220"/>
                      <a:pt x="8730" y="489630"/>
                    </a:cubicBezTo>
                    <a:cubicBezTo>
                      <a:pt x="3140" y="484040"/>
                      <a:pt x="0" y="476459"/>
                      <a:pt x="0" y="468554"/>
                    </a:cubicBezTo>
                    <a:lnTo>
                      <a:pt x="0" y="29805"/>
                    </a:lnTo>
                    <a:cubicBezTo>
                      <a:pt x="0" y="21901"/>
                      <a:pt x="3140" y="14319"/>
                      <a:pt x="8730" y="8730"/>
                    </a:cubicBezTo>
                    <a:cubicBezTo>
                      <a:pt x="14319" y="3140"/>
                      <a:pt x="21901" y="0"/>
                      <a:pt x="2980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993337" cy="545985"/>
              </a:xfrm>
              <a:prstGeom prst="rect">
                <a:avLst/>
              </a:prstGeom>
            </p:spPr>
            <p:txBody>
              <a:bodyPr lIns="52304" tIns="52304" rIns="52304" bIns="5230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41508" y="248249"/>
              <a:ext cx="8253522" cy="1702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04"/>
                </a:lnSpc>
                <a:spcBef>
                  <a:spcPct val="0"/>
                </a:spcBef>
              </a:pPr>
              <a:r>
                <a:rPr lang="en-US" sz="3717">
                  <a:solidFill>
                    <a:srgbClr val="F7FBFF"/>
                  </a:solidFill>
                  <a:latin typeface="Helios"/>
                  <a:ea typeface="Helios"/>
                  <a:cs typeface="Helios"/>
                  <a:sym typeface="Helios"/>
                </a:rPr>
                <a:t>Game based Dyscalculia intervention module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0"/>
              <a:ext cx="9879900" cy="2875929"/>
              <a:chOff x="0" y="0"/>
              <a:chExt cx="769084" cy="22387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769084" cy="223872"/>
              </a:xfrm>
              <a:custGeom>
                <a:avLst/>
                <a:gdLst/>
                <a:ahLst/>
                <a:cxnLst/>
                <a:rect l="l" t="t" r="r" b="b"/>
                <a:pathLst>
                  <a:path w="769084" h="223872">
                    <a:moveTo>
                      <a:pt x="17945" y="0"/>
                    </a:moveTo>
                    <a:lnTo>
                      <a:pt x="751140" y="0"/>
                    </a:lnTo>
                    <a:cubicBezTo>
                      <a:pt x="755899" y="0"/>
                      <a:pt x="760463" y="1891"/>
                      <a:pt x="763829" y="5256"/>
                    </a:cubicBezTo>
                    <a:cubicBezTo>
                      <a:pt x="767194" y="8621"/>
                      <a:pt x="769084" y="13185"/>
                      <a:pt x="769084" y="17945"/>
                    </a:cubicBezTo>
                    <a:lnTo>
                      <a:pt x="769084" y="205927"/>
                    </a:lnTo>
                    <a:cubicBezTo>
                      <a:pt x="769084" y="210687"/>
                      <a:pt x="767194" y="215251"/>
                      <a:pt x="763829" y="218616"/>
                    </a:cubicBezTo>
                    <a:cubicBezTo>
                      <a:pt x="760463" y="221981"/>
                      <a:pt x="755899" y="223872"/>
                      <a:pt x="751140" y="223872"/>
                    </a:cubicBezTo>
                    <a:lnTo>
                      <a:pt x="17945" y="223872"/>
                    </a:lnTo>
                    <a:cubicBezTo>
                      <a:pt x="13185" y="223872"/>
                      <a:pt x="8621" y="221981"/>
                      <a:pt x="5256" y="218616"/>
                    </a:cubicBezTo>
                    <a:cubicBezTo>
                      <a:pt x="1891" y="215251"/>
                      <a:pt x="0" y="210687"/>
                      <a:pt x="0" y="205927"/>
                    </a:cubicBezTo>
                    <a:lnTo>
                      <a:pt x="0" y="17945"/>
                    </a:lnTo>
                    <a:cubicBezTo>
                      <a:pt x="0" y="13185"/>
                      <a:pt x="1891" y="8621"/>
                      <a:pt x="5256" y="5256"/>
                    </a:cubicBezTo>
                    <a:cubicBezTo>
                      <a:pt x="8621" y="1891"/>
                      <a:pt x="13185" y="0"/>
                      <a:pt x="17945" y="0"/>
                    </a:cubicBezTo>
                    <a:close/>
                  </a:path>
                </a:pathLst>
              </a:custGeom>
              <a:solidFill>
                <a:srgbClr val="9ABCDF"/>
              </a:soli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769084" cy="271497"/>
              </a:xfrm>
              <a:prstGeom prst="rect">
                <a:avLst/>
              </a:prstGeom>
            </p:spPr>
            <p:txBody>
              <a:bodyPr lIns="57769" tIns="57769" rIns="57769" bIns="5776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0" y="492132"/>
              <a:ext cx="9879900" cy="1608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Game based dysgraphia intervention module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5411967" y="1028700"/>
            <a:ext cx="2876033" cy="1919946"/>
          </a:xfrm>
          <a:custGeom>
            <a:avLst/>
            <a:gdLst/>
            <a:ahLst/>
            <a:cxnLst/>
            <a:rect l="l" t="t" r="r" b="b"/>
            <a:pathLst>
              <a:path w="2876033" h="1919946">
                <a:moveTo>
                  <a:pt x="0" y="0"/>
                </a:moveTo>
                <a:lnTo>
                  <a:pt x="2876033" y="0"/>
                </a:lnTo>
                <a:lnTo>
                  <a:pt x="2876033" y="1919946"/>
                </a:lnTo>
                <a:lnTo>
                  <a:pt x="0" y="1919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2" name="Freeform 42"/>
          <p:cNvSpPr/>
          <p:nvPr/>
        </p:nvSpPr>
        <p:spPr>
          <a:xfrm>
            <a:off x="6117505" y="8179827"/>
            <a:ext cx="2516028" cy="2107173"/>
          </a:xfrm>
          <a:custGeom>
            <a:avLst/>
            <a:gdLst/>
            <a:ahLst/>
            <a:cxnLst/>
            <a:rect l="l" t="t" r="r" b="b"/>
            <a:pathLst>
              <a:path w="2516028" h="2107173">
                <a:moveTo>
                  <a:pt x="0" y="0"/>
                </a:moveTo>
                <a:lnTo>
                  <a:pt x="2516028" y="0"/>
                </a:lnTo>
                <a:lnTo>
                  <a:pt x="2516028" y="2107173"/>
                </a:lnTo>
                <a:lnTo>
                  <a:pt x="0" y="2107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3" name="Freeform 43"/>
          <p:cNvSpPr/>
          <p:nvPr/>
        </p:nvSpPr>
        <p:spPr>
          <a:xfrm>
            <a:off x="6117505" y="3667536"/>
            <a:ext cx="4610420" cy="4114800"/>
          </a:xfrm>
          <a:custGeom>
            <a:avLst/>
            <a:gdLst/>
            <a:ahLst/>
            <a:cxnLst/>
            <a:rect l="l" t="t" r="r" b="b"/>
            <a:pathLst>
              <a:path w="4610420" h="4114800">
                <a:moveTo>
                  <a:pt x="0" y="0"/>
                </a:moveTo>
                <a:lnTo>
                  <a:pt x="4610421" y="0"/>
                </a:lnTo>
                <a:lnTo>
                  <a:pt x="46104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0477">
            <a:off x="13270974" y="66702"/>
            <a:ext cx="5029942" cy="5029942"/>
          </a:xfrm>
          <a:custGeom>
            <a:avLst/>
            <a:gdLst/>
            <a:ahLst/>
            <a:cxnLst/>
            <a:rect l="l" t="t" r="r" b="b"/>
            <a:pathLst>
              <a:path w="5029942" h="5029942">
                <a:moveTo>
                  <a:pt x="0" y="0"/>
                </a:moveTo>
                <a:lnTo>
                  <a:pt x="5029942" y="0"/>
                </a:lnTo>
                <a:lnTo>
                  <a:pt x="5029942" y="5029942"/>
                </a:lnTo>
                <a:lnTo>
                  <a:pt x="0" y="5029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996356" y="1642017"/>
            <a:ext cx="7353127" cy="56041"/>
            <a:chOff x="0" y="0"/>
            <a:chExt cx="278383" cy="21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383" cy="2122"/>
            </a:xfrm>
            <a:custGeom>
              <a:avLst/>
              <a:gdLst/>
              <a:ahLst/>
              <a:cxnLst/>
              <a:rect l="l" t="t" r="r" b="b"/>
              <a:pathLst>
                <a:path w="278383" h="2122">
                  <a:moveTo>
                    <a:pt x="1061" y="0"/>
                  </a:moveTo>
                  <a:lnTo>
                    <a:pt x="277322" y="0"/>
                  </a:lnTo>
                  <a:cubicBezTo>
                    <a:pt x="277603" y="0"/>
                    <a:pt x="277873" y="112"/>
                    <a:pt x="278072" y="311"/>
                  </a:cubicBezTo>
                  <a:cubicBezTo>
                    <a:pt x="278271" y="510"/>
                    <a:pt x="278383" y="779"/>
                    <a:pt x="278383" y="1061"/>
                  </a:cubicBezTo>
                  <a:lnTo>
                    <a:pt x="278383" y="1061"/>
                  </a:lnTo>
                  <a:cubicBezTo>
                    <a:pt x="278383" y="1342"/>
                    <a:pt x="278271" y="1612"/>
                    <a:pt x="278072" y="1811"/>
                  </a:cubicBezTo>
                  <a:cubicBezTo>
                    <a:pt x="277873" y="2010"/>
                    <a:pt x="277603" y="2122"/>
                    <a:pt x="277322" y="2122"/>
                  </a:cubicBezTo>
                  <a:lnTo>
                    <a:pt x="1061" y="2122"/>
                  </a:lnTo>
                  <a:cubicBezTo>
                    <a:pt x="779" y="2122"/>
                    <a:pt x="510" y="2010"/>
                    <a:pt x="311" y="1811"/>
                  </a:cubicBezTo>
                  <a:cubicBezTo>
                    <a:pt x="112" y="1612"/>
                    <a:pt x="0" y="1342"/>
                    <a:pt x="0" y="1061"/>
                  </a:cubicBezTo>
                  <a:lnTo>
                    <a:pt x="0" y="1061"/>
                  </a:lnTo>
                  <a:cubicBezTo>
                    <a:pt x="0" y="779"/>
                    <a:pt x="112" y="510"/>
                    <a:pt x="311" y="311"/>
                  </a:cubicBezTo>
                  <a:cubicBezTo>
                    <a:pt x="510" y="112"/>
                    <a:pt x="779" y="0"/>
                    <a:pt x="1061" y="0"/>
                  </a:cubicBez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8383" cy="49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481" y="470848"/>
            <a:ext cx="4367092" cy="1290206"/>
            <a:chOff x="0" y="0"/>
            <a:chExt cx="5822789" cy="1720274"/>
          </a:xfrm>
        </p:grpSpPr>
        <p:sp>
          <p:nvSpPr>
            <p:cNvPr id="11" name="Freeform 11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3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812964" y="608363"/>
            <a:ext cx="3945962" cy="394596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5126" y="0"/>
                  </a:moveTo>
                  <a:lnTo>
                    <a:pt x="767674" y="0"/>
                  </a:lnTo>
                  <a:cubicBezTo>
                    <a:pt x="779642" y="0"/>
                    <a:pt x="791120" y="4754"/>
                    <a:pt x="799583" y="13217"/>
                  </a:cubicBezTo>
                  <a:cubicBezTo>
                    <a:pt x="808046" y="21680"/>
                    <a:pt x="812800" y="33158"/>
                    <a:pt x="812800" y="45126"/>
                  </a:cubicBezTo>
                  <a:lnTo>
                    <a:pt x="812800" y="767674"/>
                  </a:lnTo>
                  <a:cubicBezTo>
                    <a:pt x="812800" y="779642"/>
                    <a:pt x="808046" y="791120"/>
                    <a:pt x="799583" y="799583"/>
                  </a:cubicBezTo>
                  <a:cubicBezTo>
                    <a:pt x="791120" y="808046"/>
                    <a:pt x="779642" y="812800"/>
                    <a:pt x="767674" y="812800"/>
                  </a:cubicBezTo>
                  <a:lnTo>
                    <a:pt x="45126" y="812800"/>
                  </a:lnTo>
                  <a:cubicBezTo>
                    <a:pt x="33158" y="812800"/>
                    <a:pt x="21680" y="808046"/>
                    <a:pt x="13217" y="799583"/>
                  </a:cubicBezTo>
                  <a:cubicBezTo>
                    <a:pt x="4754" y="791120"/>
                    <a:pt x="0" y="779642"/>
                    <a:pt x="0" y="767674"/>
                  </a:cubicBezTo>
                  <a:lnTo>
                    <a:pt x="0" y="45126"/>
                  </a:lnTo>
                  <a:cubicBezTo>
                    <a:pt x="0" y="33158"/>
                    <a:pt x="4754" y="21680"/>
                    <a:pt x="13217" y="13217"/>
                  </a:cubicBezTo>
                  <a:cubicBezTo>
                    <a:pt x="21680" y="4754"/>
                    <a:pt x="33158" y="0"/>
                    <a:pt x="45126" y="0"/>
                  </a:cubicBezTo>
                  <a:close/>
                </a:path>
              </a:pathLst>
            </a:custGeom>
            <a:blipFill>
              <a:blip r:embed="rId4"/>
              <a:stretch>
                <a:fillRect t="-10408" b="-22924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595" y="1914381"/>
            <a:ext cx="11324202" cy="666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0"/>
              </a:lnSpc>
            </a:pPr>
            <a:r>
              <a:rPr lang="en-US" sz="4600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H.A.P.D MADHURANGI-IT22252418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6142" y="2790894"/>
            <a:ext cx="12320980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learning and intervention module for children with Dyslexia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6768" y="7332286"/>
            <a:ext cx="18288000" cy="2856097"/>
            <a:chOff x="0" y="0"/>
            <a:chExt cx="4816593" cy="7522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752223"/>
            </a:xfrm>
            <a:custGeom>
              <a:avLst/>
              <a:gdLst/>
              <a:ahLst/>
              <a:cxnLst/>
              <a:rect l="l" t="t" r="r" b="b"/>
              <a:pathLst>
                <a:path w="4816592" h="752223">
                  <a:moveTo>
                    <a:pt x="0" y="0"/>
                  </a:moveTo>
                  <a:lnTo>
                    <a:pt x="4816592" y="0"/>
                  </a:lnTo>
                  <a:lnTo>
                    <a:pt x="4816592" y="752223"/>
                  </a:lnTo>
                  <a:lnTo>
                    <a:pt x="0" y="752223"/>
                  </a:ln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4816593" cy="818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proposed system introduces an AI-based Sinhala voice-interactive dyslexia learning module that evaluates children's pronunciation using speech-to-text and response time analysis to detect reading difficulties.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7481" y="4309179"/>
            <a:ext cx="15496616" cy="3023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Conducts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voice-based reading assessments</a:t>
            </a: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 for Sinhala words.</a:t>
            </a:r>
          </a:p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Detects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pronunciation errors and reading delays</a:t>
            </a: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</a:p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Measures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reading fluency using pronunciation response time</a:t>
            </a: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</a:p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Provides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adaptive game-based learning activities</a:t>
            </a: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 based on the child’s performance.</a:t>
            </a:r>
          </a:p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Enables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progress monitoring through parent and therapist dashboards</a:t>
            </a: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.</a:t>
            </a:r>
          </a:p>
          <a:p>
            <a:pPr marL="604531" lvl="1" indent="-302265" algn="l">
              <a:lnSpc>
                <a:spcPts val="3584"/>
              </a:lnSpc>
              <a:buFont typeface="Arial"/>
              <a:buChar char="•"/>
            </a:pPr>
            <a:r>
              <a:rPr lang="en-US" sz="2800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Supports </a:t>
            </a: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intervention for dyslexia in Sinhala-medium children</a:t>
            </a:r>
          </a:p>
          <a:p>
            <a:pPr algn="l">
              <a:lnSpc>
                <a:spcPts val="2688"/>
              </a:lnSpc>
            </a:pPr>
            <a:endParaRPr lang="en-US" sz="2800" b="1">
              <a:solidFill>
                <a:srgbClr val="0101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2403927"/>
            <a:ext cx="7617193" cy="6854373"/>
          </a:xfrm>
          <a:custGeom>
            <a:avLst/>
            <a:gdLst/>
            <a:ahLst/>
            <a:cxnLst/>
            <a:rect l="l" t="t" r="r" b="b"/>
            <a:pathLst>
              <a:path w="7617193" h="6854373">
                <a:moveTo>
                  <a:pt x="0" y="0"/>
                </a:moveTo>
                <a:lnTo>
                  <a:pt x="7617193" y="0"/>
                </a:lnTo>
                <a:lnTo>
                  <a:pt x="7617193" y="6854373"/>
                </a:lnTo>
                <a:lnTo>
                  <a:pt x="0" y="6854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76" t="-647" b="-647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1" name="Freeform 11"/>
          <p:cNvSpPr/>
          <p:nvPr/>
        </p:nvSpPr>
        <p:spPr>
          <a:xfrm>
            <a:off x="1028700" y="2536864"/>
            <a:ext cx="7429760" cy="1034081"/>
          </a:xfrm>
          <a:custGeom>
            <a:avLst/>
            <a:gdLst/>
            <a:ahLst/>
            <a:cxnLst/>
            <a:rect l="l" t="t" r="r" b="b"/>
            <a:pathLst>
              <a:path w="7429760" h="1034081">
                <a:moveTo>
                  <a:pt x="0" y="0"/>
                </a:moveTo>
                <a:lnTo>
                  <a:pt x="7429760" y="0"/>
                </a:lnTo>
                <a:lnTo>
                  <a:pt x="742976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35" r="-49119" b="-113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669008" y="603928"/>
            <a:ext cx="16590292" cy="124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learning and intervention module for children with Dyslexia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1859" y="9648825"/>
            <a:ext cx="499758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IT22252418|H.A.P.D.Madhurangi | R26-IT-114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3650" y="2712592"/>
            <a:ext cx="644375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THE PROBLEM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1859" y="3723628"/>
            <a:ext cx="6465033" cy="508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No early detection tools for Sinhala-speaking children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High cost of professional dyslexia assessments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Existing apps focus on English - no Sinhala support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No voice-based pronunciation evaluation tools</a:t>
            </a:r>
          </a:p>
          <a:p>
            <a:pPr marL="626104" lvl="1" indent="-313052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Delayed diagnosis impacts academic confidence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9545948" y="2403927"/>
            <a:ext cx="7356182" cy="6854373"/>
          </a:xfrm>
          <a:custGeom>
            <a:avLst/>
            <a:gdLst/>
            <a:ahLst/>
            <a:cxnLst/>
            <a:rect l="l" t="t" r="r" b="b"/>
            <a:pathLst>
              <a:path w="7356182" h="6854373">
                <a:moveTo>
                  <a:pt x="0" y="0"/>
                </a:moveTo>
                <a:lnTo>
                  <a:pt x="7356182" y="0"/>
                </a:lnTo>
                <a:lnTo>
                  <a:pt x="7356182" y="6854373"/>
                </a:lnTo>
                <a:lnTo>
                  <a:pt x="0" y="6854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49" r="-6649" b="-847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Freeform 17"/>
          <p:cNvSpPr/>
          <p:nvPr/>
        </p:nvSpPr>
        <p:spPr>
          <a:xfrm>
            <a:off x="9545948" y="2610565"/>
            <a:ext cx="7356182" cy="1034081"/>
          </a:xfrm>
          <a:custGeom>
            <a:avLst/>
            <a:gdLst/>
            <a:ahLst/>
            <a:cxnLst/>
            <a:rect l="l" t="t" r="r" b="b"/>
            <a:pathLst>
              <a:path w="7356182" h="1034081">
                <a:moveTo>
                  <a:pt x="0" y="0"/>
                </a:moveTo>
                <a:lnTo>
                  <a:pt x="7356182" y="0"/>
                </a:lnTo>
                <a:lnTo>
                  <a:pt x="7356182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726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8" name="TextBox 18"/>
          <p:cNvSpPr txBox="1"/>
          <p:nvPr/>
        </p:nvSpPr>
        <p:spPr>
          <a:xfrm>
            <a:off x="9856238" y="2831276"/>
            <a:ext cx="6443756" cy="116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MAIN OBJECTIVE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965519" y="3733153"/>
            <a:ext cx="6758445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 an AI-based Sinhala voice-interactive dyslexia learning module that evaluates pronunciation accuracy and provides adaptive learning activities for children aged 6–8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45948" y="5467904"/>
            <a:ext cx="7356182" cy="653564"/>
          </a:xfrm>
          <a:custGeom>
            <a:avLst/>
            <a:gdLst/>
            <a:ahLst/>
            <a:cxnLst/>
            <a:rect l="l" t="t" r="r" b="b"/>
            <a:pathLst>
              <a:path w="7356182" h="653564">
                <a:moveTo>
                  <a:pt x="0" y="0"/>
                </a:moveTo>
                <a:lnTo>
                  <a:pt x="7356182" y="0"/>
                </a:lnTo>
                <a:lnTo>
                  <a:pt x="7356182" y="653563"/>
                </a:lnTo>
                <a:lnTo>
                  <a:pt x="0" y="653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14" r="-50644" b="-6003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1" name="TextBox 21"/>
          <p:cNvSpPr txBox="1"/>
          <p:nvPr/>
        </p:nvSpPr>
        <p:spPr>
          <a:xfrm>
            <a:off x="9856238" y="5501919"/>
            <a:ext cx="6443756" cy="1162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Sub OBJECTIVES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3300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45948" y="6047718"/>
            <a:ext cx="7356182" cy="364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154" lvl="1" indent="-280577" algn="l">
              <a:lnSpc>
                <a:spcPts val="363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Voice-based pronunciation assessment (speech-to-text)</a:t>
            </a:r>
          </a:p>
          <a:p>
            <a:pPr marL="561154" lvl="1" indent="-280577" algn="l">
              <a:lnSpc>
                <a:spcPts val="363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Reading fluency via response time measurement</a:t>
            </a:r>
          </a:p>
          <a:p>
            <a:pPr marL="561154" lvl="1" indent="-280577" algn="l">
              <a:lnSpc>
                <a:spcPts val="363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Adaptive game-based learning activities</a:t>
            </a:r>
          </a:p>
          <a:p>
            <a:pPr marL="561154" lvl="1" indent="-280577" algn="l">
              <a:lnSpc>
                <a:spcPts val="363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Intelligent learner level detection</a:t>
            </a:r>
          </a:p>
          <a:p>
            <a:pPr marL="561154" lvl="1" indent="-280577" algn="l">
              <a:lnSpc>
                <a:spcPts val="3638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 &amp; therapist progress dashboard</a:t>
            </a:r>
          </a:p>
          <a:p>
            <a:pPr algn="l">
              <a:lnSpc>
                <a:spcPts val="3638"/>
              </a:lnSpc>
            </a:pPr>
            <a:endParaRPr lang="en-US" sz="25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625651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9008" y="516160"/>
            <a:ext cx="16590292" cy="119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learning and intervention module for children with Dyslexia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70225" y="9670576"/>
            <a:ext cx="499758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IT22252418|H.A.P.D.Madhurangi | R26-IT-114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44177" y="3319018"/>
            <a:ext cx="10061122" cy="5752535"/>
            <a:chOff x="0" y="0"/>
            <a:chExt cx="13414830" cy="7670047"/>
          </a:xfrm>
        </p:grpSpPr>
        <p:sp>
          <p:nvSpPr>
            <p:cNvPr id="13" name="Freeform 13"/>
            <p:cNvSpPr/>
            <p:nvPr/>
          </p:nvSpPr>
          <p:spPr>
            <a:xfrm>
              <a:off x="1252527" y="634292"/>
              <a:ext cx="1655368" cy="1507442"/>
            </a:xfrm>
            <a:custGeom>
              <a:avLst/>
              <a:gdLst/>
              <a:ahLst/>
              <a:cxnLst/>
              <a:rect l="l" t="t" r="r" b="b"/>
              <a:pathLst>
                <a:path w="1655368" h="1507442">
                  <a:moveTo>
                    <a:pt x="0" y="0"/>
                  </a:moveTo>
                  <a:lnTo>
                    <a:pt x="1655369" y="0"/>
                  </a:lnTo>
                  <a:lnTo>
                    <a:pt x="1655369" y="1507442"/>
                  </a:lnTo>
                  <a:lnTo>
                    <a:pt x="0" y="150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054492" y="0"/>
              <a:ext cx="2068657" cy="1268584"/>
            </a:xfrm>
            <a:custGeom>
              <a:avLst/>
              <a:gdLst/>
              <a:ahLst/>
              <a:cxnLst/>
              <a:rect l="l" t="t" r="r" b="b"/>
              <a:pathLst>
                <a:path w="2068657" h="1268584">
                  <a:moveTo>
                    <a:pt x="0" y="0"/>
                  </a:moveTo>
                  <a:lnTo>
                    <a:pt x="2068657" y="0"/>
                  </a:lnTo>
                  <a:lnTo>
                    <a:pt x="2068657" y="1268584"/>
                  </a:lnTo>
                  <a:lnTo>
                    <a:pt x="0" y="126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42486" y="3024471"/>
              <a:ext cx="2265410" cy="1961845"/>
            </a:xfrm>
            <a:custGeom>
              <a:avLst/>
              <a:gdLst/>
              <a:ahLst/>
              <a:cxnLst/>
              <a:rect l="l" t="t" r="r" b="b"/>
              <a:pathLst>
                <a:path w="2265410" h="1961845">
                  <a:moveTo>
                    <a:pt x="0" y="0"/>
                  </a:moveTo>
                  <a:lnTo>
                    <a:pt x="2265410" y="0"/>
                  </a:lnTo>
                  <a:lnTo>
                    <a:pt x="2265410" y="1961845"/>
                  </a:lnTo>
                  <a:lnTo>
                    <a:pt x="0" y="1961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686524" y="5220555"/>
              <a:ext cx="1998744" cy="1998744"/>
            </a:xfrm>
            <a:custGeom>
              <a:avLst/>
              <a:gdLst/>
              <a:ahLst/>
              <a:cxnLst/>
              <a:rect l="l" t="t" r="r" b="b"/>
              <a:pathLst>
                <a:path w="1998744" h="1998744">
                  <a:moveTo>
                    <a:pt x="0" y="0"/>
                  </a:moveTo>
                  <a:lnTo>
                    <a:pt x="1998744" y="0"/>
                  </a:lnTo>
                  <a:lnTo>
                    <a:pt x="1998744" y="1998744"/>
                  </a:lnTo>
                  <a:lnTo>
                    <a:pt x="0" y="19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279162" y="323842"/>
              <a:ext cx="1668554" cy="1668554"/>
            </a:xfrm>
            <a:custGeom>
              <a:avLst/>
              <a:gdLst/>
              <a:ahLst/>
              <a:cxnLst/>
              <a:rect l="l" t="t" r="r" b="b"/>
              <a:pathLst>
                <a:path w="1668554" h="1668554">
                  <a:moveTo>
                    <a:pt x="0" y="0"/>
                  </a:moveTo>
                  <a:lnTo>
                    <a:pt x="1668554" y="0"/>
                  </a:lnTo>
                  <a:lnTo>
                    <a:pt x="1668554" y="1668554"/>
                  </a:lnTo>
                  <a:lnTo>
                    <a:pt x="0" y="1668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523884" y="5220555"/>
              <a:ext cx="1510555" cy="1438311"/>
            </a:xfrm>
            <a:custGeom>
              <a:avLst/>
              <a:gdLst/>
              <a:ahLst/>
              <a:cxnLst/>
              <a:rect l="l" t="t" r="r" b="b"/>
              <a:pathLst>
                <a:path w="1510555" h="1438311">
                  <a:moveTo>
                    <a:pt x="0" y="0"/>
                  </a:moveTo>
                  <a:lnTo>
                    <a:pt x="1510555" y="0"/>
                  </a:lnTo>
                  <a:lnTo>
                    <a:pt x="1510555" y="1438311"/>
                  </a:lnTo>
                  <a:lnTo>
                    <a:pt x="0" y="143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378876" y="3024471"/>
              <a:ext cx="2284537" cy="1523025"/>
            </a:xfrm>
            <a:custGeom>
              <a:avLst/>
              <a:gdLst/>
              <a:ahLst/>
              <a:cxnLst/>
              <a:rect l="l" t="t" r="r" b="b"/>
              <a:pathLst>
                <a:path w="2284537" h="1523025">
                  <a:moveTo>
                    <a:pt x="0" y="0"/>
                  </a:moveTo>
                  <a:lnTo>
                    <a:pt x="2284537" y="0"/>
                  </a:lnTo>
                  <a:lnTo>
                    <a:pt x="2284537" y="1523024"/>
                  </a:lnTo>
                  <a:lnTo>
                    <a:pt x="0" y="152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033" y="2134847"/>
              <a:ext cx="2970357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Frontend:React.js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85896" y="1329058"/>
              <a:ext cx="2970357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Backend:Node.js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47112" y="4792776"/>
              <a:ext cx="3467718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Speech Processing</a:t>
              </a: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5549126" y="1756836"/>
              <a:ext cx="1074610" cy="1285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485922" y="2335187"/>
              <a:ext cx="2063204" cy="97884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907896" y="3666906"/>
              <a:ext cx="2641230" cy="11907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AutoShape 26"/>
            <p:cNvSpPr/>
            <p:nvPr/>
          </p:nvSpPr>
          <p:spPr>
            <a:xfrm flipV="1">
              <a:off x="5172351" y="4399827"/>
              <a:ext cx="971279" cy="11113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7" name="AutoShape 27"/>
            <p:cNvSpPr/>
            <p:nvPr/>
          </p:nvSpPr>
          <p:spPr>
            <a:xfrm flipH="1" flipV="1">
              <a:off x="7656253" y="4399827"/>
              <a:ext cx="867632" cy="111904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8132093" y="3785983"/>
              <a:ext cx="224678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5091091"/>
              <a:ext cx="3550382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Database:Mongo DB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7896" y="7210095"/>
              <a:ext cx="3550382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Database:Firebase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4812" y="1794689"/>
              <a:ext cx="3467718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Cloud Storage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13959" y="6797768"/>
              <a:ext cx="4130406" cy="872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AI Development:Python with TensorFlow</a:t>
              </a:r>
            </a:p>
          </p:txBody>
        </p:sp>
        <p:sp>
          <p:nvSpPr>
            <p:cNvPr id="33" name="AutoShape 33"/>
            <p:cNvSpPr/>
            <p:nvPr/>
          </p:nvSpPr>
          <p:spPr>
            <a:xfrm flipH="1">
              <a:off x="8132093" y="1842314"/>
              <a:ext cx="1274660" cy="11996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34" name="Freeform 34"/>
          <p:cNvSpPr/>
          <p:nvPr/>
        </p:nvSpPr>
        <p:spPr>
          <a:xfrm>
            <a:off x="669008" y="2217180"/>
            <a:ext cx="6649790" cy="6854373"/>
          </a:xfrm>
          <a:custGeom>
            <a:avLst/>
            <a:gdLst/>
            <a:ahLst/>
            <a:cxnLst/>
            <a:rect l="l" t="t" r="r" b="b"/>
            <a:pathLst>
              <a:path w="6649790" h="6854373">
                <a:moveTo>
                  <a:pt x="0" y="0"/>
                </a:moveTo>
                <a:lnTo>
                  <a:pt x="6649790" y="0"/>
                </a:lnTo>
                <a:lnTo>
                  <a:pt x="6649790" y="6854373"/>
                </a:lnTo>
                <a:lnTo>
                  <a:pt x="0" y="68543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919" t="-647" r="-11121" b="-647"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5" name="Group 35"/>
          <p:cNvGrpSpPr/>
          <p:nvPr/>
        </p:nvGrpSpPr>
        <p:grpSpPr>
          <a:xfrm>
            <a:off x="1999820" y="5500538"/>
            <a:ext cx="3782130" cy="1018413"/>
            <a:chOff x="0" y="0"/>
            <a:chExt cx="778216" cy="2095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78216" cy="209550"/>
            </a:xfrm>
            <a:custGeom>
              <a:avLst/>
              <a:gdLst/>
              <a:ahLst/>
              <a:cxnLst/>
              <a:rect l="l" t="t" r="r" b="b"/>
              <a:pathLst>
                <a:path w="778216" h="209550">
                  <a:moveTo>
                    <a:pt x="39980" y="0"/>
                  </a:moveTo>
                  <a:lnTo>
                    <a:pt x="738236" y="0"/>
                  </a:lnTo>
                  <a:cubicBezTo>
                    <a:pt x="748839" y="0"/>
                    <a:pt x="759008" y="4212"/>
                    <a:pt x="766506" y="11710"/>
                  </a:cubicBezTo>
                  <a:cubicBezTo>
                    <a:pt x="774004" y="19208"/>
                    <a:pt x="778216" y="29377"/>
                    <a:pt x="778216" y="39980"/>
                  </a:cubicBezTo>
                  <a:lnTo>
                    <a:pt x="778216" y="169570"/>
                  </a:lnTo>
                  <a:cubicBezTo>
                    <a:pt x="778216" y="180173"/>
                    <a:pt x="774004" y="190342"/>
                    <a:pt x="766506" y="197840"/>
                  </a:cubicBezTo>
                  <a:cubicBezTo>
                    <a:pt x="759008" y="205338"/>
                    <a:pt x="748839" y="209550"/>
                    <a:pt x="738236" y="209550"/>
                  </a:cubicBezTo>
                  <a:lnTo>
                    <a:pt x="39980" y="209550"/>
                  </a:lnTo>
                  <a:cubicBezTo>
                    <a:pt x="29377" y="209550"/>
                    <a:pt x="19208" y="205338"/>
                    <a:pt x="11710" y="197840"/>
                  </a:cubicBezTo>
                  <a:cubicBezTo>
                    <a:pt x="4212" y="190342"/>
                    <a:pt x="0" y="180173"/>
                    <a:pt x="0" y="169570"/>
                  </a:cubicBezTo>
                  <a:lnTo>
                    <a:pt x="0" y="39980"/>
                  </a:lnTo>
                  <a:cubicBezTo>
                    <a:pt x="0" y="29377"/>
                    <a:pt x="4212" y="19208"/>
                    <a:pt x="11710" y="11710"/>
                  </a:cubicBezTo>
                  <a:cubicBezTo>
                    <a:pt x="19208" y="4212"/>
                    <a:pt x="29377" y="0"/>
                    <a:pt x="39980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78216" cy="25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AI &amp; Speech Recognition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12817" y="7010535"/>
            <a:ext cx="3956137" cy="1018413"/>
            <a:chOff x="0" y="0"/>
            <a:chExt cx="814020" cy="2095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4020" cy="209550"/>
            </a:xfrm>
            <a:custGeom>
              <a:avLst/>
              <a:gdLst/>
              <a:ahLst/>
              <a:cxnLst/>
              <a:rect l="l" t="t" r="r" b="b"/>
              <a:pathLst>
                <a:path w="814020" h="209550">
                  <a:moveTo>
                    <a:pt x="38221" y="0"/>
                  </a:moveTo>
                  <a:lnTo>
                    <a:pt x="775799" y="0"/>
                  </a:lnTo>
                  <a:cubicBezTo>
                    <a:pt x="785935" y="0"/>
                    <a:pt x="795657" y="4027"/>
                    <a:pt x="802825" y="11195"/>
                  </a:cubicBezTo>
                  <a:cubicBezTo>
                    <a:pt x="809993" y="18363"/>
                    <a:pt x="814020" y="28085"/>
                    <a:pt x="814020" y="38221"/>
                  </a:cubicBezTo>
                  <a:lnTo>
                    <a:pt x="814020" y="171329"/>
                  </a:lnTo>
                  <a:cubicBezTo>
                    <a:pt x="814020" y="181465"/>
                    <a:pt x="809993" y="191187"/>
                    <a:pt x="802825" y="198355"/>
                  </a:cubicBezTo>
                  <a:cubicBezTo>
                    <a:pt x="795657" y="205523"/>
                    <a:pt x="785935" y="209550"/>
                    <a:pt x="775799" y="209550"/>
                  </a:cubicBezTo>
                  <a:lnTo>
                    <a:pt x="38221" y="209550"/>
                  </a:lnTo>
                  <a:cubicBezTo>
                    <a:pt x="28085" y="209550"/>
                    <a:pt x="18363" y="205523"/>
                    <a:pt x="11195" y="198355"/>
                  </a:cubicBezTo>
                  <a:cubicBezTo>
                    <a:pt x="4027" y="191187"/>
                    <a:pt x="0" y="181465"/>
                    <a:pt x="0" y="171329"/>
                  </a:cubicBezTo>
                  <a:lnTo>
                    <a:pt x="0" y="38221"/>
                  </a:lnTo>
                  <a:cubicBezTo>
                    <a:pt x="0" y="28085"/>
                    <a:pt x="4027" y="18363"/>
                    <a:pt x="11195" y="11195"/>
                  </a:cubicBezTo>
                  <a:cubicBezTo>
                    <a:pt x="18363" y="4027"/>
                    <a:pt x="28085" y="0"/>
                    <a:pt x="38221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81402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Human–Computer Interaction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82583" y="3933162"/>
            <a:ext cx="3216606" cy="1018413"/>
            <a:chOff x="0" y="0"/>
            <a:chExt cx="661853" cy="2095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1853" cy="209550"/>
            </a:xfrm>
            <a:custGeom>
              <a:avLst/>
              <a:gdLst/>
              <a:ahLst/>
              <a:cxnLst/>
              <a:rect l="l" t="t" r="r" b="b"/>
              <a:pathLst>
                <a:path w="661853" h="209550">
                  <a:moveTo>
                    <a:pt x="47009" y="0"/>
                  </a:moveTo>
                  <a:lnTo>
                    <a:pt x="614844" y="0"/>
                  </a:lnTo>
                  <a:cubicBezTo>
                    <a:pt x="627312" y="0"/>
                    <a:pt x="639268" y="4953"/>
                    <a:pt x="648084" y="13769"/>
                  </a:cubicBezTo>
                  <a:cubicBezTo>
                    <a:pt x="656900" y="22585"/>
                    <a:pt x="661853" y="34541"/>
                    <a:pt x="661853" y="47009"/>
                  </a:cubicBezTo>
                  <a:lnTo>
                    <a:pt x="661853" y="162541"/>
                  </a:lnTo>
                  <a:cubicBezTo>
                    <a:pt x="661853" y="175009"/>
                    <a:pt x="656900" y="186965"/>
                    <a:pt x="648084" y="195781"/>
                  </a:cubicBezTo>
                  <a:cubicBezTo>
                    <a:pt x="639268" y="204597"/>
                    <a:pt x="627312" y="209550"/>
                    <a:pt x="614844" y="209550"/>
                  </a:cubicBezTo>
                  <a:lnTo>
                    <a:pt x="47009" y="209550"/>
                  </a:lnTo>
                  <a:cubicBezTo>
                    <a:pt x="34541" y="209550"/>
                    <a:pt x="22585" y="204597"/>
                    <a:pt x="13769" y="195781"/>
                  </a:cubicBezTo>
                  <a:cubicBezTo>
                    <a:pt x="4953" y="186965"/>
                    <a:pt x="0" y="175009"/>
                    <a:pt x="0" y="162541"/>
                  </a:cubicBezTo>
                  <a:lnTo>
                    <a:pt x="0" y="47009"/>
                  </a:lnTo>
                  <a:cubicBezTo>
                    <a:pt x="0" y="34541"/>
                    <a:pt x="4953" y="22585"/>
                    <a:pt x="13769" y="13769"/>
                  </a:cubicBezTo>
                  <a:cubicBezTo>
                    <a:pt x="22585" y="4953"/>
                    <a:pt x="34541" y="0"/>
                    <a:pt x="47009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661853" cy="25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EdTech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669008" y="2350117"/>
            <a:ext cx="6649790" cy="1034081"/>
          </a:xfrm>
          <a:custGeom>
            <a:avLst/>
            <a:gdLst/>
            <a:ahLst/>
            <a:cxnLst/>
            <a:rect l="l" t="t" r="r" b="b"/>
            <a:pathLst>
              <a:path w="6649790" h="1034081">
                <a:moveTo>
                  <a:pt x="0" y="0"/>
                </a:moveTo>
                <a:lnTo>
                  <a:pt x="6649790" y="0"/>
                </a:lnTo>
                <a:lnTo>
                  <a:pt x="664979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480" t="-1135" r="-64129" b="-113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5" name="TextBox 45"/>
          <p:cNvSpPr txBox="1"/>
          <p:nvPr/>
        </p:nvSpPr>
        <p:spPr>
          <a:xfrm>
            <a:off x="669008" y="2525845"/>
            <a:ext cx="644375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Domain Knowledge</a:t>
            </a:r>
          </a:p>
        </p:txBody>
      </p:sp>
      <p:sp>
        <p:nvSpPr>
          <p:cNvPr id="46" name="Freeform 46"/>
          <p:cNvSpPr/>
          <p:nvPr/>
        </p:nvSpPr>
        <p:spPr>
          <a:xfrm>
            <a:off x="9449843" y="2284937"/>
            <a:ext cx="6649790" cy="1034081"/>
          </a:xfrm>
          <a:custGeom>
            <a:avLst/>
            <a:gdLst/>
            <a:ahLst/>
            <a:cxnLst/>
            <a:rect l="l" t="t" r="r" b="b"/>
            <a:pathLst>
              <a:path w="6649790" h="1034081">
                <a:moveTo>
                  <a:pt x="0" y="0"/>
                </a:moveTo>
                <a:lnTo>
                  <a:pt x="6649790" y="0"/>
                </a:lnTo>
                <a:lnTo>
                  <a:pt x="664979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480" t="-1135" r="-64129" b="-113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7" name="TextBox 47"/>
          <p:cNvSpPr txBox="1"/>
          <p:nvPr/>
        </p:nvSpPr>
        <p:spPr>
          <a:xfrm>
            <a:off x="9655877" y="2460664"/>
            <a:ext cx="644375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Technologies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1813274" y="5068320"/>
            <a:ext cx="2128962" cy="2128962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LK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Technologies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603928"/>
            <a:ext cx="18288000" cy="124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learning and intervention module for children with Dyslexia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4109" y="2101169"/>
            <a:ext cx="8973089" cy="1225469"/>
          </a:xfrm>
          <a:custGeom>
            <a:avLst/>
            <a:gdLst/>
            <a:ahLst/>
            <a:cxnLst/>
            <a:rect l="l" t="t" r="r" b="b"/>
            <a:pathLst>
              <a:path w="8973089" h="1225469">
                <a:moveTo>
                  <a:pt x="0" y="0"/>
                </a:moveTo>
                <a:lnTo>
                  <a:pt x="8973089" y="0"/>
                </a:lnTo>
                <a:lnTo>
                  <a:pt x="8973089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01" r="-53692" b="-2168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1590522" y="9648825"/>
            <a:ext cx="4900256" cy="659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IT22252418|H.A.P.D .Madhurangi | R26-IT-114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2366" y="2493352"/>
            <a:ext cx="6010180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Validation Metrics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4109" y="3509285"/>
            <a:ext cx="8973089" cy="381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Technical: 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Compare system vs expert evaluation results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Educational: 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Measure fluency, accuracy &amp; phonological awareness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Usability: 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SUS scale testing with children, parents &amp; therapists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46650" y="3509285"/>
            <a:ext cx="8341350" cy="433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Parental consent required before data collection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Children's identities fully anonymized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Encrypted data transfer (HTTPS) &amp; restricted access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used exclusively for research purposes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946650" y="2101169"/>
            <a:ext cx="8180812" cy="1225469"/>
          </a:xfrm>
          <a:custGeom>
            <a:avLst/>
            <a:gdLst/>
            <a:ahLst/>
            <a:cxnLst/>
            <a:rect l="l" t="t" r="r" b="b"/>
            <a:pathLst>
              <a:path w="8180812" h="1225469">
                <a:moveTo>
                  <a:pt x="0" y="0"/>
                </a:moveTo>
                <a:lnTo>
                  <a:pt x="8180812" y="0"/>
                </a:lnTo>
                <a:lnTo>
                  <a:pt x="8180812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64" r="-42737" b="-119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TextBox 17"/>
          <p:cNvSpPr txBox="1"/>
          <p:nvPr/>
        </p:nvSpPr>
        <p:spPr>
          <a:xfrm>
            <a:off x="11031966" y="2044541"/>
            <a:ext cx="6010180" cy="124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 Availability, Security, and Ethical Clearance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625651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683052" y="2690558"/>
            <a:ext cx="14392512" cy="7569687"/>
          </a:xfrm>
          <a:custGeom>
            <a:avLst/>
            <a:gdLst/>
            <a:ahLst/>
            <a:cxnLst/>
            <a:rect l="l" t="t" r="r" b="b"/>
            <a:pathLst>
              <a:path w="14392512" h="7569687">
                <a:moveTo>
                  <a:pt x="0" y="0"/>
                </a:moveTo>
                <a:lnTo>
                  <a:pt x="14392512" y="0"/>
                </a:lnTo>
                <a:lnTo>
                  <a:pt x="14392512" y="7569687"/>
                </a:lnTo>
                <a:lnTo>
                  <a:pt x="0" y="7569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75" b="-347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1" name="TextBox 11"/>
          <p:cNvSpPr txBox="1"/>
          <p:nvPr/>
        </p:nvSpPr>
        <p:spPr>
          <a:xfrm>
            <a:off x="669008" y="516160"/>
            <a:ext cx="16590292" cy="119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LEARNING AND INTERVENTION MODULE FOR CHILDREN WITH DYSLEXIA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70225" y="9670576"/>
            <a:ext cx="499758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IT22252418|H.A.P.D.Madhurangi | R26-IT-114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70351" y="1709114"/>
            <a:ext cx="6997330" cy="9065172"/>
            <a:chOff x="0" y="0"/>
            <a:chExt cx="9329773" cy="12086896"/>
          </a:xfrm>
        </p:grpSpPr>
        <p:sp>
          <p:nvSpPr>
            <p:cNvPr id="14" name="Freeform 14"/>
            <p:cNvSpPr/>
            <p:nvPr/>
          </p:nvSpPr>
          <p:spPr>
            <a:xfrm>
              <a:off x="412916" y="0"/>
              <a:ext cx="8363911" cy="11583777"/>
            </a:xfrm>
            <a:custGeom>
              <a:avLst/>
              <a:gdLst/>
              <a:ahLst/>
              <a:cxnLst/>
              <a:rect l="l" t="t" r="r" b="b"/>
              <a:pathLst>
                <a:path w="8363911" h="11583777">
                  <a:moveTo>
                    <a:pt x="0" y="0"/>
                  </a:moveTo>
                  <a:lnTo>
                    <a:pt x="8363911" y="0"/>
                  </a:lnTo>
                  <a:lnTo>
                    <a:pt x="8363911" y="11583777"/>
                  </a:lnTo>
                  <a:lnTo>
                    <a:pt x="0" y="11583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263" t="-2983" r="-44618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82329"/>
              <a:ext cx="9329773" cy="1378775"/>
            </a:xfrm>
            <a:custGeom>
              <a:avLst/>
              <a:gdLst/>
              <a:ahLst/>
              <a:cxnLst/>
              <a:rect l="l" t="t" r="r" b="b"/>
              <a:pathLst>
                <a:path w="9329773" h="1378775">
                  <a:moveTo>
                    <a:pt x="0" y="0"/>
                  </a:moveTo>
                  <a:lnTo>
                    <a:pt x="9329773" y="0"/>
                  </a:lnTo>
                  <a:lnTo>
                    <a:pt x="9329773" y="1378775"/>
                  </a:lnTo>
                  <a:lnTo>
                    <a:pt x="0" y="1378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06" r="-58555" b="-1206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2916" y="1847679"/>
              <a:ext cx="8363911" cy="10239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Sinhala Instructions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- Provides clear voice instructions in Sinhala for all memory games.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Dashboard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- Displays child’s performance trends, progress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Adaptive Task Adjustment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Notifications &amp; Reminders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 – Alerts for incomplete tasks or scheduled practice sessions.</a:t>
              </a:r>
            </a:p>
            <a:p>
              <a:pPr algn="l">
                <a:lnSpc>
                  <a:spcPts val="4705"/>
                </a:lnSpc>
                <a:spcBef>
                  <a:spcPct val="0"/>
                </a:spcBef>
              </a:pPr>
              <a:endPara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042792" y="1963486"/>
            <a:ext cx="6010180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Common components </a:t>
            </a:r>
          </a:p>
        </p:txBody>
      </p:sp>
      <p:sp>
        <p:nvSpPr>
          <p:cNvPr id="18" name="Freeform 18"/>
          <p:cNvSpPr/>
          <p:nvPr/>
        </p:nvSpPr>
        <p:spPr>
          <a:xfrm>
            <a:off x="2364367" y="1833796"/>
            <a:ext cx="6997330" cy="1034081"/>
          </a:xfrm>
          <a:custGeom>
            <a:avLst/>
            <a:gdLst/>
            <a:ahLst/>
            <a:cxnLst/>
            <a:rect l="l" t="t" r="r" b="b"/>
            <a:pathLst>
              <a:path w="6997330" h="1034081">
                <a:moveTo>
                  <a:pt x="0" y="0"/>
                </a:moveTo>
                <a:lnTo>
                  <a:pt x="6997330" y="0"/>
                </a:lnTo>
                <a:lnTo>
                  <a:pt x="699733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06" r="-58555" b="-120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9" name="TextBox 19"/>
          <p:cNvSpPr txBox="1"/>
          <p:nvPr/>
        </p:nvSpPr>
        <p:spPr>
          <a:xfrm>
            <a:off x="3245350" y="2005071"/>
            <a:ext cx="5235363" cy="64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7"/>
              </a:lnSpc>
            </a:pPr>
            <a:r>
              <a:rPr lang="en-US" sz="3762" b="1">
                <a:solidFill>
                  <a:srgbClr val="1E1E1E"/>
                </a:solidFill>
                <a:latin typeface="Helios Bold"/>
                <a:ea typeface="Helios Bold"/>
                <a:cs typeface="Helios Bold"/>
                <a:sym typeface="Helios Bold"/>
              </a:rPr>
              <a:t>SYSTEM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8623806" y="-2431327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Freeform 7"/>
          <p:cNvSpPr/>
          <p:nvPr/>
        </p:nvSpPr>
        <p:spPr>
          <a:xfrm rot="8100000">
            <a:off x="13717368" y="9874991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8" name="Freeform 8"/>
          <p:cNvSpPr/>
          <p:nvPr/>
        </p:nvSpPr>
        <p:spPr>
          <a:xfrm rot="8100000">
            <a:off x="15131773" y="7667794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9" name="Group 9"/>
          <p:cNvGrpSpPr/>
          <p:nvPr/>
        </p:nvGrpSpPr>
        <p:grpSpPr>
          <a:xfrm rot="-2700000">
            <a:off x="16184273" y="7667781"/>
            <a:ext cx="5641848" cy="2550578"/>
            <a:chOff x="0" y="0"/>
            <a:chExt cx="1681125" cy="7600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25" cy="760006"/>
            </a:xfrm>
            <a:custGeom>
              <a:avLst/>
              <a:gdLst/>
              <a:ahLst/>
              <a:cxnLst/>
              <a:rect l="l" t="t" r="r" b="b"/>
              <a:pathLst>
                <a:path w="1681125" h="760006">
                  <a:moveTo>
                    <a:pt x="0" y="0"/>
                  </a:moveTo>
                  <a:lnTo>
                    <a:pt x="1681125" y="0"/>
                  </a:lnTo>
                  <a:lnTo>
                    <a:pt x="1681125" y="760006"/>
                  </a:lnTo>
                  <a:lnTo>
                    <a:pt x="0" y="760006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81125" cy="80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7481" y="470848"/>
            <a:ext cx="4367092" cy="1290206"/>
            <a:chOff x="0" y="0"/>
            <a:chExt cx="5822789" cy="1720274"/>
          </a:xfrm>
        </p:grpSpPr>
        <p:sp>
          <p:nvSpPr>
            <p:cNvPr id="13" name="Freeform 13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4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6506" y="2256354"/>
            <a:ext cx="1340011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Adaptive mobile numeracy learning and intervention module for children with Dyscalculia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725666" y="132795"/>
            <a:ext cx="4528416" cy="4554504"/>
            <a:chOff x="0" y="0"/>
            <a:chExt cx="851041" cy="8559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090664" y="478223"/>
            <a:ext cx="3945962" cy="39459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5126" y="0"/>
                  </a:moveTo>
                  <a:lnTo>
                    <a:pt x="767674" y="0"/>
                  </a:lnTo>
                  <a:cubicBezTo>
                    <a:pt x="779642" y="0"/>
                    <a:pt x="791120" y="4754"/>
                    <a:pt x="799583" y="13217"/>
                  </a:cubicBezTo>
                  <a:cubicBezTo>
                    <a:pt x="808046" y="21680"/>
                    <a:pt x="812800" y="33158"/>
                    <a:pt x="812800" y="45126"/>
                  </a:cubicBezTo>
                  <a:lnTo>
                    <a:pt x="812800" y="767674"/>
                  </a:lnTo>
                  <a:cubicBezTo>
                    <a:pt x="812800" y="779642"/>
                    <a:pt x="808046" y="791120"/>
                    <a:pt x="799583" y="799583"/>
                  </a:cubicBezTo>
                  <a:cubicBezTo>
                    <a:pt x="791120" y="808046"/>
                    <a:pt x="779642" y="812800"/>
                    <a:pt x="767674" y="812800"/>
                  </a:cubicBezTo>
                  <a:lnTo>
                    <a:pt x="45126" y="812800"/>
                  </a:lnTo>
                  <a:cubicBezTo>
                    <a:pt x="33158" y="812800"/>
                    <a:pt x="21680" y="808046"/>
                    <a:pt x="13217" y="799583"/>
                  </a:cubicBezTo>
                  <a:cubicBezTo>
                    <a:pt x="4754" y="791120"/>
                    <a:pt x="0" y="779642"/>
                    <a:pt x="0" y="767674"/>
                  </a:cubicBezTo>
                  <a:lnTo>
                    <a:pt x="0" y="45126"/>
                  </a:lnTo>
                  <a:cubicBezTo>
                    <a:pt x="0" y="33158"/>
                    <a:pt x="4754" y="21680"/>
                    <a:pt x="13217" y="13217"/>
                  </a:cubicBezTo>
                  <a:cubicBezTo>
                    <a:pt x="21680" y="4754"/>
                    <a:pt x="33158" y="0"/>
                    <a:pt x="45126" y="0"/>
                  </a:cubicBezTo>
                  <a:close/>
                </a:path>
              </a:pathLst>
            </a:custGeom>
            <a:blipFill>
              <a:blip r:embed="rId5"/>
              <a:stretch>
                <a:fillRect l="-37989" t="-32364" r="-3431" b="-56197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5398312"/>
            <a:ext cx="15095295" cy="207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Provides adaptive game-based numeracy activities to support children with dyscalculia in learning numbers and basic arithmetic.</a:t>
            </a: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Integrates multisensory learning techniques including visual objects, Sinhala audio guidance, and interactive touch-based activities.</a:t>
            </a: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Uses performance-based adaptive learning to automatically adjust difficulty levels according to the child’s progress.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1310" y="4515027"/>
            <a:ext cx="14616130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0" y="7792770"/>
            <a:ext cx="18288000" cy="2494230"/>
            <a:chOff x="0" y="0"/>
            <a:chExt cx="5449352" cy="7432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49353" cy="743216"/>
            </a:xfrm>
            <a:custGeom>
              <a:avLst/>
              <a:gdLst/>
              <a:ahLst/>
              <a:cxnLst/>
              <a:rect l="l" t="t" r="r" b="b"/>
              <a:pathLst>
                <a:path w="5449353" h="743216">
                  <a:moveTo>
                    <a:pt x="0" y="0"/>
                  </a:moveTo>
                  <a:lnTo>
                    <a:pt x="5449353" y="0"/>
                  </a:lnTo>
                  <a:lnTo>
                    <a:pt x="5449353" y="743216"/>
                  </a:lnTo>
                  <a:lnTo>
                    <a:pt x="0" y="743216"/>
                  </a:ln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449352" cy="79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07973" y="8366785"/>
            <a:ext cx="17438954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Integrates dyscalculia screening, adaptive game-based learning, and progress monitoring within a single mobile platform to support personalized numeracy skill development.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-134582" y="7769579"/>
            <a:ext cx="3025134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Novelty: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9008" y="603928"/>
            <a:ext cx="16590292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MODULE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412" y="9712107"/>
            <a:ext cx="655453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IT22062574  |   Abeysinghe A H M P D    |   R26-IT-114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54243" y="1615510"/>
            <a:ext cx="6876091" cy="8011902"/>
            <a:chOff x="0" y="0"/>
            <a:chExt cx="9168121" cy="1068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68121" cy="10682536"/>
            </a:xfrm>
            <a:custGeom>
              <a:avLst/>
              <a:gdLst/>
              <a:ahLst/>
              <a:cxnLst/>
              <a:rect l="l" t="t" r="r" b="b"/>
              <a:pathLst>
                <a:path w="9168121" h="10682536">
                  <a:moveTo>
                    <a:pt x="0" y="0"/>
                  </a:moveTo>
                  <a:lnTo>
                    <a:pt x="9168121" y="0"/>
                  </a:lnTo>
                  <a:lnTo>
                    <a:pt x="9168121" y="10682536"/>
                  </a:lnTo>
                  <a:lnTo>
                    <a:pt x="0" y="1068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4" r="-17378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06036" y="375028"/>
              <a:ext cx="8756049" cy="1225138"/>
            </a:xfrm>
            <a:custGeom>
              <a:avLst/>
              <a:gdLst/>
              <a:ahLst/>
              <a:cxnLst/>
              <a:rect l="l" t="t" r="r" b="b"/>
              <a:pathLst>
                <a:path w="8756049" h="1225138">
                  <a:moveTo>
                    <a:pt x="0" y="0"/>
                  </a:moveTo>
                  <a:lnTo>
                    <a:pt x="8756049" y="0"/>
                  </a:lnTo>
                  <a:lnTo>
                    <a:pt x="8756049" y="1225139"/>
                  </a:lnTo>
                  <a:lnTo>
                    <a:pt x="0" y="122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95" r="-58147" b="-9182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0682" y="2037301"/>
            <a:ext cx="6023213" cy="56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3"/>
              </a:lnSpc>
              <a:spcBef>
                <a:spcPct val="0"/>
              </a:spcBef>
            </a:pPr>
            <a:r>
              <a:rPr lang="en-US" sz="3195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THE PROBLEM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4184" y="2961517"/>
            <a:ext cx="6816151" cy="6391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Children with dyscalculia experience significant difficulties in understanding numbers and basic mathematical concepts.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Many learning applications focus on general mathematics practice but do not address specific numeracy deficits such as number sense and magnitude understanding.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Most available educational tools do not provide adaptive learning support based on the child’s performance.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There is also limited availability of multisensory and engaging digital learning tools designed specifically to support children with dyscalculia.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30334" y="1797792"/>
            <a:ext cx="10751453" cy="7671448"/>
          </a:xfrm>
          <a:custGeom>
            <a:avLst/>
            <a:gdLst/>
            <a:ahLst/>
            <a:cxnLst/>
            <a:rect l="l" t="t" r="r" b="b"/>
            <a:pathLst>
              <a:path w="10751453" h="7671448">
                <a:moveTo>
                  <a:pt x="0" y="0"/>
                </a:moveTo>
                <a:lnTo>
                  <a:pt x="10751453" y="0"/>
                </a:lnTo>
                <a:lnTo>
                  <a:pt x="10751453" y="7671448"/>
                </a:lnTo>
                <a:lnTo>
                  <a:pt x="0" y="7671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911" b="-9113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8" name="Freeform 18"/>
          <p:cNvSpPr/>
          <p:nvPr/>
        </p:nvSpPr>
        <p:spPr>
          <a:xfrm>
            <a:off x="7810114" y="1938882"/>
            <a:ext cx="9085893" cy="839571"/>
          </a:xfrm>
          <a:custGeom>
            <a:avLst/>
            <a:gdLst/>
            <a:ahLst/>
            <a:cxnLst/>
            <a:rect l="l" t="t" r="r" b="b"/>
            <a:pathLst>
              <a:path w="9085893" h="839571">
                <a:moveTo>
                  <a:pt x="0" y="0"/>
                </a:moveTo>
                <a:lnTo>
                  <a:pt x="9085893" y="0"/>
                </a:lnTo>
                <a:lnTo>
                  <a:pt x="9085893" y="839571"/>
                </a:lnTo>
                <a:lnTo>
                  <a:pt x="0" y="83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232" r="-37010" b="-2230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9" name="TextBox 19"/>
          <p:cNvSpPr txBox="1"/>
          <p:nvPr/>
        </p:nvSpPr>
        <p:spPr>
          <a:xfrm>
            <a:off x="9816739" y="2046826"/>
            <a:ext cx="5072643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MAIN OBJECTIVE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12722" y="2961517"/>
            <a:ext cx="9386678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 and develop an adaptive, game-based numeracy learning intervention system that identifies dyscalculia-related difficulties and provides personalized learning activities to improve number understanding and arithmetic skills for children aged 6–8 years.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7912722" y="4800662"/>
            <a:ext cx="8983285" cy="820799"/>
          </a:xfrm>
          <a:custGeom>
            <a:avLst/>
            <a:gdLst/>
            <a:ahLst/>
            <a:cxnLst/>
            <a:rect l="l" t="t" r="r" b="b"/>
            <a:pathLst>
              <a:path w="8983285" h="820799">
                <a:moveTo>
                  <a:pt x="0" y="0"/>
                </a:moveTo>
                <a:lnTo>
                  <a:pt x="8983285" y="0"/>
                </a:lnTo>
                <a:lnTo>
                  <a:pt x="8983285" y="820799"/>
                </a:lnTo>
                <a:lnTo>
                  <a:pt x="0" y="820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74" t="-6728" r="-30953" b="-35381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2" name="TextBox 22"/>
          <p:cNvSpPr txBox="1"/>
          <p:nvPr/>
        </p:nvSpPr>
        <p:spPr>
          <a:xfrm>
            <a:off x="9131183" y="4931923"/>
            <a:ext cx="644375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SUB OBJECTIVES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63039" y="5747492"/>
            <a:ext cx="9082651" cy="279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 numeracy assessment tasks for number recognition, counting, and basic arithmetic.</a:t>
            </a:r>
          </a:p>
          <a:p>
            <a:pPr algn="l">
              <a:lnSpc>
                <a:spcPts val="3218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Capture performance data (accuracy, response time, error patterns).</a:t>
            </a:r>
          </a:p>
          <a:p>
            <a:pPr algn="l">
              <a:lnSpc>
                <a:spcPts val="3218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Provide adaptive learning activities based on difficulty level.</a:t>
            </a:r>
          </a:p>
          <a:p>
            <a:pPr algn="l">
              <a:lnSpc>
                <a:spcPts val="3218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Support multisensory learning (visual objects, Sinhala audio, touch interaction).</a:t>
            </a:r>
          </a:p>
          <a:p>
            <a:pPr algn="l">
              <a:lnSpc>
                <a:spcPts val="3218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Enable progress monitoring dashboards for parents and teachers.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9008" y="544107"/>
            <a:ext cx="16590292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DYSCALCULIA INTERVENTION MODULE</a:t>
            </a:r>
          </a:p>
        </p:txBody>
      </p:sp>
      <p:sp>
        <p:nvSpPr>
          <p:cNvPr id="7" name="Freeform 7"/>
          <p:cNvSpPr/>
          <p:nvPr/>
        </p:nvSpPr>
        <p:spPr>
          <a:xfrm>
            <a:off x="391588" y="1137549"/>
            <a:ext cx="6460876" cy="8622183"/>
          </a:xfrm>
          <a:custGeom>
            <a:avLst/>
            <a:gdLst/>
            <a:ahLst/>
            <a:cxnLst/>
            <a:rect l="l" t="t" r="r" b="b"/>
            <a:pathLst>
              <a:path w="6460876" h="8622183">
                <a:moveTo>
                  <a:pt x="0" y="0"/>
                </a:moveTo>
                <a:lnTo>
                  <a:pt x="6460876" y="0"/>
                </a:lnTo>
                <a:lnTo>
                  <a:pt x="6460876" y="8622183"/>
                </a:lnTo>
                <a:lnTo>
                  <a:pt x="0" y="8622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424" r="-2717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8" name="Freeform 8"/>
          <p:cNvSpPr/>
          <p:nvPr/>
        </p:nvSpPr>
        <p:spPr>
          <a:xfrm>
            <a:off x="536784" y="1418820"/>
            <a:ext cx="6170484" cy="918854"/>
          </a:xfrm>
          <a:custGeom>
            <a:avLst/>
            <a:gdLst/>
            <a:ahLst/>
            <a:cxnLst/>
            <a:rect l="l" t="t" r="r" b="b"/>
            <a:pathLst>
              <a:path w="6170484" h="918854">
                <a:moveTo>
                  <a:pt x="0" y="0"/>
                </a:moveTo>
                <a:lnTo>
                  <a:pt x="6170484" y="0"/>
                </a:lnTo>
                <a:lnTo>
                  <a:pt x="6170484" y="918854"/>
                </a:lnTo>
                <a:lnTo>
                  <a:pt x="0" y="918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30" r="-65097" b="-918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9" name="Freeform 9"/>
          <p:cNvSpPr/>
          <p:nvPr/>
        </p:nvSpPr>
        <p:spPr>
          <a:xfrm>
            <a:off x="10049919" y="3939114"/>
            <a:ext cx="1241526" cy="1130581"/>
          </a:xfrm>
          <a:custGeom>
            <a:avLst/>
            <a:gdLst/>
            <a:ahLst/>
            <a:cxnLst/>
            <a:rect l="l" t="t" r="r" b="b"/>
            <a:pathLst>
              <a:path w="1241526" h="1130581">
                <a:moveTo>
                  <a:pt x="0" y="0"/>
                </a:moveTo>
                <a:lnTo>
                  <a:pt x="1241527" y="0"/>
                </a:lnTo>
                <a:lnTo>
                  <a:pt x="1241527" y="1130582"/>
                </a:lnTo>
                <a:lnTo>
                  <a:pt x="0" y="1130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0" name="Freeform 10"/>
          <p:cNvSpPr/>
          <p:nvPr/>
        </p:nvSpPr>
        <p:spPr>
          <a:xfrm>
            <a:off x="11901729" y="3363207"/>
            <a:ext cx="1551493" cy="951438"/>
          </a:xfrm>
          <a:custGeom>
            <a:avLst/>
            <a:gdLst/>
            <a:ahLst/>
            <a:cxnLst/>
            <a:rect l="l" t="t" r="r" b="b"/>
            <a:pathLst>
              <a:path w="1551493" h="951438">
                <a:moveTo>
                  <a:pt x="0" y="0"/>
                </a:moveTo>
                <a:lnTo>
                  <a:pt x="1551493" y="0"/>
                </a:lnTo>
                <a:lnTo>
                  <a:pt x="1551493" y="951438"/>
                </a:lnTo>
                <a:lnTo>
                  <a:pt x="0" y="951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1" name="Freeform 11"/>
          <p:cNvSpPr/>
          <p:nvPr/>
        </p:nvSpPr>
        <p:spPr>
          <a:xfrm>
            <a:off x="8173123" y="5725899"/>
            <a:ext cx="1699057" cy="1471384"/>
          </a:xfrm>
          <a:custGeom>
            <a:avLst/>
            <a:gdLst/>
            <a:ahLst/>
            <a:cxnLst/>
            <a:rect l="l" t="t" r="r" b="b"/>
            <a:pathLst>
              <a:path w="1699057" h="1471384">
                <a:moveTo>
                  <a:pt x="0" y="0"/>
                </a:moveTo>
                <a:lnTo>
                  <a:pt x="1699057" y="0"/>
                </a:lnTo>
                <a:lnTo>
                  <a:pt x="1699057" y="1471384"/>
                </a:lnTo>
                <a:lnTo>
                  <a:pt x="0" y="14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Freeform 12"/>
          <p:cNvSpPr/>
          <p:nvPr/>
        </p:nvSpPr>
        <p:spPr>
          <a:xfrm>
            <a:off x="9284179" y="7279194"/>
            <a:ext cx="1499058" cy="1499058"/>
          </a:xfrm>
          <a:custGeom>
            <a:avLst/>
            <a:gdLst/>
            <a:ahLst/>
            <a:cxnLst/>
            <a:rect l="l" t="t" r="r" b="b"/>
            <a:pathLst>
              <a:path w="1499058" h="1499058">
                <a:moveTo>
                  <a:pt x="0" y="0"/>
                </a:moveTo>
                <a:lnTo>
                  <a:pt x="1499059" y="0"/>
                </a:lnTo>
                <a:lnTo>
                  <a:pt x="1499059" y="1499059"/>
                </a:lnTo>
                <a:lnTo>
                  <a:pt x="0" y="14990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3" name="AutoShape 13"/>
          <p:cNvSpPr/>
          <p:nvPr/>
        </p:nvSpPr>
        <p:spPr>
          <a:xfrm>
            <a:off x="12677476" y="4314645"/>
            <a:ext cx="139388" cy="868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14" name="AutoShape 14"/>
          <p:cNvSpPr/>
          <p:nvPr/>
        </p:nvSpPr>
        <p:spPr>
          <a:xfrm>
            <a:off x="11291446" y="4504405"/>
            <a:ext cx="738645" cy="10266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15" name="AutoShape 15"/>
          <p:cNvSpPr/>
          <p:nvPr/>
        </p:nvSpPr>
        <p:spPr>
          <a:xfrm flipV="1">
            <a:off x="9872180" y="6248112"/>
            <a:ext cx="1880203" cy="2134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16" name="AutoShape 16"/>
          <p:cNvSpPr/>
          <p:nvPr/>
        </p:nvSpPr>
        <p:spPr>
          <a:xfrm flipV="1">
            <a:off x="10783238" y="6950499"/>
            <a:ext cx="1233750" cy="10782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Box 17"/>
          <p:cNvSpPr txBox="1"/>
          <p:nvPr/>
        </p:nvSpPr>
        <p:spPr>
          <a:xfrm>
            <a:off x="15000791" y="5214406"/>
            <a:ext cx="2600789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Cloud Storage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13658272" y="4314645"/>
            <a:ext cx="1614317" cy="12813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grpSp>
        <p:nvGrpSpPr>
          <p:cNvPr id="19" name="Group 19"/>
          <p:cNvGrpSpPr/>
          <p:nvPr/>
        </p:nvGrpSpPr>
        <p:grpSpPr>
          <a:xfrm>
            <a:off x="11752383" y="5183631"/>
            <a:ext cx="2128962" cy="21289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Technologies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272589" y="3407961"/>
            <a:ext cx="1813369" cy="1813369"/>
          </a:xfrm>
          <a:custGeom>
            <a:avLst/>
            <a:gdLst/>
            <a:ahLst/>
            <a:cxnLst/>
            <a:rect l="l" t="t" r="r" b="b"/>
            <a:pathLst>
              <a:path w="1813369" h="1813369">
                <a:moveTo>
                  <a:pt x="0" y="0"/>
                </a:moveTo>
                <a:lnTo>
                  <a:pt x="1813369" y="0"/>
                </a:lnTo>
                <a:lnTo>
                  <a:pt x="1813369" y="1813369"/>
                </a:lnTo>
                <a:lnTo>
                  <a:pt x="0" y="1813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3" name="Group 23"/>
          <p:cNvGrpSpPr/>
          <p:nvPr/>
        </p:nvGrpSpPr>
        <p:grpSpPr>
          <a:xfrm>
            <a:off x="9731622" y="1417868"/>
            <a:ext cx="6170484" cy="920759"/>
            <a:chOff x="0" y="0"/>
            <a:chExt cx="8227312" cy="12276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27312" cy="1227678"/>
            </a:xfrm>
            <a:custGeom>
              <a:avLst/>
              <a:gdLst/>
              <a:ahLst/>
              <a:cxnLst/>
              <a:rect l="l" t="t" r="r" b="b"/>
              <a:pathLst>
                <a:path w="8227312" h="1227678">
                  <a:moveTo>
                    <a:pt x="0" y="0"/>
                  </a:moveTo>
                  <a:lnTo>
                    <a:pt x="8227312" y="0"/>
                  </a:lnTo>
                  <a:lnTo>
                    <a:pt x="8227312" y="1227678"/>
                  </a:lnTo>
                  <a:lnTo>
                    <a:pt x="0" y="1227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44" r="-65335" b="-9182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657" y="210751"/>
              <a:ext cx="7545999" cy="729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Latest Technologies 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92277" y="1557833"/>
            <a:ext cx="5659499" cy="564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3"/>
              </a:lnSpc>
              <a:spcBef>
                <a:spcPct val="0"/>
              </a:spcBef>
            </a:pPr>
            <a:r>
              <a:rPr lang="en-US" sz="3195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Domain Knowledge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4829" y="2290049"/>
            <a:ext cx="5419705" cy="7146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Modular design, component-based architecture, and scalable backend development.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  <a:endParaRPr lang="en-US" sz="252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3540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Numeracy performance analysis for evaluating number recognition, counting ability, and arithmetic understanding.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  <a:endParaRPr lang="en-US" sz="252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3540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Performance data analysis using metrics such as accuracy, response time, and error patterns.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  <a:endParaRPr lang="en-US" sz="252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3540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Designing interactive numeracy games and child-friendly interfaces to improve learning engagement.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55470" y="3252729"/>
            <a:ext cx="222776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Frontend:React.js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94617" y="2825362"/>
            <a:ext cx="2227768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Backend:Node.js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09394" y="5369029"/>
            <a:ext cx="2662786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Database:Mongo DB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8659" y="8576005"/>
            <a:ext cx="2662786" cy="35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Database:Firebase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5137906" y="6880414"/>
            <a:ext cx="2619086" cy="1383539"/>
            <a:chOff x="0" y="0"/>
            <a:chExt cx="3492114" cy="1844719"/>
          </a:xfrm>
        </p:grpSpPr>
        <p:sp>
          <p:nvSpPr>
            <p:cNvPr id="33" name="Freeform 33"/>
            <p:cNvSpPr/>
            <p:nvPr/>
          </p:nvSpPr>
          <p:spPr>
            <a:xfrm>
              <a:off x="509213" y="0"/>
              <a:ext cx="2473688" cy="1298686"/>
            </a:xfrm>
            <a:custGeom>
              <a:avLst/>
              <a:gdLst/>
              <a:ahLst/>
              <a:cxnLst/>
              <a:rect l="l" t="t" r="r" b="b"/>
              <a:pathLst>
                <a:path w="2473688" h="1298686">
                  <a:moveTo>
                    <a:pt x="0" y="0"/>
                  </a:moveTo>
                  <a:lnTo>
                    <a:pt x="2473688" y="0"/>
                  </a:lnTo>
                  <a:lnTo>
                    <a:pt x="2473688" y="1298686"/>
                  </a:lnTo>
                  <a:lnTo>
                    <a:pt x="0" y="1298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394927"/>
              <a:ext cx="3492114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 dirty="0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  Text-to-Speech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3157229" y="8081681"/>
            <a:ext cx="1132916" cy="1078733"/>
          </a:xfrm>
          <a:custGeom>
            <a:avLst/>
            <a:gdLst/>
            <a:ahLst/>
            <a:cxnLst/>
            <a:rect l="l" t="t" r="r" b="b"/>
            <a:pathLst>
              <a:path w="1132916" h="1078733">
                <a:moveTo>
                  <a:pt x="0" y="0"/>
                </a:moveTo>
                <a:lnTo>
                  <a:pt x="1132916" y="0"/>
                </a:lnTo>
                <a:lnTo>
                  <a:pt x="1132916" y="1078733"/>
                </a:lnTo>
                <a:lnTo>
                  <a:pt x="0" y="1078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6" name="TextBox 36"/>
          <p:cNvSpPr txBox="1"/>
          <p:nvPr/>
        </p:nvSpPr>
        <p:spPr>
          <a:xfrm>
            <a:off x="12174784" y="9252685"/>
            <a:ext cx="3097805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AI Development:Python with TensorFlow</a:t>
            </a:r>
          </a:p>
        </p:txBody>
      </p:sp>
      <p:sp>
        <p:nvSpPr>
          <p:cNvPr id="37" name="AutoShape 37"/>
          <p:cNvSpPr/>
          <p:nvPr/>
        </p:nvSpPr>
        <p:spPr>
          <a:xfrm flipH="1" flipV="1">
            <a:off x="13822385" y="6598350"/>
            <a:ext cx="1744436" cy="5989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38" name="AutoShape 38"/>
          <p:cNvSpPr/>
          <p:nvPr/>
        </p:nvSpPr>
        <p:spPr>
          <a:xfrm flipH="1" flipV="1">
            <a:off x="13082453" y="7279194"/>
            <a:ext cx="641234" cy="8024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39" name="TextBox 39"/>
          <p:cNvSpPr txBox="1"/>
          <p:nvPr/>
        </p:nvSpPr>
        <p:spPr>
          <a:xfrm>
            <a:off x="307412" y="9712107"/>
            <a:ext cx="655453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IT22062574  |   Abeysinghe A H M P D    |   R26-IT-114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603928"/>
            <a:ext cx="18288000" cy="12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NUMERACY SKILLS IN CHILDREN WITH DYSCALCULIA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0911" y="2101169"/>
            <a:ext cx="8973089" cy="1225469"/>
          </a:xfrm>
          <a:custGeom>
            <a:avLst/>
            <a:gdLst/>
            <a:ahLst/>
            <a:cxnLst/>
            <a:rect l="l" t="t" r="r" b="b"/>
            <a:pathLst>
              <a:path w="8973089" h="1225469">
                <a:moveTo>
                  <a:pt x="0" y="0"/>
                </a:moveTo>
                <a:lnTo>
                  <a:pt x="8973089" y="0"/>
                </a:lnTo>
                <a:lnTo>
                  <a:pt x="8973089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01" r="-53692" b="-2168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1623791" y="2361723"/>
            <a:ext cx="6010180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Validation Metrics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4109" y="3509285"/>
            <a:ext cx="9370050" cy="596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Accuracy Rate – Number recognition and arithmetic answers the child gets correct.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Response Time – How quickly the child completes numeracy tasks.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Task Completion Rate – Percentage of learning activities successfully finished.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Error Rate – Number of mistakes made during counting or arithmetic tasks.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Learning Improvement – Improvement in numeracy performance before and after using the system.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6650" y="3509285"/>
            <a:ext cx="8341350" cy="596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collected from numeracy learning activities (accuracy, response time, errors).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stored securely in the system database.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Secure login and encrypted connections used to protect user data.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 or guardian consent obtained before child participation.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No sensitive personal data collected.</a:t>
            </a:r>
          </a:p>
          <a:p>
            <a:pPr marL="667374" lvl="1" indent="-333687" algn="l">
              <a:lnSpc>
                <a:spcPts val="4327"/>
              </a:lnSpc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used only for academic research purposes and kept confidential.</a:t>
            </a:r>
          </a:p>
        </p:txBody>
      </p:sp>
      <p:sp>
        <p:nvSpPr>
          <p:cNvPr id="15" name="Freeform 15"/>
          <p:cNvSpPr/>
          <p:nvPr/>
        </p:nvSpPr>
        <p:spPr>
          <a:xfrm>
            <a:off x="9946650" y="2101169"/>
            <a:ext cx="8180812" cy="1225469"/>
          </a:xfrm>
          <a:custGeom>
            <a:avLst/>
            <a:gdLst/>
            <a:ahLst/>
            <a:cxnLst/>
            <a:rect l="l" t="t" r="r" b="b"/>
            <a:pathLst>
              <a:path w="8180812" h="1225469">
                <a:moveTo>
                  <a:pt x="0" y="0"/>
                </a:moveTo>
                <a:lnTo>
                  <a:pt x="8180812" y="0"/>
                </a:lnTo>
                <a:lnTo>
                  <a:pt x="8180812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64" r="-42737" b="-119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6" name="TextBox 16"/>
          <p:cNvSpPr txBox="1"/>
          <p:nvPr/>
        </p:nvSpPr>
        <p:spPr>
          <a:xfrm>
            <a:off x="11031966" y="2044541"/>
            <a:ext cx="6010180" cy="124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Data Availability, Security, and Ethical Clearance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7412" y="9712107"/>
            <a:ext cx="655453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IT22062574  |   Abeysinghe A H M P D    |   R26-IT-114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52313" y="1599167"/>
            <a:ext cx="6272933" cy="8687833"/>
          </a:xfrm>
          <a:custGeom>
            <a:avLst/>
            <a:gdLst/>
            <a:ahLst/>
            <a:cxnLst/>
            <a:rect l="l" t="t" r="r" b="b"/>
            <a:pathLst>
              <a:path w="6272933" h="8687833">
                <a:moveTo>
                  <a:pt x="0" y="0"/>
                </a:moveTo>
                <a:lnTo>
                  <a:pt x="6272934" y="0"/>
                </a:lnTo>
                <a:lnTo>
                  <a:pt x="6272934" y="8687833"/>
                </a:lnTo>
                <a:lnTo>
                  <a:pt x="0" y="8687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63" t="-2983" r="-4461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>
            <a:off x="11752313" y="1599167"/>
            <a:ext cx="6272933" cy="1170828"/>
          </a:xfrm>
          <a:custGeom>
            <a:avLst/>
            <a:gdLst/>
            <a:ahLst/>
            <a:cxnLst/>
            <a:rect l="l" t="t" r="r" b="b"/>
            <a:pathLst>
              <a:path w="6272933" h="1170828">
                <a:moveTo>
                  <a:pt x="0" y="0"/>
                </a:moveTo>
                <a:lnTo>
                  <a:pt x="6272934" y="0"/>
                </a:lnTo>
                <a:lnTo>
                  <a:pt x="6272934" y="1170828"/>
                </a:lnTo>
                <a:lnTo>
                  <a:pt x="0" y="117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60" r="-86406" b="-119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>
            <a:off x="261987" y="3303395"/>
            <a:ext cx="10738765" cy="5954905"/>
          </a:xfrm>
          <a:custGeom>
            <a:avLst/>
            <a:gdLst/>
            <a:ahLst/>
            <a:cxnLst/>
            <a:rect l="l" t="t" r="r" b="b"/>
            <a:pathLst>
              <a:path w="10738765" h="5954905">
                <a:moveTo>
                  <a:pt x="0" y="0"/>
                </a:moveTo>
                <a:lnTo>
                  <a:pt x="10738764" y="0"/>
                </a:lnTo>
                <a:lnTo>
                  <a:pt x="10738764" y="5954905"/>
                </a:lnTo>
                <a:lnTo>
                  <a:pt x="0" y="5954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082" r="-27804" b="-50521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261987" y="3293870"/>
            <a:ext cx="10847341" cy="5964430"/>
          </a:xfrm>
          <a:custGeom>
            <a:avLst/>
            <a:gdLst/>
            <a:ahLst/>
            <a:cxnLst/>
            <a:rect l="l" t="t" r="r" b="b"/>
            <a:pathLst>
              <a:path w="10847341" h="5964430">
                <a:moveTo>
                  <a:pt x="0" y="0"/>
                </a:moveTo>
                <a:lnTo>
                  <a:pt x="10847341" y="0"/>
                </a:lnTo>
                <a:lnTo>
                  <a:pt x="10847341" y="5964430"/>
                </a:lnTo>
                <a:lnTo>
                  <a:pt x="0" y="5964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349" r="-4384" b="-10131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334504" y="209550"/>
            <a:ext cx="17618992" cy="119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  <a:hlinkClick r:id="rId5" tooltip="https://chatgpt.com/g/g-p-69ae875e9da88191a478b05aa137d5f9/c/69b2c06e-cbe4-83aa-b81e-cac7c3c0f622#:~:text=SUPPORT%20AND%20IMPROVEMENT%20OF%20NUMERACY%20SKILLS%20IN%20CHILDREN%20WITH%20DYSCALCULIA,-System"/>
              </a:rPr>
              <a:t>SUPPORT AND IMPROVEMENT OF NUMERACY SKILLS IN CHILDREN WITH DYSCALCULIA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15067" y="1797230"/>
            <a:ext cx="6010180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Common components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52313" y="3042076"/>
            <a:ext cx="6272933" cy="656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623" lvl="1" indent="-362812" algn="l">
              <a:lnSpc>
                <a:spcPts val="3999"/>
              </a:lnSpc>
              <a:buFont typeface="Arial"/>
              <a:buChar char="•"/>
            </a:pPr>
            <a:r>
              <a:rPr lang="en-US" sz="336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Game-Based Numeracy Activities</a:t>
            </a: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Counting, number recognition, and arithmetic tasks.</a:t>
            </a:r>
          </a:p>
          <a:p>
            <a:pPr marL="725623" lvl="1" indent="-362812" algn="l">
              <a:lnSpc>
                <a:spcPts val="3999"/>
              </a:lnSpc>
              <a:buFont typeface="Arial"/>
              <a:buChar char="•"/>
            </a:pPr>
            <a:r>
              <a:rPr lang="en-US" sz="336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Adaptive Learning Engine</a:t>
            </a: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Adjusts task difficulty based on child performance.</a:t>
            </a:r>
          </a:p>
          <a:p>
            <a:pPr marL="725623" lvl="1" indent="-362812" algn="l">
              <a:lnSpc>
                <a:spcPts val="3999"/>
              </a:lnSpc>
              <a:buFont typeface="Arial"/>
              <a:buChar char="•"/>
            </a:pPr>
            <a:r>
              <a:rPr lang="en-US" sz="336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Progress Dashboard</a:t>
            </a: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Displays learning progress and performance trends.</a:t>
            </a:r>
          </a:p>
          <a:p>
            <a:pPr marL="725623" lvl="1" indent="-362812" algn="l">
              <a:lnSpc>
                <a:spcPts val="3999"/>
              </a:lnSpc>
              <a:buFont typeface="Arial"/>
              <a:buChar char="•"/>
            </a:pPr>
            <a:r>
              <a:rPr lang="en-US" sz="336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Performance Monitoring </a:t>
            </a: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– Tracks accuracy, response time, and error patterns.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2704" y="1735914"/>
            <a:ext cx="6997330" cy="1034081"/>
            <a:chOff x="0" y="0"/>
            <a:chExt cx="9329773" cy="1378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29773" cy="1378775"/>
            </a:xfrm>
            <a:custGeom>
              <a:avLst/>
              <a:gdLst/>
              <a:ahLst/>
              <a:cxnLst/>
              <a:rect l="l" t="t" r="r" b="b"/>
              <a:pathLst>
                <a:path w="9329773" h="1378775">
                  <a:moveTo>
                    <a:pt x="0" y="0"/>
                  </a:moveTo>
                  <a:lnTo>
                    <a:pt x="9329773" y="0"/>
                  </a:lnTo>
                  <a:lnTo>
                    <a:pt x="9329773" y="1378775"/>
                  </a:lnTo>
                  <a:lnTo>
                    <a:pt x="0" y="1378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06" r="-58555" b="-1206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6767" y="175883"/>
              <a:ext cx="6019165" cy="931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39"/>
                </a:lnSpc>
                <a:spcBef>
                  <a:spcPct val="0"/>
                </a:spcBef>
              </a:pPr>
              <a:r>
                <a:rPr lang="en-US" sz="4099" b="1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System Overview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7412" y="9712107"/>
            <a:ext cx="655453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IT22062574  |   Abeysinghe A H M P D    |   R26-IT-114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>
            <a:off x="292096" y="-9525"/>
            <a:ext cx="4367092" cy="1290206"/>
            <a:chOff x="0" y="0"/>
            <a:chExt cx="5822789" cy="1720274"/>
          </a:xfrm>
        </p:grpSpPr>
        <p:sp>
          <p:nvSpPr>
            <p:cNvPr id="8" name="Freeform 8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5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4148" y="3369541"/>
            <a:ext cx="12939613" cy="11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</a:pPr>
            <a:r>
              <a:rPr lang="en-US" sz="405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</a:t>
            </a:r>
          </a:p>
          <a:p>
            <a:pPr algn="l">
              <a:lnSpc>
                <a:spcPts val="4465"/>
              </a:lnSpc>
            </a:pPr>
            <a:r>
              <a:rPr lang="en-US" sz="405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MODULE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148" y="5150814"/>
            <a:ext cx="16967191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9" lvl="1" indent="-345444" algn="l">
              <a:lnSpc>
                <a:spcPts val="3520"/>
              </a:lnSpc>
              <a:buFont typeface="Arial"/>
              <a:buChar char="•"/>
            </a:pPr>
            <a:r>
              <a:rPr lang="en-US" sz="3200" b="1">
                <a:solidFill>
                  <a:srgbClr val="454242"/>
                </a:solidFill>
                <a:latin typeface="Helios Bold"/>
                <a:ea typeface="Helios Bold"/>
                <a:cs typeface="Helios Bold"/>
                <a:sym typeface="Helios Bold"/>
              </a:rPr>
              <a:t>Provides game-based handwriting activities to improve letter formation, spacing, alignment, and writing fluency.</a:t>
            </a:r>
          </a:p>
          <a:p>
            <a:pPr marL="690889" lvl="1" indent="-345444" algn="l">
              <a:lnSpc>
                <a:spcPts val="3520"/>
              </a:lnSpc>
              <a:buFont typeface="Arial"/>
              <a:buChar char="•"/>
            </a:pPr>
            <a:r>
              <a:rPr lang="en-US" sz="3200" b="1">
                <a:solidFill>
                  <a:srgbClr val="454242"/>
                </a:solidFill>
                <a:latin typeface="Helios Bold"/>
                <a:ea typeface="Helios Bold"/>
                <a:cs typeface="Helios Bold"/>
                <a:sym typeface="Helios Bold"/>
              </a:rPr>
              <a:t>Integrates sensory-based writing activities and voice-guided Sinhala instructions.</a:t>
            </a:r>
          </a:p>
          <a:p>
            <a:pPr marL="690889" lvl="1" indent="-345444" algn="l">
              <a:lnSpc>
                <a:spcPts val="3520"/>
              </a:lnSpc>
              <a:buFont typeface="Arial"/>
              <a:buChar char="•"/>
            </a:pPr>
            <a:r>
              <a:rPr lang="en-US" sz="3200" b="1">
                <a:solidFill>
                  <a:srgbClr val="454242"/>
                </a:solidFill>
                <a:latin typeface="Helios Bold"/>
                <a:ea typeface="Helios Bold"/>
                <a:cs typeface="Helios Bold"/>
                <a:sym typeface="Helios Bold"/>
              </a:rPr>
              <a:t>Uses digital ink capture and handwriting analysis to identify handwriting difficulties</a:t>
            </a:r>
          </a:p>
          <a:p>
            <a:pPr algn="just">
              <a:lnSpc>
                <a:spcPts val="3740"/>
              </a:lnSpc>
            </a:pPr>
            <a:endParaRPr lang="en-US" sz="3200" b="1">
              <a:solidFill>
                <a:srgbClr val="454242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0" y="7792770"/>
            <a:ext cx="18288000" cy="2494230"/>
            <a:chOff x="0" y="0"/>
            <a:chExt cx="5449352" cy="7432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49353" cy="743216"/>
            </a:xfrm>
            <a:custGeom>
              <a:avLst/>
              <a:gdLst/>
              <a:ahLst/>
              <a:cxnLst/>
              <a:rect l="l" t="t" r="r" b="b"/>
              <a:pathLst>
                <a:path w="5449353" h="743216">
                  <a:moveTo>
                    <a:pt x="0" y="0"/>
                  </a:moveTo>
                  <a:lnTo>
                    <a:pt x="5449353" y="0"/>
                  </a:lnTo>
                  <a:lnTo>
                    <a:pt x="5449353" y="743216"/>
                  </a:lnTo>
                  <a:lnTo>
                    <a:pt x="0" y="743216"/>
                  </a:ln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449352" cy="79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15203" y="1382945"/>
            <a:ext cx="1211760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0"/>
              </a:lnSpc>
            </a:pPr>
            <a:r>
              <a:rPr lang="en-US" sz="59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B.W.J.D SENAVIRATHNA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2096" y="2320234"/>
            <a:ext cx="4386142" cy="69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3"/>
              </a:lnSpc>
              <a:spcBef>
                <a:spcPct val="0"/>
              </a:spcBef>
            </a:pPr>
            <a:r>
              <a:rPr lang="en-US" sz="4045">
                <a:solidFill>
                  <a:srgbClr val="0F4984"/>
                </a:solidFill>
                <a:latin typeface="Helios"/>
                <a:ea typeface="Helios"/>
                <a:cs typeface="Helios"/>
                <a:sym typeface="Helios"/>
              </a:rPr>
              <a:t>IT22128836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573" y="8025447"/>
            <a:ext cx="17438954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Integrates sensory-based handwriting activities with digital verification while providing adaptive guidance when a child struggles with handwriting tasks.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70114" y="608363"/>
            <a:ext cx="3945962" cy="39459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5126" y="0"/>
                  </a:moveTo>
                  <a:lnTo>
                    <a:pt x="767674" y="0"/>
                  </a:lnTo>
                  <a:cubicBezTo>
                    <a:pt x="779642" y="0"/>
                    <a:pt x="791120" y="4754"/>
                    <a:pt x="799583" y="13217"/>
                  </a:cubicBezTo>
                  <a:cubicBezTo>
                    <a:pt x="808046" y="21680"/>
                    <a:pt x="812800" y="33158"/>
                    <a:pt x="812800" y="45126"/>
                  </a:cubicBezTo>
                  <a:lnTo>
                    <a:pt x="812800" y="767674"/>
                  </a:lnTo>
                  <a:cubicBezTo>
                    <a:pt x="812800" y="779642"/>
                    <a:pt x="808046" y="791120"/>
                    <a:pt x="799583" y="799583"/>
                  </a:cubicBezTo>
                  <a:cubicBezTo>
                    <a:pt x="791120" y="808046"/>
                    <a:pt x="779642" y="812800"/>
                    <a:pt x="767674" y="812800"/>
                  </a:cubicBezTo>
                  <a:lnTo>
                    <a:pt x="45126" y="812800"/>
                  </a:lnTo>
                  <a:cubicBezTo>
                    <a:pt x="33158" y="812800"/>
                    <a:pt x="21680" y="808046"/>
                    <a:pt x="13217" y="799583"/>
                  </a:cubicBezTo>
                  <a:cubicBezTo>
                    <a:pt x="4754" y="791120"/>
                    <a:pt x="0" y="779642"/>
                    <a:pt x="0" y="767674"/>
                  </a:cubicBezTo>
                  <a:lnTo>
                    <a:pt x="0" y="45126"/>
                  </a:lnTo>
                  <a:cubicBezTo>
                    <a:pt x="0" y="33158"/>
                    <a:pt x="4754" y="21680"/>
                    <a:pt x="13217" y="13217"/>
                  </a:cubicBezTo>
                  <a:cubicBezTo>
                    <a:pt x="21680" y="4754"/>
                    <a:pt x="33158" y="0"/>
                    <a:pt x="45126" y="0"/>
                  </a:cubicBezTo>
                  <a:close/>
                </a:path>
              </a:pathLst>
            </a:custGeom>
            <a:blipFill>
              <a:blip r:embed="rId6"/>
              <a:stretch>
                <a:fillRect l="-32612" t="-70219" r="-35749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9008" y="603928"/>
            <a:ext cx="16590292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MODULE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4997" y="9712107"/>
            <a:ext cx="637936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IT22128836  |   B.W.J.D Senavirathna   |   R26-IT-114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54243" y="1615510"/>
            <a:ext cx="6460876" cy="8011902"/>
            <a:chOff x="0" y="0"/>
            <a:chExt cx="8614501" cy="1068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14501" cy="10682536"/>
            </a:xfrm>
            <a:custGeom>
              <a:avLst/>
              <a:gdLst/>
              <a:ahLst/>
              <a:cxnLst/>
              <a:rect l="l" t="t" r="r" b="b"/>
              <a:pathLst>
                <a:path w="8614501" h="10682536">
                  <a:moveTo>
                    <a:pt x="0" y="0"/>
                  </a:moveTo>
                  <a:lnTo>
                    <a:pt x="8614501" y="0"/>
                  </a:lnTo>
                  <a:lnTo>
                    <a:pt x="8614501" y="10682536"/>
                  </a:lnTo>
                  <a:lnTo>
                    <a:pt x="0" y="1068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298" r="-21708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93594" y="375028"/>
              <a:ext cx="8227312" cy="1225138"/>
            </a:xfrm>
            <a:custGeom>
              <a:avLst/>
              <a:gdLst/>
              <a:ahLst/>
              <a:cxnLst/>
              <a:rect l="l" t="t" r="r" b="b"/>
              <a:pathLst>
                <a:path w="8227312" h="1225138">
                  <a:moveTo>
                    <a:pt x="0" y="0"/>
                  </a:moveTo>
                  <a:lnTo>
                    <a:pt x="8227313" y="0"/>
                  </a:lnTo>
                  <a:lnTo>
                    <a:pt x="8227313" y="1225139"/>
                  </a:lnTo>
                  <a:lnTo>
                    <a:pt x="0" y="122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30" r="-65097" b="-9182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908" y="619781"/>
              <a:ext cx="7545999" cy="7274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THE PROBLEM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296" y="1914786"/>
              <a:ext cx="7428344" cy="7284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Dysgraphia treatment mainly depends on therapist-guided methods, with no Sinhala supportive apps for therapists.</a:t>
              </a: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endPara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Most handwriting apps are designed for English, and the few Sinhala apps only support basic letter tracing.</a:t>
              </a: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endParaRPr lang="en-US" sz="25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Apps repeat the same task when children struggle, without simplified or adaptive support.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230334" y="1797792"/>
            <a:ext cx="10751453" cy="7671448"/>
          </a:xfrm>
          <a:custGeom>
            <a:avLst/>
            <a:gdLst/>
            <a:ahLst/>
            <a:cxnLst/>
            <a:rect l="l" t="t" r="r" b="b"/>
            <a:pathLst>
              <a:path w="10751453" h="7671448">
                <a:moveTo>
                  <a:pt x="0" y="0"/>
                </a:moveTo>
                <a:lnTo>
                  <a:pt x="10751453" y="0"/>
                </a:lnTo>
                <a:lnTo>
                  <a:pt x="10751453" y="7671448"/>
                </a:lnTo>
                <a:lnTo>
                  <a:pt x="0" y="7671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911" b="-9113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8" name="Freeform 18"/>
          <p:cNvSpPr/>
          <p:nvPr/>
        </p:nvSpPr>
        <p:spPr>
          <a:xfrm>
            <a:off x="7810114" y="1938882"/>
            <a:ext cx="9085893" cy="839571"/>
          </a:xfrm>
          <a:custGeom>
            <a:avLst/>
            <a:gdLst/>
            <a:ahLst/>
            <a:cxnLst/>
            <a:rect l="l" t="t" r="r" b="b"/>
            <a:pathLst>
              <a:path w="9085893" h="839571">
                <a:moveTo>
                  <a:pt x="0" y="0"/>
                </a:moveTo>
                <a:lnTo>
                  <a:pt x="9085893" y="0"/>
                </a:lnTo>
                <a:lnTo>
                  <a:pt x="9085893" y="839571"/>
                </a:lnTo>
                <a:lnTo>
                  <a:pt x="0" y="83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232" r="-37010" b="-2230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9" name="TextBox 19"/>
          <p:cNvSpPr txBox="1"/>
          <p:nvPr/>
        </p:nvSpPr>
        <p:spPr>
          <a:xfrm>
            <a:off x="10208150" y="2046744"/>
            <a:ext cx="5072643" cy="5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MAIN OBJECTIVE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12722" y="2961517"/>
            <a:ext cx="9386678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Design and develop an integrated, game-based Sinhala handwriting intervention system that assesses dysgraphia severity and provides adaptive digital and sensory-based learning activities with voice instructions for children aged 6–8 years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672111" y="4800662"/>
            <a:ext cx="9085893" cy="820799"/>
          </a:xfrm>
          <a:custGeom>
            <a:avLst/>
            <a:gdLst/>
            <a:ahLst/>
            <a:cxnLst/>
            <a:rect l="l" t="t" r="r" b="b"/>
            <a:pathLst>
              <a:path w="9085893" h="820799">
                <a:moveTo>
                  <a:pt x="0" y="0"/>
                </a:moveTo>
                <a:lnTo>
                  <a:pt x="9085892" y="0"/>
                </a:lnTo>
                <a:lnTo>
                  <a:pt x="9085892" y="820799"/>
                </a:lnTo>
                <a:lnTo>
                  <a:pt x="0" y="820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434" r="-31424" b="-33434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2" name="TextBox 22"/>
          <p:cNvSpPr txBox="1"/>
          <p:nvPr/>
        </p:nvSpPr>
        <p:spPr>
          <a:xfrm>
            <a:off x="8837038" y="4901258"/>
            <a:ext cx="644375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Sub OBJECTIVES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13356" y="5652242"/>
            <a:ext cx="9350208" cy="355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3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Sinhala language - specific dysgraphia intervention platform.</a:t>
            </a:r>
          </a:p>
          <a:p>
            <a:pPr algn="l">
              <a:lnSpc>
                <a:spcPts val="2391"/>
              </a:lnSpc>
            </a:pPr>
            <a:r>
              <a:rPr lang="en-US" sz="2299" spc="2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Provides simplified guidance and adaptive support when a child struggles with a task.</a:t>
            </a:r>
          </a:p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Integrates sensory-based handwriting activities with digital handwriting verification.</a:t>
            </a:r>
          </a:p>
          <a:p>
            <a:pPr algn="l">
              <a:lnSpc>
                <a:spcPts val="3218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Includes voice-guided instructions in Sinhala to support children during learning.</a:t>
            </a:r>
          </a:p>
          <a:p>
            <a:pPr algn="l">
              <a:lnSpc>
                <a:spcPts val="3218"/>
              </a:lnSpc>
              <a:spcBef>
                <a:spcPct val="0"/>
              </a:spcBef>
            </a:pPr>
            <a:endParaRPr lang="en-US" sz="22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3218"/>
              </a:lnSpc>
              <a:spcBef>
                <a:spcPct val="0"/>
              </a:spcBef>
            </a:pPr>
            <a:endParaRPr lang="en-US" sz="22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24" name="Freeform 24"/>
          <p:cNvSpPr/>
          <p:nvPr/>
        </p:nvSpPr>
        <p:spPr>
          <a:xfrm rot="-1387034">
            <a:off x="15678751" y="7892511"/>
            <a:ext cx="2158504" cy="1948809"/>
          </a:xfrm>
          <a:custGeom>
            <a:avLst/>
            <a:gdLst/>
            <a:ahLst/>
            <a:cxnLst/>
            <a:rect l="l" t="t" r="r" b="b"/>
            <a:pathLst>
              <a:path w="2158504" h="1948809">
                <a:moveTo>
                  <a:pt x="0" y="0"/>
                </a:moveTo>
                <a:lnTo>
                  <a:pt x="2158505" y="0"/>
                </a:lnTo>
                <a:lnTo>
                  <a:pt x="2158505" y="1948809"/>
                </a:lnTo>
                <a:lnTo>
                  <a:pt x="0" y="1948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380" b="-5380"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9008" y="603928"/>
            <a:ext cx="16590292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GAME BASED DYSGRAPHIA INTERVENTION MODULE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997" y="9712107"/>
            <a:ext cx="637936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IT22128836  |   B.W.J.D Senavirathna   |   R26-IT-114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95794" y="1137549"/>
            <a:ext cx="17896412" cy="8622183"/>
            <a:chOff x="0" y="0"/>
            <a:chExt cx="23861882" cy="114962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14501" cy="11496244"/>
            </a:xfrm>
            <a:custGeom>
              <a:avLst/>
              <a:gdLst/>
              <a:ahLst/>
              <a:cxnLst/>
              <a:rect l="l" t="t" r="r" b="b"/>
              <a:pathLst>
                <a:path w="8614501" h="11496244">
                  <a:moveTo>
                    <a:pt x="0" y="0"/>
                  </a:moveTo>
                  <a:lnTo>
                    <a:pt x="8614501" y="0"/>
                  </a:lnTo>
                  <a:lnTo>
                    <a:pt x="8614501" y="11496244"/>
                  </a:lnTo>
                  <a:lnTo>
                    <a:pt x="0" y="1149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424" r="-27170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93594" y="375028"/>
              <a:ext cx="8227312" cy="1225138"/>
            </a:xfrm>
            <a:custGeom>
              <a:avLst/>
              <a:gdLst/>
              <a:ahLst/>
              <a:cxnLst/>
              <a:rect l="l" t="t" r="r" b="b"/>
              <a:pathLst>
                <a:path w="8227312" h="1225138">
                  <a:moveTo>
                    <a:pt x="0" y="0"/>
                  </a:moveTo>
                  <a:lnTo>
                    <a:pt x="8227313" y="0"/>
                  </a:lnTo>
                  <a:lnTo>
                    <a:pt x="8227313" y="1225139"/>
                  </a:lnTo>
                  <a:lnTo>
                    <a:pt x="0" y="122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30" r="-65097" b="-9182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4908" y="619781"/>
              <a:ext cx="7545999" cy="7274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3"/>
                </a:lnSpc>
                <a:spcBef>
                  <a:spcPct val="0"/>
                </a:spcBef>
              </a:pPr>
              <a:r>
                <a:rPr lang="en-US" sz="3195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Domain Knowledge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9893" y="1838972"/>
              <a:ext cx="7874716" cy="9657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58"/>
                </a:lnSpc>
                <a:spcBef>
                  <a:spcPct val="0"/>
                </a:spcBef>
              </a:pPr>
              <a:r>
                <a:rPr lang="en-US" sz="2756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Modular design, component-based architecture, and scalable backend development.</a:t>
              </a: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endParaRPr lang="en-US" sz="275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r>
                <a:rPr lang="en-US" sz="2756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Image processing and pattern recognition for analyzing handwriting in sensory-based activities.</a:t>
              </a: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endParaRPr lang="en-US" sz="275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r>
                <a:rPr lang="en-US" sz="2756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Feature extraction analysis of handwriting metrics.</a:t>
              </a: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endParaRPr lang="en-US" sz="275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r>
                <a:rPr lang="en-US" sz="2756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Designing user-friendly interfaces and gamified interactions to improve engagement.</a:t>
              </a:r>
            </a:p>
            <a:p>
              <a:pPr algn="l">
                <a:lnSpc>
                  <a:spcPts val="3858"/>
                </a:lnSpc>
                <a:spcBef>
                  <a:spcPct val="0"/>
                </a:spcBef>
              </a:pPr>
              <a:endParaRPr lang="en-US" sz="2756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79927" y="3735420"/>
              <a:ext cx="1655368" cy="1507442"/>
            </a:xfrm>
            <a:custGeom>
              <a:avLst/>
              <a:gdLst/>
              <a:ahLst/>
              <a:cxnLst/>
              <a:rect l="l" t="t" r="r" b="b"/>
              <a:pathLst>
                <a:path w="1655368" h="1507442">
                  <a:moveTo>
                    <a:pt x="0" y="0"/>
                  </a:moveTo>
                  <a:lnTo>
                    <a:pt x="1655368" y="0"/>
                  </a:lnTo>
                  <a:lnTo>
                    <a:pt x="1655368" y="1507442"/>
                  </a:lnTo>
                  <a:lnTo>
                    <a:pt x="0" y="150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5349006" y="2967544"/>
              <a:ext cx="2068657" cy="1268584"/>
            </a:xfrm>
            <a:custGeom>
              <a:avLst/>
              <a:gdLst/>
              <a:ahLst/>
              <a:cxnLst/>
              <a:rect l="l" t="t" r="r" b="b"/>
              <a:pathLst>
                <a:path w="2068657" h="1268584">
                  <a:moveTo>
                    <a:pt x="0" y="0"/>
                  </a:moveTo>
                  <a:lnTo>
                    <a:pt x="2068657" y="0"/>
                  </a:lnTo>
                  <a:lnTo>
                    <a:pt x="2068657" y="1268584"/>
                  </a:lnTo>
                  <a:lnTo>
                    <a:pt x="0" y="1268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885724" y="5575446"/>
              <a:ext cx="2265410" cy="1961845"/>
            </a:xfrm>
            <a:custGeom>
              <a:avLst/>
              <a:gdLst/>
              <a:ahLst/>
              <a:cxnLst/>
              <a:rect l="l" t="t" r="r" b="b"/>
              <a:pathLst>
                <a:path w="2265410" h="1961845">
                  <a:moveTo>
                    <a:pt x="0" y="0"/>
                  </a:moveTo>
                  <a:lnTo>
                    <a:pt x="2265410" y="0"/>
                  </a:lnTo>
                  <a:lnTo>
                    <a:pt x="2265410" y="1961845"/>
                  </a:lnTo>
                  <a:lnTo>
                    <a:pt x="0" y="1961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2099111" y="7503128"/>
              <a:ext cx="1998744" cy="1998744"/>
            </a:xfrm>
            <a:custGeom>
              <a:avLst/>
              <a:gdLst/>
              <a:ahLst/>
              <a:cxnLst/>
              <a:rect l="l" t="t" r="r" b="b"/>
              <a:pathLst>
                <a:path w="1998744" h="1998744">
                  <a:moveTo>
                    <a:pt x="0" y="0"/>
                  </a:moveTo>
                  <a:lnTo>
                    <a:pt x="1998744" y="0"/>
                  </a:lnTo>
                  <a:lnTo>
                    <a:pt x="1998744" y="1998744"/>
                  </a:lnTo>
                  <a:lnTo>
                    <a:pt x="0" y="19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6343538" y="4014163"/>
              <a:ext cx="225648" cy="21679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4535295" y="5043392"/>
              <a:ext cx="1072945" cy="11387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3215846" y="6669401"/>
              <a:ext cx="1989996" cy="5397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13707611" y="7105316"/>
              <a:ext cx="1545253" cy="89270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AutoShape 21"/>
            <p:cNvSpPr/>
            <p:nvPr/>
          </p:nvSpPr>
          <p:spPr>
            <a:xfrm flipH="1" flipV="1">
              <a:off x="17120863" y="7557448"/>
              <a:ext cx="867632" cy="111904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7988494" y="6814084"/>
              <a:ext cx="151055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394164" y="3554211"/>
              <a:ext cx="3467718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Cloud Storage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H="1">
              <a:off x="17596704" y="4999935"/>
              <a:ext cx="1274660" cy="11996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5149878" y="5394776"/>
              <a:ext cx="2838617" cy="2838617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r>
                  <a:rPr lang="en-US" sz="1999" b="1">
                    <a:solidFill>
                      <a:srgbClr val="000000"/>
                    </a:solidFill>
                    <a:latin typeface="Helios Bold"/>
                    <a:ea typeface="Helios Bold"/>
                    <a:cs typeface="Helios Bold"/>
                    <a:sym typeface="Helios Bold"/>
                  </a:rPr>
                  <a:t>Technologies </a:t>
                </a: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8634574" y="3157621"/>
              <a:ext cx="2417825" cy="2417825"/>
            </a:xfrm>
            <a:custGeom>
              <a:avLst/>
              <a:gdLst/>
              <a:ahLst/>
              <a:cxnLst/>
              <a:rect l="l" t="t" r="r" b="b"/>
              <a:pathLst>
                <a:path w="2417825" h="2417825">
                  <a:moveTo>
                    <a:pt x="0" y="0"/>
                  </a:moveTo>
                  <a:lnTo>
                    <a:pt x="2417825" y="0"/>
                  </a:lnTo>
                  <a:lnTo>
                    <a:pt x="2417825" y="2417825"/>
                  </a:lnTo>
                  <a:lnTo>
                    <a:pt x="0" y="2417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9212215" y="5975785"/>
              <a:ext cx="3193520" cy="1676598"/>
            </a:xfrm>
            <a:custGeom>
              <a:avLst/>
              <a:gdLst/>
              <a:ahLst/>
              <a:cxnLst/>
              <a:rect l="l" t="t" r="r" b="b"/>
              <a:pathLst>
                <a:path w="3193520" h="1676598">
                  <a:moveTo>
                    <a:pt x="0" y="0"/>
                  </a:moveTo>
                  <a:lnTo>
                    <a:pt x="3193520" y="0"/>
                  </a:lnTo>
                  <a:lnTo>
                    <a:pt x="3193520" y="1676598"/>
                  </a:lnTo>
                  <a:lnTo>
                    <a:pt x="0" y="1676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7596704" y="8676490"/>
              <a:ext cx="2536959" cy="1268480"/>
            </a:xfrm>
            <a:custGeom>
              <a:avLst/>
              <a:gdLst/>
              <a:ahLst/>
              <a:cxnLst/>
              <a:rect l="l" t="t" r="r" b="b"/>
              <a:pathLst>
                <a:path w="2536959" h="1268480">
                  <a:moveTo>
                    <a:pt x="0" y="0"/>
                  </a:moveTo>
                  <a:lnTo>
                    <a:pt x="2536959" y="0"/>
                  </a:lnTo>
                  <a:lnTo>
                    <a:pt x="2536959" y="1268480"/>
                  </a:lnTo>
                  <a:lnTo>
                    <a:pt x="0" y="1268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5403863" y="8146189"/>
              <a:ext cx="674378" cy="95561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3707611" y="9283335"/>
              <a:ext cx="2985867" cy="813649"/>
            </a:xfrm>
            <a:custGeom>
              <a:avLst/>
              <a:gdLst/>
              <a:ahLst/>
              <a:cxnLst/>
              <a:rect l="l" t="t" r="r" b="b"/>
              <a:pathLst>
                <a:path w="2985867" h="813649">
                  <a:moveTo>
                    <a:pt x="0" y="0"/>
                  </a:moveTo>
                  <a:lnTo>
                    <a:pt x="2985867" y="0"/>
                  </a:lnTo>
                  <a:lnTo>
                    <a:pt x="2985867" y="813649"/>
                  </a:lnTo>
                  <a:lnTo>
                    <a:pt x="0" y="813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87327" y="2836115"/>
              <a:ext cx="2970357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Frontend:React.js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636961" y="2213620"/>
              <a:ext cx="2970357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Backend:Node.js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850068" y="7604758"/>
              <a:ext cx="3467718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Digital Ink Capture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22124" y="4810541"/>
              <a:ext cx="3550382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Database:Mongo DB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22124" y="8248712"/>
              <a:ext cx="3550382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Database:Firebase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678569" y="9955389"/>
              <a:ext cx="4130406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Open CV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74687" y="10367716"/>
              <a:ext cx="3746176" cy="459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MyScript HWR Engine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2256649" y="285868"/>
              <a:ext cx="8227312" cy="1225138"/>
            </a:xfrm>
            <a:custGeom>
              <a:avLst/>
              <a:gdLst/>
              <a:ahLst/>
              <a:cxnLst/>
              <a:rect l="l" t="t" r="r" b="b"/>
              <a:pathLst>
                <a:path w="8227312" h="1225138">
                  <a:moveTo>
                    <a:pt x="0" y="0"/>
                  </a:moveTo>
                  <a:lnTo>
                    <a:pt x="8227312" y="0"/>
                  </a:lnTo>
                  <a:lnTo>
                    <a:pt x="8227312" y="1225138"/>
                  </a:lnTo>
                  <a:lnTo>
                    <a:pt x="0" y="1225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30" r="-65097" b="-9182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50449" y="569507"/>
              <a:ext cx="5663206" cy="600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Latest Technologies 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603928"/>
            <a:ext cx="18288000" cy="12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0911" y="2101169"/>
            <a:ext cx="8973089" cy="1225469"/>
          </a:xfrm>
          <a:custGeom>
            <a:avLst/>
            <a:gdLst/>
            <a:ahLst/>
            <a:cxnLst/>
            <a:rect l="l" t="t" r="r" b="b"/>
            <a:pathLst>
              <a:path w="8973089" h="1225469">
                <a:moveTo>
                  <a:pt x="0" y="0"/>
                </a:moveTo>
                <a:lnTo>
                  <a:pt x="8973089" y="0"/>
                </a:lnTo>
                <a:lnTo>
                  <a:pt x="8973089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01" r="-53692" b="-2168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589047" y="9648825"/>
            <a:ext cx="590173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IT22128836 | B.W.J.D Senavirathna | R26-IT-114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2366" y="2493352"/>
            <a:ext cx="6010180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Validation Metrics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3509285"/>
            <a:ext cx="9370050" cy="596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Pre- and post-intervention comparisons of handwriting metrics.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System validation will be conducted with a small group of 5–6 children to assess technical performance, usability, and intervention effectiveness.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therapists evaluate the app’s activities and intervention methods.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Error Rate</a:t>
            </a: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– 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How many mistakes occur during tasks.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46650" y="3509285"/>
            <a:ext cx="8341350" cy="650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Experts knowledge(pediatricians and educational therapists) guide task design, adaptive games to ensure clinical validity.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collected from children’s interaction.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avoids sensitive personal information.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Ensuring only authorized users can access information.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Ensuring activities do not cause harm, stress, or discomfort to children.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946650" y="2101169"/>
            <a:ext cx="8180812" cy="1225469"/>
          </a:xfrm>
          <a:custGeom>
            <a:avLst/>
            <a:gdLst/>
            <a:ahLst/>
            <a:cxnLst/>
            <a:rect l="l" t="t" r="r" b="b"/>
            <a:pathLst>
              <a:path w="8180812" h="1225469">
                <a:moveTo>
                  <a:pt x="0" y="0"/>
                </a:moveTo>
                <a:lnTo>
                  <a:pt x="8180812" y="0"/>
                </a:lnTo>
                <a:lnTo>
                  <a:pt x="8180812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64" r="-42737" b="-119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TextBox 17"/>
          <p:cNvSpPr txBox="1"/>
          <p:nvPr/>
        </p:nvSpPr>
        <p:spPr>
          <a:xfrm>
            <a:off x="11031966" y="2044541"/>
            <a:ext cx="6010180" cy="124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 Availability, Security, and Ethical Clearance</a:t>
            </a:r>
          </a:p>
        </p:txBody>
      </p:sp>
      <p:sp>
        <p:nvSpPr>
          <p:cNvPr id="18" name="Freeform 18"/>
          <p:cNvSpPr/>
          <p:nvPr/>
        </p:nvSpPr>
        <p:spPr>
          <a:xfrm>
            <a:off x="7004595" y="8589424"/>
            <a:ext cx="3302471" cy="2499167"/>
          </a:xfrm>
          <a:custGeom>
            <a:avLst/>
            <a:gdLst/>
            <a:ahLst/>
            <a:cxnLst/>
            <a:rect l="l" t="t" r="r" b="b"/>
            <a:pathLst>
              <a:path w="3302471" h="2499167">
                <a:moveTo>
                  <a:pt x="0" y="0"/>
                </a:moveTo>
                <a:lnTo>
                  <a:pt x="3302472" y="0"/>
                </a:lnTo>
                <a:lnTo>
                  <a:pt x="3302472" y="2499167"/>
                </a:lnTo>
                <a:lnTo>
                  <a:pt x="0" y="2499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52313" y="1599167"/>
            <a:ext cx="6272933" cy="8687833"/>
          </a:xfrm>
          <a:custGeom>
            <a:avLst/>
            <a:gdLst/>
            <a:ahLst/>
            <a:cxnLst/>
            <a:rect l="l" t="t" r="r" b="b"/>
            <a:pathLst>
              <a:path w="6272933" h="8687833">
                <a:moveTo>
                  <a:pt x="0" y="0"/>
                </a:moveTo>
                <a:lnTo>
                  <a:pt x="6272934" y="0"/>
                </a:lnTo>
                <a:lnTo>
                  <a:pt x="6272934" y="8687833"/>
                </a:lnTo>
                <a:lnTo>
                  <a:pt x="0" y="8687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63" t="-2983" r="-4461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>
            <a:off x="11442626" y="1735914"/>
            <a:ext cx="6997330" cy="1034081"/>
          </a:xfrm>
          <a:custGeom>
            <a:avLst/>
            <a:gdLst/>
            <a:ahLst/>
            <a:cxnLst/>
            <a:rect l="l" t="t" r="r" b="b"/>
            <a:pathLst>
              <a:path w="6997330" h="1034081">
                <a:moveTo>
                  <a:pt x="0" y="0"/>
                </a:moveTo>
                <a:lnTo>
                  <a:pt x="6997330" y="0"/>
                </a:lnTo>
                <a:lnTo>
                  <a:pt x="699733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06" r="-58555" b="-120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>
            <a:off x="1284009" y="1735914"/>
            <a:ext cx="6997330" cy="1034081"/>
          </a:xfrm>
          <a:custGeom>
            <a:avLst/>
            <a:gdLst/>
            <a:ahLst/>
            <a:cxnLst/>
            <a:rect l="l" t="t" r="r" b="b"/>
            <a:pathLst>
              <a:path w="6997330" h="1034081">
                <a:moveTo>
                  <a:pt x="0" y="0"/>
                </a:moveTo>
                <a:lnTo>
                  <a:pt x="6997330" y="0"/>
                </a:lnTo>
                <a:lnTo>
                  <a:pt x="699733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06" r="-58555" b="-120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41367" y="3293870"/>
            <a:ext cx="11301259" cy="5791895"/>
          </a:xfrm>
          <a:custGeom>
            <a:avLst/>
            <a:gdLst/>
            <a:ahLst/>
            <a:cxnLst/>
            <a:rect l="l" t="t" r="r" b="b"/>
            <a:pathLst>
              <a:path w="11301259" h="5791895">
                <a:moveTo>
                  <a:pt x="0" y="0"/>
                </a:moveTo>
                <a:lnTo>
                  <a:pt x="11301259" y="0"/>
                </a:lnTo>
                <a:lnTo>
                  <a:pt x="11301259" y="5791895"/>
                </a:lnTo>
                <a:lnTo>
                  <a:pt x="0" y="5791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669008" y="19050"/>
            <a:ext cx="17618992" cy="119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15067" y="1853539"/>
            <a:ext cx="6010180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Common components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52313" y="2965876"/>
            <a:ext cx="6272933" cy="708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623" lvl="1" indent="-362812" algn="l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Provides clear Sinhala voice instructions for all handwriting games.</a:t>
            </a:r>
          </a:p>
          <a:p>
            <a:pPr marL="725623" lvl="1" indent="-362812" algn="l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6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Dashboard</a:t>
            </a: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- Displays child’s performance trends, progress</a:t>
            </a:r>
          </a:p>
          <a:p>
            <a:pPr marL="725623" lvl="1" indent="-362812" algn="l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Adaptive Task Adjustment</a:t>
            </a:r>
          </a:p>
          <a:p>
            <a:pPr marL="725623" lvl="1" indent="-362812" algn="l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Notifications &amp; Reminders – Alerts for incomplete tasks or scheduled practice sessions.</a:t>
            </a:r>
          </a:p>
          <a:p>
            <a:pPr algn="l">
              <a:lnSpc>
                <a:spcPts val="4705"/>
              </a:lnSpc>
              <a:spcBef>
                <a:spcPct val="0"/>
              </a:spcBef>
            </a:pPr>
            <a:endParaRPr lang="en-US" sz="336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705"/>
              </a:lnSpc>
              <a:spcBef>
                <a:spcPct val="0"/>
              </a:spcBef>
            </a:pPr>
            <a:endParaRPr lang="en-US" sz="3360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76584" y="1844014"/>
            <a:ext cx="4514374" cy="72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System Overview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2885" y="9768442"/>
            <a:ext cx="5298877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IT22128836 | B.W.J.D Senavirathna | R26-IT-114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7296905" y="1809765"/>
            <a:ext cx="10645207" cy="8171015"/>
            <a:chOff x="0" y="0"/>
            <a:chExt cx="2000591" cy="15356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0591" cy="1535607"/>
            </a:xfrm>
            <a:custGeom>
              <a:avLst/>
              <a:gdLst/>
              <a:ahLst/>
              <a:cxnLst/>
              <a:rect l="l" t="t" r="r" b="b"/>
              <a:pathLst>
                <a:path w="2000591" h="1535607">
                  <a:moveTo>
                    <a:pt x="72727" y="0"/>
                  </a:moveTo>
                  <a:lnTo>
                    <a:pt x="1927864" y="0"/>
                  </a:lnTo>
                  <a:cubicBezTo>
                    <a:pt x="1947152" y="0"/>
                    <a:pt x="1965651" y="7662"/>
                    <a:pt x="1979290" y="21301"/>
                  </a:cubicBezTo>
                  <a:cubicBezTo>
                    <a:pt x="1992929" y="34940"/>
                    <a:pt x="2000591" y="53438"/>
                    <a:pt x="2000591" y="72727"/>
                  </a:cubicBezTo>
                  <a:lnTo>
                    <a:pt x="2000591" y="1462881"/>
                  </a:lnTo>
                  <a:cubicBezTo>
                    <a:pt x="2000591" y="1482169"/>
                    <a:pt x="1992929" y="1500667"/>
                    <a:pt x="1979290" y="1514306"/>
                  </a:cubicBezTo>
                  <a:cubicBezTo>
                    <a:pt x="1965651" y="1527945"/>
                    <a:pt x="1947152" y="1535607"/>
                    <a:pt x="1927864" y="1535607"/>
                  </a:cubicBezTo>
                  <a:lnTo>
                    <a:pt x="72727" y="1535607"/>
                  </a:lnTo>
                  <a:cubicBezTo>
                    <a:pt x="32561" y="1535607"/>
                    <a:pt x="0" y="1503047"/>
                    <a:pt x="0" y="1462881"/>
                  </a:cubicBezTo>
                  <a:lnTo>
                    <a:pt x="0" y="72727"/>
                  </a:lnTo>
                  <a:cubicBezTo>
                    <a:pt x="0" y="53438"/>
                    <a:pt x="7662" y="34940"/>
                    <a:pt x="21301" y="21301"/>
                  </a:cubicBezTo>
                  <a:cubicBezTo>
                    <a:pt x="34940" y="7662"/>
                    <a:pt x="53438" y="0"/>
                    <a:pt x="7272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00591" cy="158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567603" y="1467267"/>
            <a:ext cx="7353127" cy="56041"/>
            <a:chOff x="0" y="0"/>
            <a:chExt cx="278383" cy="21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383" cy="2122"/>
            </a:xfrm>
            <a:custGeom>
              <a:avLst/>
              <a:gdLst/>
              <a:ahLst/>
              <a:cxnLst/>
              <a:rect l="l" t="t" r="r" b="b"/>
              <a:pathLst>
                <a:path w="278383" h="2122">
                  <a:moveTo>
                    <a:pt x="1061" y="0"/>
                  </a:moveTo>
                  <a:lnTo>
                    <a:pt x="277322" y="0"/>
                  </a:lnTo>
                  <a:cubicBezTo>
                    <a:pt x="277603" y="0"/>
                    <a:pt x="277873" y="112"/>
                    <a:pt x="278072" y="311"/>
                  </a:cubicBezTo>
                  <a:cubicBezTo>
                    <a:pt x="278271" y="510"/>
                    <a:pt x="278383" y="779"/>
                    <a:pt x="278383" y="1061"/>
                  </a:cubicBezTo>
                  <a:lnTo>
                    <a:pt x="278383" y="1061"/>
                  </a:lnTo>
                  <a:cubicBezTo>
                    <a:pt x="278383" y="1342"/>
                    <a:pt x="278271" y="1612"/>
                    <a:pt x="278072" y="1811"/>
                  </a:cubicBezTo>
                  <a:cubicBezTo>
                    <a:pt x="277873" y="2010"/>
                    <a:pt x="277603" y="2122"/>
                    <a:pt x="277322" y="2122"/>
                  </a:cubicBezTo>
                  <a:lnTo>
                    <a:pt x="1061" y="2122"/>
                  </a:lnTo>
                  <a:cubicBezTo>
                    <a:pt x="779" y="2122"/>
                    <a:pt x="510" y="2010"/>
                    <a:pt x="311" y="1811"/>
                  </a:cubicBezTo>
                  <a:cubicBezTo>
                    <a:pt x="112" y="1612"/>
                    <a:pt x="0" y="1342"/>
                    <a:pt x="0" y="1061"/>
                  </a:cubicBezTo>
                  <a:lnTo>
                    <a:pt x="0" y="1061"/>
                  </a:lnTo>
                  <a:cubicBezTo>
                    <a:pt x="0" y="779"/>
                    <a:pt x="112" y="510"/>
                    <a:pt x="311" y="311"/>
                  </a:cubicBezTo>
                  <a:cubicBezTo>
                    <a:pt x="510" y="112"/>
                    <a:pt x="779" y="0"/>
                    <a:pt x="1061" y="0"/>
                  </a:cubicBez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8383" cy="49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1146" y="177062"/>
            <a:ext cx="4367092" cy="1290206"/>
            <a:chOff x="0" y="0"/>
            <a:chExt cx="5822789" cy="1720274"/>
          </a:xfrm>
        </p:grpSpPr>
        <p:sp>
          <p:nvSpPr>
            <p:cNvPr id="11" name="Freeform 11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4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085" y="3407641"/>
            <a:ext cx="13604011" cy="170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5"/>
              </a:lnSpc>
            </a:pPr>
            <a:r>
              <a:rPr lang="en-US" sz="405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5404535"/>
            <a:ext cx="17365319" cy="238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8" lvl="1" indent="-367034" algn="just">
              <a:lnSpc>
                <a:spcPts val="374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Provides extra support for children with working memory difficulties.</a:t>
            </a:r>
          </a:p>
          <a:p>
            <a:pPr marL="734068" lvl="1" indent="-367034" algn="just">
              <a:lnSpc>
                <a:spcPts val="374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Includes puzzles and tasks that adapt to the child’s performance.</a:t>
            </a:r>
          </a:p>
          <a:p>
            <a:pPr marL="734068" lvl="1" indent="-367034" algn="just">
              <a:lnSpc>
                <a:spcPts val="374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Helps children improve weak areas before moving to new tasks.</a:t>
            </a:r>
          </a:p>
          <a:p>
            <a:pPr marL="734068" lvl="1" indent="-367034" algn="just">
              <a:lnSpc>
                <a:spcPts val="3740"/>
              </a:lnSpc>
              <a:buFont typeface="Arial"/>
              <a:buChar char="•"/>
            </a:pPr>
            <a:r>
              <a:rPr lang="en-US" sz="34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Offers Sinhala instructions and a progress dashboard to track learning.</a:t>
            </a:r>
          </a:p>
          <a:p>
            <a:pPr algn="just">
              <a:lnSpc>
                <a:spcPts val="3740"/>
              </a:lnSpc>
            </a:pPr>
            <a:endParaRPr lang="en-US" sz="3400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0" y="7792770"/>
            <a:ext cx="18288000" cy="2494230"/>
            <a:chOff x="0" y="0"/>
            <a:chExt cx="5449352" cy="7432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49353" cy="743216"/>
            </a:xfrm>
            <a:custGeom>
              <a:avLst/>
              <a:gdLst/>
              <a:ahLst/>
              <a:cxnLst/>
              <a:rect l="l" t="t" r="r" b="b"/>
              <a:pathLst>
                <a:path w="5449353" h="743216">
                  <a:moveTo>
                    <a:pt x="0" y="0"/>
                  </a:moveTo>
                  <a:lnTo>
                    <a:pt x="5449353" y="0"/>
                  </a:lnTo>
                  <a:lnTo>
                    <a:pt x="5449353" y="743216"/>
                  </a:lnTo>
                  <a:lnTo>
                    <a:pt x="0" y="743216"/>
                  </a:ln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449352" cy="790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67603" y="1580459"/>
            <a:ext cx="11198014" cy="111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76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H.A.P.N SENADEERA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3794" y="2481009"/>
            <a:ext cx="6192835" cy="69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3"/>
              </a:lnSpc>
              <a:spcBef>
                <a:spcPct val="0"/>
              </a:spcBef>
            </a:pPr>
            <a:r>
              <a:rPr lang="en-US" sz="4045">
                <a:solidFill>
                  <a:srgbClr val="292A2B"/>
                </a:solidFill>
                <a:latin typeface="Helios"/>
                <a:ea typeface="Helios"/>
                <a:cs typeface="Helios"/>
                <a:sym typeface="Helios"/>
              </a:rPr>
              <a:t>IT22502360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573" y="8025447"/>
            <a:ext cx="18244005" cy="224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An AI-assisted adaptive working memory game generation mechanism that creates or configures puzzle activities according to the child’s current memory weakness, performance trend, and task behavior.</a:t>
            </a:r>
          </a:p>
          <a:p>
            <a:pPr algn="l">
              <a:lnSpc>
                <a:spcPts val="4400"/>
              </a:lnSpc>
            </a:pPr>
            <a:endParaRPr lang="en-US" sz="4000" b="1">
              <a:solidFill>
                <a:srgbClr val="000000"/>
              </a:solidFill>
              <a:latin typeface="Helios Bold"/>
              <a:ea typeface="Helios Bold"/>
              <a:cs typeface="Helios Bold"/>
              <a:sym typeface="Helios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3505116" y="262935"/>
            <a:ext cx="4528416" cy="4554504"/>
            <a:chOff x="0" y="0"/>
            <a:chExt cx="851041" cy="855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1041" cy="855944"/>
            </a:xfrm>
            <a:custGeom>
              <a:avLst/>
              <a:gdLst/>
              <a:ahLst/>
              <a:cxnLst/>
              <a:rect l="l" t="t" r="r" b="b"/>
              <a:pathLst>
                <a:path w="851041" h="855944">
                  <a:moveTo>
                    <a:pt x="170963" y="0"/>
                  </a:moveTo>
                  <a:lnTo>
                    <a:pt x="680078" y="0"/>
                  </a:lnTo>
                  <a:cubicBezTo>
                    <a:pt x="774498" y="0"/>
                    <a:pt x="851041" y="76543"/>
                    <a:pt x="851041" y="170963"/>
                  </a:cubicBezTo>
                  <a:lnTo>
                    <a:pt x="851041" y="684981"/>
                  </a:lnTo>
                  <a:cubicBezTo>
                    <a:pt x="851041" y="779401"/>
                    <a:pt x="774498" y="855944"/>
                    <a:pt x="680078" y="855944"/>
                  </a:cubicBezTo>
                  <a:lnTo>
                    <a:pt x="170963" y="855944"/>
                  </a:lnTo>
                  <a:cubicBezTo>
                    <a:pt x="125621" y="855944"/>
                    <a:pt x="82136" y="837932"/>
                    <a:pt x="50074" y="805870"/>
                  </a:cubicBezTo>
                  <a:cubicBezTo>
                    <a:pt x="18012" y="773808"/>
                    <a:pt x="0" y="730323"/>
                    <a:pt x="0" y="684981"/>
                  </a:cubicBezTo>
                  <a:lnTo>
                    <a:pt x="0" y="170963"/>
                  </a:lnTo>
                  <a:cubicBezTo>
                    <a:pt x="0" y="76543"/>
                    <a:pt x="76543" y="0"/>
                    <a:pt x="1709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51041" cy="90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12964" y="608363"/>
            <a:ext cx="3945962" cy="39459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5126" y="0"/>
                  </a:moveTo>
                  <a:lnTo>
                    <a:pt x="767674" y="0"/>
                  </a:lnTo>
                  <a:cubicBezTo>
                    <a:pt x="779642" y="0"/>
                    <a:pt x="791120" y="4754"/>
                    <a:pt x="799583" y="13217"/>
                  </a:cubicBezTo>
                  <a:cubicBezTo>
                    <a:pt x="808046" y="21680"/>
                    <a:pt x="812800" y="33158"/>
                    <a:pt x="812800" y="45126"/>
                  </a:cubicBezTo>
                  <a:lnTo>
                    <a:pt x="812800" y="767674"/>
                  </a:lnTo>
                  <a:cubicBezTo>
                    <a:pt x="812800" y="779642"/>
                    <a:pt x="808046" y="791120"/>
                    <a:pt x="799583" y="799583"/>
                  </a:cubicBezTo>
                  <a:cubicBezTo>
                    <a:pt x="791120" y="808046"/>
                    <a:pt x="779642" y="812800"/>
                    <a:pt x="767674" y="812800"/>
                  </a:cubicBezTo>
                  <a:lnTo>
                    <a:pt x="45126" y="812800"/>
                  </a:lnTo>
                  <a:cubicBezTo>
                    <a:pt x="33158" y="812800"/>
                    <a:pt x="21680" y="808046"/>
                    <a:pt x="13217" y="799583"/>
                  </a:cubicBezTo>
                  <a:cubicBezTo>
                    <a:pt x="4754" y="791120"/>
                    <a:pt x="0" y="779642"/>
                    <a:pt x="0" y="767674"/>
                  </a:cubicBezTo>
                  <a:lnTo>
                    <a:pt x="0" y="45126"/>
                  </a:lnTo>
                  <a:cubicBezTo>
                    <a:pt x="0" y="33158"/>
                    <a:pt x="4754" y="21680"/>
                    <a:pt x="13217" y="13217"/>
                  </a:cubicBezTo>
                  <a:cubicBezTo>
                    <a:pt x="21680" y="4754"/>
                    <a:pt x="33158" y="0"/>
                    <a:pt x="45126" y="0"/>
                  </a:cubicBezTo>
                  <a:close/>
                </a:path>
              </a:pathLst>
            </a:custGeom>
            <a:blipFill>
              <a:blip r:embed="rId5"/>
              <a:stretch>
                <a:fillRect l="-14001" t="-4766" r="-15491" b="-24726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603928"/>
            <a:ext cx="18288000" cy="12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0522" y="9648825"/>
            <a:ext cx="490025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IT22502360|H.A.P.N Senadeera | R26-IT-114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0911" y="2403927"/>
            <a:ext cx="6997330" cy="7088666"/>
            <a:chOff x="0" y="0"/>
            <a:chExt cx="9329773" cy="94515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38385" cy="9451554"/>
            </a:xfrm>
            <a:custGeom>
              <a:avLst/>
              <a:gdLst/>
              <a:ahLst/>
              <a:cxnLst/>
              <a:rect l="l" t="t" r="r" b="b"/>
              <a:pathLst>
                <a:path w="9138385" h="9451554">
                  <a:moveTo>
                    <a:pt x="0" y="0"/>
                  </a:moveTo>
                  <a:lnTo>
                    <a:pt x="9138385" y="0"/>
                  </a:lnTo>
                  <a:lnTo>
                    <a:pt x="9138385" y="9451554"/>
                  </a:lnTo>
                  <a:lnTo>
                    <a:pt x="0" y="9451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75" r="-23068" b="-3075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182329"/>
              <a:ext cx="9329773" cy="1378775"/>
            </a:xfrm>
            <a:custGeom>
              <a:avLst/>
              <a:gdLst/>
              <a:ahLst/>
              <a:cxnLst/>
              <a:rect l="l" t="t" r="r" b="b"/>
              <a:pathLst>
                <a:path w="9329773" h="1378775">
                  <a:moveTo>
                    <a:pt x="0" y="0"/>
                  </a:moveTo>
                  <a:lnTo>
                    <a:pt x="9329773" y="0"/>
                  </a:lnTo>
                  <a:lnTo>
                    <a:pt x="9329773" y="1378775"/>
                  </a:lnTo>
                  <a:lnTo>
                    <a:pt x="0" y="1378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6" r="-58555" b="-1206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916" y="436953"/>
              <a:ext cx="8013573" cy="793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THE PROBLEM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804" y="1857204"/>
              <a:ext cx="8027685" cy="71853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67373" lvl="1" indent="-333687" algn="l">
                <a:lnSpc>
                  <a:spcPts val="43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1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Many children (6–8 years) have working memory difficulties</a:t>
              </a:r>
            </a:p>
            <a:p>
              <a:pPr marL="667373" lvl="1" indent="-333687" algn="l">
                <a:lnSpc>
                  <a:spcPts val="43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1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Hard to remember instructions and complete tasks</a:t>
              </a:r>
            </a:p>
            <a:p>
              <a:pPr marL="667373" lvl="1" indent="-333687" algn="l">
                <a:lnSpc>
                  <a:spcPts val="43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1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Existing apps mostly English only</a:t>
              </a:r>
            </a:p>
            <a:p>
              <a:pPr marL="667373" lvl="1" indent="-333687" algn="l">
                <a:lnSpc>
                  <a:spcPts val="432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91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Many apps do not adapt to child performance</a:t>
              </a:r>
            </a:p>
            <a:p>
              <a:pPr algn="l">
                <a:lnSpc>
                  <a:spcPts val="4327"/>
                </a:lnSpc>
                <a:spcBef>
                  <a:spcPct val="0"/>
                </a:spcBef>
              </a:pPr>
              <a:endPara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724829" y="2403927"/>
            <a:ext cx="10155228" cy="7546840"/>
            <a:chOff x="0" y="0"/>
            <a:chExt cx="13540304" cy="1006245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540304" cy="10062454"/>
            </a:xfrm>
            <a:custGeom>
              <a:avLst/>
              <a:gdLst/>
              <a:ahLst/>
              <a:cxnLst/>
              <a:rect l="l" t="t" r="r" b="b"/>
              <a:pathLst>
                <a:path w="13540304" h="10062454">
                  <a:moveTo>
                    <a:pt x="0" y="0"/>
                  </a:moveTo>
                  <a:lnTo>
                    <a:pt x="13540304" y="0"/>
                  </a:lnTo>
                  <a:lnTo>
                    <a:pt x="13540304" y="10062454"/>
                  </a:lnTo>
                  <a:lnTo>
                    <a:pt x="0" y="10062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20" b="-10020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275517"/>
              <a:ext cx="13540304" cy="1378775"/>
            </a:xfrm>
            <a:custGeom>
              <a:avLst/>
              <a:gdLst/>
              <a:ahLst/>
              <a:cxnLst/>
              <a:rect l="l" t="t" r="r" b="b"/>
              <a:pathLst>
                <a:path w="13540304" h="1378775">
                  <a:moveTo>
                    <a:pt x="0" y="0"/>
                  </a:moveTo>
                  <a:lnTo>
                    <a:pt x="13540304" y="0"/>
                  </a:lnTo>
                  <a:lnTo>
                    <a:pt x="13540304" y="1378775"/>
                  </a:lnTo>
                  <a:lnTo>
                    <a:pt x="0" y="1378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025" r="-47266" b="-19025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1142" y="595198"/>
              <a:ext cx="11860829" cy="151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MAIN OBJECTIVE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endParaRPr lang="en-US" sz="32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142" y="1986506"/>
              <a:ext cx="12103435" cy="2016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3"/>
                </a:lnSpc>
                <a:spcBef>
                  <a:spcPct val="0"/>
                </a:spcBef>
              </a:pPr>
              <a:r>
                <a:rPr lang="en-US" sz="2895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Develop an AI-based Sinhala mobile web application to improve the working memory of children aged 6–8 years.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4150919"/>
              <a:ext cx="13540304" cy="1094398"/>
            </a:xfrm>
            <a:custGeom>
              <a:avLst/>
              <a:gdLst/>
              <a:ahLst/>
              <a:cxnLst/>
              <a:rect l="l" t="t" r="r" b="b"/>
              <a:pathLst>
                <a:path w="13540304" h="1094398">
                  <a:moveTo>
                    <a:pt x="0" y="0"/>
                  </a:moveTo>
                  <a:lnTo>
                    <a:pt x="13540304" y="0"/>
                  </a:lnTo>
                  <a:lnTo>
                    <a:pt x="13540304" y="1094399"/>
                  </a:lnTo>
                  <a:lnTo>
                    <a:pt x="0" y="1094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019" r="-50644" b="-56891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1142" y="4318815"/>
              <a:ext cx="11860829" cy="151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  <a:spcBef>
                  <a:spcPct val="0"/>
                </a:spcBef>
              </a:pPr>
              <a:r>
                <a:rPr lang="en-US" sz="330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Sub OBJECTIVES</a:t>
              </a:r>
            </a:p>
            <a:p>
              <a:pPr algn="ctr">
                <a:lnSpc>
                  <a:spcPts val="4620"/>
                </a:lnSpc>
                <a:spcBef>
                  <a:spcPct val="0"/>
                </a:spcBef>
              </a:pPr>
              <a:endParaRPr lang="en-US" sz="33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1142" y="5426078"/>
              <a:ext cx="12103435" cy="4229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4286" lvl="1" indent="-282143" algn="l">
                <a:lnSpc>
                  <a:spcPts val="3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Interactive memory games (cards, sequences, shapes, numbers)</a:t>
              </a:r>
            </a:p>
            <a:p>
              <a:pPr marL="564286" lvl="1" indent="-282143" algn="l">
                <a:lnSpc>
                  <a:spcPts val="3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Adaptive puzzles that AI adjust to the child’s level</a:t>
              </a:r>
            </a:p>
            <a:p>
              <a:pPr marL="564286" lvl="1" indent="-282143" algn="l">
                <a:lnSpc>
                  <a:spcPts val="3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Extra practice for tasks the child struggles with</a:t>
              </a:r>
            </a:p>
            <a:p>
              <a:pPr marL="564286" lvl="1" indent="-282143" algn="l">
                <a:lnSpc>
                  <a:spcPts val="3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Track progress with easy-to-read dashboards</a:t>
              </a:r>
            </a:p>
            <a:p>
              <a:pPr marL="564286" lvl="1" indent="-282143" algn="l">
                <a:lnSpc>
                  <a:spcPts val="3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Sinhala instructions for all activities</a:t>
              </a:r>
            </a:p>
            <a:p>
              <a:pPr algn="l">
                <a:lnSpc>
                  <a:spcPts val="3659"/>
                </a:lnSpc>
                <a:spcBef>
                  <a:spcPct val="0"/>
                </a:spcBef>
              </a:pPr>
              <a:endParaRPr lang="en-US" sz="2613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625651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9008" y="516160"/>
            <a:ext cx="16590292" cy="119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83572" y="3794737"/>
            <a:ext cx="1241526" cy="1130581"/>
          </a:xfrm>
          <a:custGeom>
            <a:avLst/>
            <a:gdLst/>
            <a:ahLst/>
            <a:cxnLst/>
            <a:rect l="l" t="t" r="r" b="b"/>
            <a:pathLst>
              <a:path w="1241526" h="1130581">
                <a:moveTo>
                  <a:pt x="0" y="0"/>
                </a:moveTo>
                <a:lnTo>
                  <a:pt x="1241526" y="0"/>
                </a:lnTo>
                <a:lnTo>
                  <a:pt x="1241526" y="1130581"/>
                </a:lnTo>
                <a:lnTo>
                  <a:pt x="0" y="1130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Freeform 12"/>
          <p:cNvSpPr/>
          <p:nvPr/>
        </p:nvSpPr>
        <p:spPr>
          <a:xfrm>
            <a:off x="11535046" y="3319018"/>
            <a:ext cx="1551493" cy="951438"/>
          </a:xfrm>
          <a:custGeom>
            <a:avLst/>
            <a:gdLst/>
            <a:ahLst/>
            <a:cxnLst/>
            <a:rect l="l" t="t" r="r" b="b"/>
            <a:pathLst>
              <a:path w="1551493" h="951438">
                <a:moveTo>
                  <a:pt x="0" y="0"/>
                </a:moveTo>
                <a:lnTo>
                  <a:pt x="1551493" y="0"/>
                </a:lnTo>
                <a:lnTo>
                  <a:pt x="1551493" y="951438"/>
                </a:lnTo>
                <a:lnTo>
                  <a:pt x="0" y="951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3" name="Group 13"/>
          <p:cNvGrpSpPr/>
          <p:nvPr/>
        </p:nvGrpSpPr>
        <p:grpSpPr>
          <a:xfrm>
            <a:off x="11417595" y="5700073"/>
            <a:ext cx="3216606" cy="1018413"/>
            <a:chOff x="0" y="0"/>
            <a:chExt cx="661853" cy="209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1853" cy="209550"/>
            </a:xfrm>
            <a:custGeom>
              <a:avLst/>
              <a:gdLst/>
              <a:ahLst/>
              <a:cxnLst/>
              <a:rect l="l" t="t" r="r" b="b"/>
              <a:pathLst>
                <a:path w="661853" h="209550">
                  <a:moveTo>
                    <a:pt x="47009" y="0"/>
                  </a:moveTo>
                  <a:lnTo>
                    <a:pt x="614844" y="0"/>
                  </a:lnTo>
                  <a:cubicBezTo>
                    <a:pt x="627312" y="0"/>
                    <a:pt x="639268" y="4953"/>
                    <a:pt x="648084" y="13769"/>
                  </a:cubicBezTo>
                  <a:cubicBezTo>
                    <a:pt x="656900" y="22585"/>
                    <a:pt x="661853" y="34541"/>
                    <a:pt x="661853" y="47009"/>
                  </a:cubicBezTo>
                  <a:lnTo>
                    <a:pt x="661853" y="162541"/>
                  </a:lnTo>
                  <a:cubicBezTo>
                    <a:pt x="661853" y="175009"/>
                    <a:pt x="656900" y="186965"/>
                    <a:pt x="648084" y="195781"/>
                  </a:cubicBezTo>
                  <a:cubicBezTo>
                    <a:pt x="639268" y="204597"/>
                    <a:pt x="627312" y="209550"/>
                    <a:pt x="614844" y="209550"/>
                  </a:cubicBezTo>
                  <a:lnTo>
                    <a:pt x="47009" y="209550"/>
                  </a:lnTo>
                  <a:cubicBezTo>
                    <a:pt x="34541" y="209550"/>
                    <a:pt x="22585" y="204597"/>
                    <a:pt x="13769" y="195781"/>
                  </a:cubicBezTo>
                  <a:cubicBezTo>
                    <a:pt x="4953" y="186965"/>
                    <a:pt x="0" y="175009"/>
                    <a:pt x="0" y="162541"/>
                  </a:cubicBezTo>
                  <a:lnTo>
                    <a:pt x="0" y="47009"/>
                  </a:lnTo>
                  <a:cubicBezTo>
                    <a:pt x="0" y="34541"/>
                    <a:pt x="4953" y="22585"/>
                    <a:pt x="13769" y="13769"/>
                  </a:cubicBezTo>
                  <a:cubicBezTo>
                    <a:pt x="22585" y="4953"/>
                    <a:pt x="34541" y="0"/>
                    <a:pt x="47009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661853" cy="25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Technologies 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8226041" y="5587371"/>
            <a:ext cx="1699057" cy="1471384"/>
          </a:xfrm>
          <a:custGeom>
            <a:avLst/>
            <a:gdLst/>
            <a:ahLst/>
            <a:cxnLst/>
            <a:rect l="l" t="t" r="r" b="b"/>
            <a:pathLst>
              <a:path w="1699057" h="1471384">
                <a:moveTo>
                  <a:pt x="0" y="0"/>
                </a:moveTo>
                <a:lnTo>
                  <a:pt x="1699057" y="0"/>
                </a:lnTo>
                <a:lnTo>
                  <a:pt x="1699057" y="1471384"/>
                </a:lnTo>
                <a:lnTo>
                  <a:pt x="0" y="1471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Freeform 17"/>
          <p:cNvSpPr/>
          <p:nvPr/>
        </p:nvSpPr>
        <p:spPr>
          <a:xfrm>
            <a:off x="10509069" y="7234434"/>
            <a:ext cx="1499058" cy="1499058"/>
          </a:xfrm>
          <a:custGeom>
            <a:avLst/>
            <a:gdLst/>
            <a:ahLst/>
            <a:cxnLst/>
            <a:rect l="l" t="t" r="r" b="b"/>
            <a:pathLst>
              <a:path w="1499058" h="1499058">
                <a:moveTo>
                  <a:pt x="0" y="0"/>
                </a:moveTo>
                <a:lnTo>
                  <a:pt x="1499058" y="0"/>
                </a:lnTo>
                <a:lnTo>
                  <a:pt x="1499058" y="1499058"/>
                </a:lnTo>
                <a:lnTo>
                  <a:pt x="0" y="1499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8" name="Freeform 18"/>
          <p:cNvSpPr/>
          <p:nvPr/>
        </p:nvSpPr>
        <p:spPr>
          <a:xfrm>
            <a:off x="14703548" y="3561899"/>
            <a:ext cx="1251415" cy="1251415"/>
          </a:xfrm>
          <a:custGeom>
            <a:avLst/>
            <a:gdLst/>
            <a:ahLst/>
            <a:cxnLst/>
            <a:rect l="l" t="t" r="r" b="b"/>
            <a:pathLst>
              <a:path w="1251415" h="1251415">
                <a:moveTo>
                  <a:pt x="0" y="0"/>
                </a:moveTo>
                <a:lnTo>
                  <a:pt x="1251415" y="0"/>
                </a:lnTo>
                <a:lnTo>
                  <a:pt x="1251415" y="1251416"/>
                </a:lnTo>
                <a:lnTo>
                  <a:pt x="0" y="1251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9" name="Freeform 19"/>
          <p:cNvSpPr/>
          <p:nvPr/>
        </p:nvSpPr>
        <p:spPr>
          <a:xfrm>
            <a:off x="14137090" y="7234434"/>
            <a:ext cx="1132916" cy="1078733"/>
          </a:xfrm>
          <a:custGeom>
            <a:avLst/>
            <a:gdLst/>
            <a:ahLst/>
            <a:cxnLst/>
            <a:rect l="l" t="t" r="r" b="b"/>
            <a:pathLst>
              <a:path w="1132916" h="1078733">
                <a:moveTo>
                  <a:pt x="0" y="0"/>
                </a:moveTo>
                <a:lnTo>
                  <a:pt x="1132916" y="0"/>
                </a:lnTo>
                <a:lnTo>
                  <a:pt x="1132916" y="1078733"/>
                </a:lnTo>
                <a:lnTo>
                  <a:pt x="0" y="107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0" name="TextBox 20"/>
          <p:cNvSpPr txBox="1"/>
          <p:nvPr/>
        </p:nvSpPr>
        <p:spPr>
          <a:xfrm>
            <a:off x="8190451" y="4908247"/>
            <a:ext cx="2227768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Frontend:React.js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58598" y="4303905"/>
            <a:ext cx="2227768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Backend:Node.js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906021" y="4636645"/>
            <a:ext cx="805957" cy="8681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3" name="AutoShape 23"/>
          <p:cNvSpPr/>
          <p:nvPr/>
        </p:nvSpPr>
        <p:spPr>
          <a:xfrm>
            <a:off x="10358618" y="5070408"/>
            <a:ext cx="1114941" cy="6148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4" name="AutoShape 24"/>
          <p:cNvSpPr/>
          <p:nvPr/>
        </p:nvSpPr>
        <p:spPr>
          <a:xfrm>
            <a:off x="9925098" y="6069197"/>
            <a:ext cx="1492497" cy="40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5" name="AutoShape 25"/>
          <p:cNvSpPr/>
          <p:nvPr/>
        </p:nvSpPr>
        <p:spPr>
          <a:xfrm flipV="1">
            <a:off x="11623440" y="6729639"/>
            <a:ext cx="728459" cy="722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6" name="AutoShape 26"/>
          <p:cNvSpPr/>
          <p:nvPr/>
        </p:nvSpPr>
        <p:spPr>
          <a:xfrm flipH="1" flipV="1">
            <a:off x="13486366" y="6794824"/>
            <a:ext cx="650724" cy="6633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7" name="TextBox 27"/>
          <p:cNvSpPr txBox="1"/>
          <p:nvPr/>
        </p:nvSpPr>
        <p:spPr>
          <a:xfrm>
            <a:off x="7744177" y="7125430"/>
            <a:ext cx="266278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Database:Mongo DB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5098" y="8714683"/>
            <a:ext cx="266278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Database:Firebase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07786" y="4653128"/>
            <a:ext cx="2600789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Cloud Storage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54646" y="8405438"/>
            <a:ext cx="3097805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AI Development:Python with TensorFlow</a:t>
            </a:r>
          </a:p>
        </p:txBody>
      </p:sp>
      <p:sp>
        <p:nvSpPr>
          <p:cNvPr id="31" name="AutoShape 31"/>
          <p:cNvSpPr/>
          <p:nvPr/>
        </p:nvSpPr>
        <p:spPr>
          <a:xfrm flipH="1">
            <a:off x="13843247" y="4700753"/>
            <a:ext cx="955995" cy="899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32" name="Freeform 32"/>
          <p:cNvSpPr/>
          <p:nvPr/>
        </p:nvSpPr>
        <p:spPr>
          <a:xfrm>
            <a:off x="669008" y="2217180"/>
            <a:ext cx="6649790" cy="6854373"/>
          </a:xfrm>
          <a:custGeom>
            <a:avLst/>
            <a:gdLst/>
            <a:ahLst/>
            <a:cxnLst/>
            <a:rect l="l" t="t" r="r" b="b"/>
            <a:pathLst>
              <a:path w="6649790" h="6854373">
                <a:moveTo>
                  <a:pt x="0" y="0"/>
                </a:moveTo>
                <a:lnTo>
                  <a:pt x="6649790" y="0"/>
                </a:lnTo>
                <a:lnTo>
                  <a:pt x="6649790" y="6854373"/>
                </a:lnTo>
                <a:lnTo>
                  <a:pt x="0" y="68543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919" t="-647" r="-11121" b="-647"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3" name="Group 33"/>
          <p:cNvGrpSpPr/>
          <p:nvPr/>
        </p:nvGrpSpPr>
        <p:grpSpPr>
          <a:xfrm>
            <a:off x="1912817" y="7010535"/>
            <a:ext cx="3956137" cy="1018413"/>
            <a:chOff x="0" y="0"/>
            <a:chExt cx="814020" cy="2095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4020" cy="209550"/>
            </a:xfrm>
            <a:custGeom>
              <a:avLst/>
              <a:gdLst/>
              <a:ahLst/>
              <a:cxnLst/>
              <a:rect l="l" t="t" r="r" b="b"/>
              <a:pathLst>
                <a:path w="814020" h="209550">
                  <a:moveTo>
                    <a:pt x="38221" y="0"/>
                  </a:moveTo>
                  <a:lnTo>
                    <a:pt x="775799" y="0"/>
                  </a:lnTo>
                  <a:cubicBezTo>
                    <a:pt x="785935" y="0"/>
                    <a:pt x="795657" y="4027"/>
                    <a:pt x="802825" y="11195"/>
                  </a:cubicBezTo>
                  <a:cubicBezTo>
                    <a:pt x="809993" y="18363"/>
                    <a:pt x="814020" y="28085"/>
                    <a:pt x="814020" y="38221"/>
                  </a:cubicBezTo>
                  <a:lnTo>
                    <a:pt x="814020" y="171329"/>
                  </a:lnTo>
                  <a:cubicBezTo>
                    <a:pt x="814020" y="181465"/>
                    <a:pt x="809993" y="191187"/>
                    <a:pt x="802825" y="198355"/>
                  </a:cubicBezTo>
                  <a:cubicBezTo>
                    <a:pt x="795657" y="205523"/>
                    <a:pt x="785935" y="209550"/>
                    <a:pt x="775799" y="209550"/>
                  </a:cubicBezTo>
                  <a:lnTo>
                    <a:pt x="38221" y="209550"/>
                  </a:lnTo>
                  <a:cubicBezTo>
                    <a:pt x="28085" y="209550"/>
                    <a:pt x="18363" y="205523"/>
                    <a:pt x="11195" y="198355"/>
                  </a:cubicBezTo>
                  <a:cubicBezTo>
                    <a:pt x="4027" y="191187"/>
                    <a:pt x="0" y="181465"/>
                    <a:pt x="0" y="171329"/>
                  </a:cubicBezTo>
                  <a:lnTo>
                    <a:pt x="0" y="38221"/>
                  </a:lnTo>
                  <a:cubicBezTo>
                    <a:pt x="0" y="28085"/>
                    <a:pt x="4027" y="18363"/>
                    <a:pt x="11195" y="11195"/>
                  </a:cubicBezTo>
                  <a:cubicBezTo>
                    <a:pt x="18363" y="4027"/>
                    <a:pt x="28085" y="0"/>
                    <a:pt x="38221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81402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Human–Computer Interaction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669008" y="2350117"/>
            <a:ext cx="6649790" cy="1034081"/>
          </a:xfrm>
          <a:custGeom>
            <a:avLst/>
            <a:gdLst/>
            <a:ahLst/>
            <a:cxnLst/>
            <a:rect l="l" t="t" r="r" b="b"/>
            <a:pathLst>
              <a:path w="6649790" h="1034081">
                <a:moveTo>
                  <a:pt x="0" y="0"/>
                </a:moveTo>
                <a:lnTo>
                  <a:pt x="6649790" y="0"/>
                </a:lnTo>
                <a:lnTo>
                  <a:pt x="664979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480" t="-1135" r="-64129" b="-113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7" name="TextBox 37"/>
          <p:cNvSpPr txBox="1"/>
          <p:nvPr/>
        </p:nvSpPr>
        <p:spPr>
          <a:xfrm>
            <a:off x="669008" y="2525845"/>
            <a:ext cx="644375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 Domain Knowledge</a:t>
            </a:r>
          </a:p>
        </p:txBody>
      </p:sp>
      <p:sp>
        <p:nvSpPr>
          <p:cNvPr id="38" name="Freeform 38"/>
          <p:cNvSpPr/>
          <p:nvPr/>
        </p:nvSpPr>
        <p:spPr>
          <a:xfrm>
            <a:off x="9449843" y="2284937"/>
            <a:ext cx="6649790" cy="1034081"/>
          </a:xfrm>
          <a:custGeom>
            <a:avLst/>
            <a:gdLst/>
            <a:ahLst/>
            <a:cxnLst/>
            <a:rect l="l" t="t" r="r" b="b"/>
            <a:pathLst>
              <a:path w="6649790" h="1034081">
                <a:moveTo>
                  <a:pt x="0" y="0"/>
                </a:moveTo>
                <a:lnTo>
                  <a:pt x="6649790" y="0"/>
                </a:lnTo>
                <a:lnTo>
                  <a:pt x="664979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480" t="-1135" r="-64129" b="-113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9" name="TextBox 39"/>
          <p:cNvSpPr txBox="1"/>
          <p:nvPr/>
        </p:nvSpPr>
        <p:spPr>
          <a:xfrm>
            <a:off x="9655877" y="2460664"/>
            <a:ext cx="644375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Technologies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999820" y="3807198"/>
            <a:ext cx="3782130" cy="1018413"/>
            <a:chOff x="0" y="0"/>
            <a:chExt cx="778216" cy="209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78216" cy="209550"/>
            </a:xfrm>
            <a:custGeom>
              <a:avLst/>
              <a:gdLst/>
              <a:ahLst/>
              <a:cxnLst/>
              <a:rect l="l" t="t" r="r" b="b"/>
              <a:pathLst>
                <a:path w="778216" h="209550">
                  <a:moveTo>
                    <a:pt x="39980" y="0"/>
                  </a:moveTo>
                  <a:lnTo>
                    <a:pt x="738236" y="0"/>
                  </a:lnTo>
                  <a:cubicBezTo>
                    <a:pt x="748839" y="0"/>
                    <a:pt x="759008" y="4212"/>
                    <a:pt x="766506" y="11710"/>
                  </a:cubicBezTo>
                  <a:cubicBezTo>
                    <a:pt x="774004" y="19208"/>
                    <a:pt x="778216" y="29377"/>
                    <a:pt x="778216" y="39980"/>
                  </a:cubicBezTo>
                  <a:lnTo>
                    <a:pt x="778216" y="169570"/>
                  </a:lnTo>
                  <a:cubicBezTo>
                    <a:pt x="778216" y="180173"/>
                    <a:pt x="774004" y="190342"/>
                    <a:pt x="766506" y="197840"/>
                  </a:cubicBezTo>
                  <a:cubicBezTo>
                    <a:pt x="759008" y="205338"/>
                    <a:pt x="748839" y="209550"/>
                    <a:pt x="738236" y="209550"/>
                  </a:cubicBezTo>
                  <a:lnTo>
                    <a:pt x="39980" y="209550"/>
                  </a:lnTo>
                  <a:cubicBezTo>
                    <a:pt x="29377" y="209550"/>
                    <a:pt x="19208" y="205338"/>
                    <a:pt x="11710" y="197840"/>
                  </a:cubicBezTo>
                  <a:cubicBezTo>
                    <a:pt x="4212" y="190342"/>
                    <a:pt x="0" y="180173"/>
                    <a:pt x="0" y="169570"/>
                  </a:cubicBezTo>
                  <a:lnTo>
                    <a:pt x="0" y="39980"/>
                  </a:lnTo>
                  <a:cubicBezTo>
                    <a:pt x="0" y="29377"/>
                    <a:pt x="4212" y="19208"/>
                    <a:pt x="11710" y="11710"/>
                  </a:cubicBezTo>
                  <a:cubicBezTo>
                    <a:pt x="19208" y="4212"/>
                    <a:pt x="29377" y="0"/>
                    <a:pt x="39980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778216" cy="25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AI &amp; Adaptive leaning 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2583" y="5408867"/>
            <a:ext cx="3216606" cy="1018413"/>
            <a:chOff x="0" y="0"/>
            <a:chExt cx="661853" cy="2095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61853" cy="209550"/>
            </a:xfrm>
            <a:custGeom>
              <a:avLst/>
              <a:gdLst/>
              <a:ahLst/>
              <a:cxnLst/>
              <a:rect l="l" t="t" r="r" b="b"/>
              <a:pathLst>
                <a:path w="661853" h="209550">
                  <a:moveTo>
                    <a:pt x="47009" y="0"/>
                  </a:moveTo>
                  <a:lnTo>
                    <a:pt x="614844" y="0"/>
                  </a:lnTo>
                  <a:cubicBezTo>
                    <a:pt x="627312" y="0"/>
                    <a:pt x="639268" y="4953"/>
                    <a:pt x="648084" y="13769"/>
                  </a:cubicBezTo>
                  <a:cubicBezTo>
                    <a:pt x="656900" y="22585"/>
                    <a:pt x="661853" y="34541"/>
                    <a:pt x="661853" y="47009"/>
                  </a:cubicBezTo>
                  <a:lnTo>
                    <a:pt x="661853" y="162541"/>
                  </a:lnTo>
                  <a:cubicBezTo>
                    <a:pt x="661853" y="175009"/>
                    <a:pt x="656900" y="186965"/>
                    <a:pt x="648084" y="195781"/>
                  </a:cubicBezTo>
                  <a:cubicBezTo>
                    <a:pt x="639268" y="204597"/>
                    <a:pt x="627312" y="209550"/>
                    <a:pt x="614844" y="209550"/>
                  </a:cubicBezTo>
                  <a:lnTo>
                    <a:pt x="47009" y="209550"/>
                  </a:lnTo>
                  <a:cubicBezTo>
                    <a:pt x="34541" y="209550"/>
                    <a:pt x="22585" y="204597"/>
                    <a:pt x="13769" y="195781"/>
                  </a:cubicBezTo>
                  <a:cubicBezTo>
                    <a:pt x="4953" y="186965"/>
                    <a:pt x="0" y="175009"/>
                    <a:pt x="0" y="162541"/>
                  </a:cubicBezTo>
                  <a:lnTo>
                    <a:pt x="0" y="47009"/>
                  </a:lnTo>
                  <a:cubicBezTo>
                    <a:pt x="0" y="34541"/>
                    <a:pt x="4953" y="22585"/>
                    <a:pt x="13769" y="13769"/>
                  </a:cubicBezTo>
                  <a:cubicBezTo>
                    <a:pt x="22585" y="4953"/>
                    <a:pt x="34541" y="0"/>
                    <a:pt x="47009" y="0"/>
                  </a:cubicBezTo>
                  <a:close/>
                </a:path>
              </a:pathLst>
            </a:custGeom>
            <a:solidFill>
              <a:srgbClr val="9ABCD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661853" cy="25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EdTech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634201" y="5685227"/>
            <a:ext cx="3476754" cy="1393628"/>
            <a:chOff x="0" y="0"/>
            <a:chExt cx="4635673" cy="1858170"/>
          </a:xfrm>
        </p:grpSpPr>
        <p:sp>
          <p:nvSpPr>
            <p:cNvPr id="47" name="Freeform 47"/>
            <p:cNvSpPr/>
            <p:nvPr/>
          </p:nvSpPr>
          <p:spPr>
            <a:xfrm>
              <a:off x="1379053" y="0"/>
              <a:ext cx="2374002" cy="1315676"/>
            </a:xfrm>
            <a:custGeom>
              <a:avLst/>
              <a:gdLst/>
              <a:ahLst/>
              <a:cxnLst/>
              <a:rect l="l" t="t" r="r" b="b"/>
              <a:pathLst>
                <a:path w="2374002" h="1315676">
                  <a:moveTo>
                    <a:pt x="0" y="0"/>
                  </a:moveTo>
                  <a:lnTo>
                    <a:pt x="2374002" y="0"/>
                  </a:lnTo>
                  <a:lnTo>
                    <a:pt x="2374002" y="1315676"/>
                  </a:lnTo>
                  <a:lnTo>
                    <a:pt x="0" y="131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6208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67954" y="1430392"/>
              <a:ext cx="3467718" cy="427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AI Adaptive Engine </a:t>
              </a:r>
            </a:p>
          </p:txBody>
        </p:sp>
        <p:sp>
          <p:nvSpPr>
            <p:cNvPr id="49" name="AutoShape 49"/>
            <p:cNvSpPr/>
            <p:nvPr/>
          </p:nvSpPr>
          <p:spPr>
            <a:xfrm>
              <a:off x="1385" y="592740"/>
              <a:ext cx="1192178" cy="6509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518888" y="9670576"/>
            <a:ext cx="490025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IT22502360|H.A.P.N Senadeera | R26-IT-114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603928"/>
            <a:ext cx="18288000" cy="12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43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0911" y="2101169"/>
            <a:ext cx="8973089" cy="1225469"/>
          </a:xfrm>
          <a:custGeom>
            <a:avLst/>
            <a:gdLst/>
            <a:ahLst/>
            <a:cxnLst/>
            <a:rect l="l" t="t" r="r" b="b"/>
            <a:pathLst>
              <a:path w="8973089" h="1225469">
                <a:moveTo>
                  <a:pt x="0" y="0"/>
                </a:moveTo>
                <a:lnTo>
                  <a:pt x="8973089" y="0"/>
                </a:lnTo>
                <a:lnTo>
                  <a:pt x="8973089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01" r="-53692" b="-21680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1590522" y="9648825"/>
            <a:ext cx="490025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IT22502360|H.A.P.N Senadeera | R26-IT-114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2366" y="2493352"/>
            <a:ext cx="6010180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Validation Metrics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4109" y="3509285"/>
            <a:ext cx="9370050" cy="599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Accuracy Rate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How many answers the child gets correct.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Response Time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How fast the child completes memory tasks.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Task Completion Rate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How many tasks the child successfully finishes.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Error Rate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– How many mistakes occur during tasks.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Learning Improvement </a:t>
            </a: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– Improvement in performance before and after using the system.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46650" y="3509285"/>
            <a:ext cx="8341350" cy="758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collected from children’s memory game activities (accuracy, response time, errors).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Data stored securely in the system database.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Secure login and encrypted connections used to protect data.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Parent or guardian consent obtained before participation.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No sensitive personal data collected.</a:t>
            </a:r>
          </a:p>
          <a:p>
            <a:pPr marL="667374" lvl="1" indent="-333687" algn="l">
              <a:lnSpc>
                <a:spcPts val="4327"/>
              </a:lnSpc>
              <a:spcBef>
                <a:spcPct val="0"/>
              </a:spcBef>
              <a:buFont typeface="Arial"/>
              <a:buChar char="•"/>
            </a:pPr>
            <a:r>
              <a:rPr lang="en-US" sz="309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All data used only for academic research and kept confidential.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09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9946650" y="2101169"/>
            <a:ext cx="8180812" cy="1225469"/>
          </a:xfrm>
          <a:custGeom>
            <a:avLst/>
            <a:gdLst/>
            <a:ahLst/>
            <a:cxnLst/>
            <a:rect l="l" t="t" r="r" b="b"/>
            <a:pathLst>
              <a:path w="8180812" h="1225469">
                <a:moveTo>
                  <a:pt x="0" y="0"/>
                </a:moveTo>
                <a:lnTo>
                  <a:pt x="8180812" y="0"/>
                </a:lnTo>
                <a:lnTo>
                  <a:pt x="8180812" y="1225469"/>
                </a:lnTo>
                <a:lnTo>
                  <a:pt x="0" y="122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64" r="-42737" b="-119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7" name="TextBox 17"/>
          <p:cNvSpPr txBox="1"/>
          <p:nvPr/>
        </p:nvSpPr>
        <p:spPr>
          <a:xfrm>
            <a:off x="11031966" y="2044541"/>
            <a:ext cx="6010180" cy="124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Data Availability, Security, and Ethical Clearance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744427"/>
            <a:ext cx="11442626" cy="5729175"/>
          </a:xfrm>
          <a:custGeom>
            <a:avLst/>
            <a:gdLst/>
            <a:ahLst/>
            <a:cxnLst/>
            <a:rect l="l" t="t" r="r" b="b"/>
            <a:pathLst>
              <a:path w="11442626" h="5729175">
                <a:moveTo>
                  <a:pt x="0" y="0"/>
                </a:moveTo>
                <a:lnTo>
                  <a:pt x="11442626" y="0"/>
                </a:lnTo>
                <a:lnTo>
                  <a:pt x="11442626" y="5729175"/>
                </a:lnTo>
                <a:lnTo>
                  <a:pt x="0" y="572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8" b="-1681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TextBox 3"/>
          <p:cNvSpPr txBox="1"/>
          <p:nvPr/>
        </p:nvSpPr>
        <p:spPr>
          <a:xfrm>
            <a:off x="669008" y="19050"/>
            <a:ext cx="17618992" cy="119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41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SUPPORT AND IMPROVEMENT OF WORKING MEMORY SKILLS IN CHILDREN WITH WORKING MEMORY DISORDER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42626" y="1599167"/>
            <a:ext cx="6997330" cy="9065172"/>
            <a:chOff x="0" y="0"/>
            <a:chExt cx="9329773" cy="12086896"/>
          </a:xfrm>
        </p:grpSpPr>
        <p:sp>
          <p:nvSpPr>
            <p:cNvPr id="5" name="Freeform 5"/>
            <p:cNvSpPr/>
            <p:nvPr/>
          </p:nvSpPr>
          <p:spPr>
            <a:xfrm>
              <a:off x="412916" y="0"/>
              <a:ext cx="8363911" cy="11583777"/>
            </a:xfrm>
            <a:custGeom>
              <a:avLst/>
              <a:gdLst/>
              <a:ahLst/>
              <a:cxnLst/>
              <a:rect l="l" t="t" r="r" b="b"/>
              <a:pathLst>
                <a:path w="8363911" h="11583777">
                  <a:moveTo>
                    <a:pt x="0" y="0"/>
                  </a:moveTo>
                  <a:lnTo>
                    <a:pt x="8363911" y="0"/>
                  </a:lnTo>
                  <a:lnTo>
                    <a:pt x="8363911" y="11583777"/>
                  </a:lnTo>
                  <a:lnTo>
                    <a:pt x="0" y="11583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263" t="-2983" r="-44618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182329"/>
              <a:ext cx="9329773" cy="1378775"/>
            </a:xfrm>
            <a:custGeom>
              <a:avLst/>
              <a:gdLst/>
              <a:ahLst/>
              <a:cxnLst/>
              <a:rect l="l" t="t" r="r" b="b"/>
              <a:pathLst>
                <a:path w="9329773" h="1378775">
                  <a:moveTo>
                    <a:pt x="0" y="0"/>
                  </a:moveTo>
                  <a:lnTo>
                    <a:pt x="9329773" y="0"/>
                  </a:lnTo>
                  <a:lnTo>
                    <a:pt x="9329773" y="1378775"/>
                  </a:lnTo>
                  <a:lnTo>
                    <a:pt x="0" y="1378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6" r="-58555" b="-1206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3254" y="367737"/>
              <a:ext cx="8013573" cy="89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Common components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2916" y="1847679"/>
              <a:ext cx="8363911" cy="10239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Sinhala Instructions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- Provides clear voice instructions in Sinhala for all memory games.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Dashboard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- Displays child’s performance trends, progress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Adaptive Task Adjustment</a:t>
              </a:r>
            </a:p>
            <a:p>
              <a:pPr marL="725623" lvl="1" indent="-362812" algn="l">
                <a:lnSpc>
                  <a:spcPts val="47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60" b="1">
                  <a:solidFill>
                    <a:srgbClr val="00000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Notifications &amp; Reminders</a:t>
              </a:r>
              <a:r>
                <a:rPr lang="en-US" sz="3360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 – Alerts for incomplete tasks or scheduled practice sessions.</a:t>
              </a:r>
            </a:p>
            <a:p>
              <a:pPr algn="l">
                <a:lnSpc>
                  <a:spcPts val="4705"/>
                </a:lnSpc>
                <a:spcBef>
                  <a:spcPct val="0"/>
                </a:spcBef>
              </a:pPr>
              <a:endParaRPr lang="en-US" sz="336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284009" y="1735914"/>
            <a:ext cx="6997330" cy="1034081"/>
          </a:xfrm>
          <a:custGeom>
            <a:avLst/>
            <a:gdLst/>
            <a:ahLst/>
            <a:cxnLst/>
            <a:rect l="l" t="t" r="r" b="b"/>
            <a:pathLst>
              <a:path w="6997330" h="1034081">
                <a:moveTo>
                  <a:pt x="0" y="0"/>
                </a:moveTo>
                <a:lnTo>
                  <a:pt x="6997330" y="0"/>
                </a:lnTo>
                <a:lnTo>
                  <a:pt x="6997330" y="1034081"/>
                </a:lnTo>
                <a:lnTo>
                  <a:pt x="0" y="1034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06" r="-58555" b="-1206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0" name="TextBox 10"/>
          <p:cNvSpPr txBox="1"/>
          <p:nvPr/>
        </p:nvSpPr>
        <p:spPr>
          <a:xfrm>
            <a:off x="2376584" y="1844014"/>
            <a:ext cx="4514374" cy="72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System Overview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2196" y="9768442"/>
            <a:ext cx="490025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IT22502360|H.A.P.N Senadeera | R26-IT-114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4486420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6" y="0"/>
                </a:lnTo>
                <a:lnTo>
                  <a:pt x="7849806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2700000">
            <a:off x="14095973" y="-2278272"/>
            <a:ext cx="7849807" cy="7849807"/>
          </a:xfrm>
          <a:custGeom>
            <a:avLst/>
            <a:gdLst/>
            <a:ahLst/>
            <a:cxnLst/>
            <a:rect l="l" t="t" r="r" b="b"/>
            <a:pathLst>
              <a:path w="7849807" h="7849807">
                <a:moveTo>
                  <a:pt x="0" y="0"/>
                </a:moveTo>
                <a:lnTo>
                  <a:pt x="7849807" y="0"/>
                </a:lnTo>
                <a:lnTo>
                  <a:pt x="7849807" y="7849806"/>
                </a:lnTo>
                <a:lnTo>
                  <a:pt x="0" y="784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 rot="-2700000">
            <a:off x="-4262956" y="-2054808"/>
            <a:ext cx="7324698" cy="7324698"/>
            <a:chOff x="0" y="0"/>
            <a:chExt cx="2041549" cy="20415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4319438" y="-2054808"/>
            <a:ext cx="7324698" cy="7324698"/>
            <a:chOff x="0" y="0"/>
            <a:chExt cx="2041549" cy="20415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8215" y="0"/>
                  </a:moveTo>
                  <a:lnTo>
                    <a:pt x="1963334" y="0"/>
                  </a:lnTo>
                  <a:cubicBezTo>
                    <a:pt x="1984078" y="0"/>
                    <a:pt x="2003973" y="8240"/>
                    <a:pt x="2018641" y="22909"/>
                  </a:cubicBezTo>
                  <a:cubicBezTo>
                    <a:pt x="2033309" y="37577"/>
                    <a:pt x="2041549" y="57471"/>
                    <a:pt x="2041549" y="78215"/>
                  </a:cubicBezTo>
                  <a:lnTo>
                    <a:pt x="2041549" y="1963334"/>
                  </a:lnTo>
                  <a:cubicBezTo>
                    <a:pt x="2041549" y="1984078"/>
                    <a:pt x="2033309" y="2003973"/>
                    <a:pt x="2018641" y="2018641"/>
                  </a:cubicBezTo>
                  <a:cubicBezTo>
                    <a:pt x="2003973" y="2033309"/>
                    <a:pt x="1984078" y="2041549"/>
                    <a:pt x="1963334" y="2041549"/>
                  </a:cubicBezTo>
                  <a:lnTo>
                    <a:pt x="78215" y="2041549"/>
                  </a:lnTo>
                  <a:cubicBezTo>
                    <a:pt x="35018" y="2041549"/>
                    <a:pt x="0" y="2006531"/>
                    <a:pt x="0" y="1963334"/>
                  </a:cubicBezTo>
                  <a:lnTo>
                    <a:pt x="0" y="78215"/>
                  </a:lnTo>
                  <a:cubicBezTo>
                    <a:pt x="0" y="57471"/>
                    <a:pt x="8240" y="37577"/>
                    <a:pt x="22909" y="22909"/>
                  </a:cubicBezTo>
                  <a:cubicBezTo>
                    <a:pt x="37577" y="8240"/>
                    <a:pt x="57471" y="0"/>
                    <a:pt x="7821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7915" y="446762"/>
            <a:ext cx="17843872" cy="140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0"/>
              </a:lnSpc>
            </a:pPr>
            <a:r>
              <a:rPr lang="en-US" sz="4900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SMART LEARN: AN ADAPTIVE MOBILE PLATFORM FOR NEURODEVELOPMENTAL LEARNING DISORDERS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388748" y="1997021"/>
            <a:ext cx="13342205" cy="7968927"/>
            <a:chOff x="0" y="0"/>
            <a:chExt cx="17789607" cy="10625235"/>
          </a:xfrm>
        </p:grpSpPr>
        <p:sp>
          <p:nvSpPr>
            <p:cNvPr id="12" name="Freeform 12"/>
            <p:cNvSpPr/>
            <p:nvPr/>
          </p:nvSpPr>
          <p:spPr>
            <a:xfrm>
              <a:off x="0" y="365275"/>
              <a:ext cx="6649529" cy="10259960"/>
            </a:xfrm>
            <a:custGeom>
              <a:avLst/>
              <a:gdLst/>
              <a:ahLst/>
              <a:cxnLst/>
              <a:rect l="l" t="t" r="r" b="b"/>
              <a:pathLst>
                <a:path w="6649529" h="10259960">
                  <a:moveTo>
                    <a:pt x="0" y="0"/>
                  </a:moveTo>
                  <a:lnTo>
                    <a:pt x="6649529" y="0"/>
                  </a:lnTo>
                  <a:lnTo>
                    <a:pt x="6649529" y="10259960"/>
                  </a:lnTo>
                  <a:lnTo>
                    <a:pt x="0" y="1025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3" t="-18998" r="-169830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0985381" y="396215"/>
              <a:ext cx="6804226" cy="10229021"/>
            </a:xfrm>
            <a:custGeom>
              <a:avLst/>
              <a:gdLst/>
              <a:ahLst/>
              <a:cxnLst/>
              <a:rect l="l" t="t" r="r" b="b"/>
              <a:pathLst>
                <a:path w="6804226" h="10229021">
                  <a:moveTo>
                    <a:pt x="0" y="0"/>
                  </a:moveTo>
                  <a:lnTo>
                    <a:pt x="6804226" y="0"/>
                  </a:lnTo>
                  <a:lnTo>
                    <a:pt x="6804226" y="10229020"/>
                  </a:lnTo>
                  <a:lnTo>
                    <a:pt x="0" y="10229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6878" t="-19357" r="-2273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921096" y="0"/>
              <a:ext cx="7614624" cy="2160671"/>
            </a:xfrm>
            <a:custGeom>
              <a:avLst/>
              <a:gdLst/>
              <a:ahLst/>
              <a:cxnLst/>
              <a:rect l="l" t="t" r="r" b="b"/>
              <a:pathLst>
                <a:path w="7614624" h="2160671">
                  <a:moveTo>
                    <a:pt x="0" y="0"/>
                  </a:moveTo>
                  <a:lnTo>
                    <a:pt x="7614624" y="0"/>
                  </a:lnTo>
                  <a:lnTo>
                    <a:pt x="7614624" y="2160671"/>
                  </a:lnTo>
                  <a:lnTo>
                    <a:pt x="0" y="216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9778" t="-73607" r="-70728" b="-391455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474646" y="2898193"/>
              <a:ext cx="2840315" cy="6313503"/>
            </a:xfrm>
            <a:custGeom>
              <a:avLst/>
              <a:gdLst/>
              <a:ahLst/>
              <a:cxnLst/>
              <a:rect l="l" t="t" r="r" b="b"/>
              <a:pathLst>
                <a:path w="2840315" h="6313503">
                  <a:moveTo>
                    <a:pt x="0" y="0"/>
                  </a:moveTo>
                  <a:lnTo>
                    <a:pt x="2840315" y="0"/>
                  </a:lnTo>
                  <a:lnTo>
                    <a:pt x="2840315" y="6313503"/>
                  </a:lnTo>
                  <a:lnTo>
                    <a:pt x="0" y="6313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3970" t="-20712" r="-221430" b="-45863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52064" y="3477197"/>
            <a:ext cx="9026668" cy="6059151"/>
          </a:xfrm>
          <a:custGeom>
            <a:avLst/>
            <a:gdLst/>
            <a:ahLst/>
            <a:cxnLst/>
            <a:rect l="l" t="t" r="r" b="b"/>
            <a:pathLst>
              <a:path w="9026668" h="6059151">
                <a:moveTo>
                  <a:pt x="0" y="0"/>
                </a:moveTo>
                <a:lnTo>
                  <a:pt x="9026669" y="0"/>
                </a:lnTo>
                <a:lnTo>
                  <a:pt x="9026669" y="6059151"/>
                </a:lnTo>
                <a:lnTo>
                  <a:pt x="0" y="605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>
            <a:off x="470269" y="1831566"/>
            <a:ext cx="8221696" cy="5919621"/>
          </a:xfrm>
          <a:custGeom>
            <a:avLst/>
            <a:gdLst/>
            <a:ahLst/>
            <a:cxnLst/>
            <a:rect l="l" t="t" r="r" b="b"/>
            <a:pathLst>
              <a:path w="8221696" h="5919621">
                <a:moveTo>
                  <a:pt x="0" y="0"/>
                </a:moveTo>
                <a:lnTo>
                  <a:pt x="8221696" y="0"/>
                </a:lnTo>
                <a:lnTo>
                  <a:pt x="8221696" y="5919621"/>
                </a:lnTo>
                <a:lnTo>
                  <a:pt x="0" y="5919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TextBox 4"/>
          <p:cNvSpPr txBox="1"/>
          <p:nvPr/>
        </p:nvSpPr>
        <p:spPr>
          <a:xfrm>
            <a:off x="2156970" y="27583"/>
            <a:ext cx="13974059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SMART LEARN: AN ADAPTIVE MOBILE PLATFORM FOR NEURODEVELOPMENTAL LEARNING DISORDERS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6708426" y="1007040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29"/>
                </a:lnTo>
                <a:lnTo>
                  <a:pt x="0" y="1164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6377009" y="1338457"/>
            <a:ext cx="10863149" cy="10863149"/>
            <a:chOff x="0" y="0"/>
            <a:chExt cx="2041549" cy="20415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3826817" y="519180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7" name="Group 7"/>
          <p:cNvGrpSpPr/>
          <p:nvPr/>
        </p:nvGrpSpPr>
        <p:grpSpPr>
          <a:xfrm rot="-8100000">
            <a:off x="5876289" y="161638"/>
            <a:ext cx="4275519" cy="1410169"/>
            <a:chOff x="0" y="0"/>
            <a:chExt cx="1273995" cy="4201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3995" cy="420194"/>
            </a:xfrm>
            <a:custGeom>
              <a:avLst/>
              <a:gdLst/>
              <a:ahLst/>
              <a:cxnLst/>
              <a:rect l="l" t="t" r="r" b="b"/>
              <a:pathLst>
                <a:path w="1273995" h="420194">
                  <a:moveTo>
                    <a:pt x="0" y="0"/>
                  </a:moveTo>
                  <a:lnTo>
                    <a:pt x="1273995" y="0"/>
                  </a:lnTo>
                  <a:lnTo>
                    <a:pt x="1273995" y="420194"/>
                  </a:lnTo>
                  <a:lnTo>
                    <a:pt x="0" y="420194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73995" cy="467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700000">
            <a:off x="4743053" y="-287989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1" name="Group 11"/>
          <p:cNvGrpSpPr/>
          <p:nvPr/>
        </p:nvGrpSpPr>
        <p:grpSpPr>
          <a:xfrm rot="-8100000">
            <a:off x="6778257" y="-611085"/>
            <a:ext cx="4275519" cy="1369813"/>
            <a:chOff x="0" y="0"/>
            <a:chExt cx="1273995" cy="408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3995" cy="408169"/>
            </a:xfrm>
            <a:custGeom>
              <a:avLst/>
              <a:gdLst/>
              <a:ahLst/>
              <a:cxnLst/>
              <a:rect l="l" t="t" r="r" b="b"/>
              <a:pathLst>
                <a:path w="1273995" h="408169">
                  <a:moveTo>
                    <a:pt x="0" y="0"/>
                  </a:moveTo>
                  <a:lnTo>
                    <a:pt x="1273995" y="0"/>
                  </a:lnTo>
                  <a:lnTo>
                    <a:pt x="1273995" y="408169"/>
                  </a:lnTo>
                  <a:lnTo>
                    <a:pt x="0" y="408169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73995" cy="455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2700000">
            <a:off x="9562903" y="-1975037"/>
            <a:ext cx="11641929" cy="11641929"/>
          </a:xfrm>
          <a:custGeom>
            <a:avLst/>
            <a:gdLst/>
            <a:ahLst/>
            <a:cxnLst/>
            <a:rect l="l" t="t" r="r" b="b"/>
            <a:pathLst>
              <a:path w="11641929" h="11641929">
                <a:moveTo>
                  <a:pt x="0" y="0"/>
                </a:moveTo>
                <a:lnTo>
                  <a:pt x="11641929" y="0"/>
                </a:lnTo>
                <a:lnTo>
                  <a:pt x="11641929" y="11641930"/>
                </a:lnTo>
                <a:lnTo>
                  <a:pt x="0" y="11641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5" name="Group 15"/>
          <p:cNvGrpSpPr/>
          <p:nvPr/>
        </p:nvGrpSpPr>
        <p:grpSpPr>
          <a:xfrm rot="-2700000">
            <a:off x="9894321" y="-1643619"/>
            <a:ext cx="10863149" cy="10863149"/>
            <a:chOff x="0" y="0"/>
            <a:chExt cx="2041549" cy="20415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1549" cy="2041549"/>
            </a:xfrm>
            <a:custGeom>
              <a:avLst/>
              <a:gdLst/>
              <a:ahLst/>
              <a:cxnLst/>
              <a:rect l="l" t="t" r="r" b="b"/>
              <a:pathLst>
                <a:path w="2041549" h="2041549">
                  <a:moveTo>
                    <a:pt x="71268" y="0"/>
                  </a:moveTo>
                  <a:lnTo>
                    <a:pt x="1970282" y="0"/>
                  </a:lnTo>
                  <a:cubicBezTo>
                    <a:pt x="1989183" y="0"/>
                    <a:pt x="2007310" y="7509"/>
                    <a:pt x="2020675" y="20874"/>
                  </a:cubicBezTo>
                  <a:cubicBezTo>
                    <a:pt x="2034041" y="34239"/>
                    <a:pt x="2041549" y="52366"/>
                    <a:pt x="2041549" y="71268"/>
                  </a:cubicBezTo>
                  <a:lnTo>
                    <a:pt x="2041549" y="1970282"/>
                  </a:lnTo>
                  <a:cubicBezTo>
                    <a:pt x="2041549" y="2009642"/>
                    <a:pt x="2009642" y="2041549"/>
                    <a:pt x="1970282" y="2041549"/>
                  </a:cubicBezTo>
                  <a:lnTo>
                    <a:pt x="71268" y="2041549"/>
                  </a:lnTo>
                  <a:cubicBezTo>
                    <a:pt x="31908" y="2041549"/>
                    <a:pt x="0" y="2009642"/>
                    <a:pt x="0" y="1970282"/>
                  </a:cubicBezTo>
                  <a:lnTo>
                    <a:pt x="0" y="71268"/>
                  </a:lnTo>
                  <a:cubicBezTo>
                    <a:pt x="0" y="31908"/>
                    <a:pt x="31908" y="0"/>
                    <a:pt x="712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041549" cy="208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24254" y="-2913686"/>
            <a:ext cx="13403282" cy="134032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14834" y="14834"/>
              <a:ext cx="783132" cy="783132"/>
            </a:xfrm>
            <a:custGeom>
              <a:avLst/>
              <a:gdLst/>
              <a:ahLst/>
              <a:cxnLst/>
              <a:rect l="l" t="t" r="r" b="b"/>
              <a:pathLst>
                <a:path w="783132" h="783132">
                  <a:moveTo>
                    <a:pt x="416889" y="10489"/>
                  </a:moveTo>
                  <a:lnTo>
                    <a:pt x="772643" y="366243"/>
                  </a:lnTo>
                  <a:cubicBezTo>
                    <a:pt x="779359" y="372959"/>
                    <a:pt x="783132" y="382068"/>
                    <a:pt x="783132" y="391566"/>
                  </a:cubicBezTo>
                  <a:cubicBezTo>
                    <a:pt x="783132" y="401064"/>
                    <a:pt x="779359" y="410173"/>
                    <a:pt x="772643" y="416889"/>
                  </a:cubicBezTo>
                  <a:lnTo>
                    <a:pt x="416889" y="772643"/>
                  </a:lnTo>
                  <a:cubicBezTo>
                    <a:pt x="410173" y="779359"/>
                    <a:pt x="401064" y="783132"/>
                    <a:pt x="391566" y="783132"/>
                  </a:cubicBezTo>
                  <a:cubicBezTo>
                    <a:pt x="382068" y="783132"/>
                    <a:pt x="372959" y="779359"/>
                    <a:pt x="366243" y="772643"/>
                  </a:cubicBezTo>
                  <a:lnTo>
                    <a:pt x="10489" y="416889"/>
                  </a:lnTo>
                  <a:cubicBezTo>
                    <a:pt x="3773" y="410173"/>
                    <a:pt x="0" y="401064"/>
                    <a:pt x="0" y="391566"/>
                  </a:cubicBezTo>
                  <a:cubicBezTo>
                    <a:pt x="0" y="382068"/>
                    <a:pt x="3773" y="372959"/>
                    <a:pt x="10489" y="366243"/>
                  </a:cubicBezTo>
                  <a:lnTo>
                    <a:pt x="366243" y="10489"/>
                  </a:lnTo>
                  <a:cubicBezTo>
                    <a:pt x="372959" y="3773"/>
                    <a:pt x="382068" y="0"/>
                    <a:pt x="391566" y="0"/>
                  </a:cubicBezTo>
                  <a:cubicBezTo>
                    <a:pt x="401064" y="0"/>
                    <a:pt x="410173" y="3773"/>
                    <a:pt x="416889" y="10489"/>
                  </a:cubicBezTo>
                  <a:close/>
                </a:path>
              </a:pathLst>
            </a:custGeom>
            <a:blipFill>
              <a:blip r:embed="rId4"/>
              <a:stretch>
                <a:fillRect l="-22082" t="-3974" r="-36719" b="-1894"/>
              </a:stretch>
            </a:blipFill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0" name="Freeform 20"/>
          <p:cNvSpPr/>
          <p:nvPr/>
        </p:nvSpPr>
        <p:spPr>
          <a:xfrm rot="8100000">
            <a:off x="7965362" y="10637768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7" y="0"/>
                </a:lnTo>
                <a:lnTo>
                  <a:pt x="5636927" y="605969"/>
                </a:lnTo>
                <a:lnTo>
                  <a:pt x="0" y="60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1" name="Group 21"/>
          <p:cNvGrpSpPr/>
          <p:nvPr/>
        </p:nvGrpSpPr>
        <p:grpSpPr>
          <a:xfrm rot="-2700000">
            <a:off x="10719628" y="6615897"/>
            <a:ext cx="10211745" cy="2440924"/>
            <a:chOff x="0" y="0"/>
            <a:chExt cx="3042837" cy="7273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42837" cy="727333"/>
            </a:xfrm>
            <a:custGeom>
              <a:avLst/>
              <a:gdLst/>
              <a:ahLst/>
              <a:cxnLst/>
              <a:rect l="l" t="t" r="r" b="b"/>
              <a:pathLst>
                <a:path w="3042837" h="727333">
                  <a:moveTo>
                    <a:pt x="0" y="0"/>
                  </a:moveTo>
                  <a:lnTo>
                    <a:pt x="3042837" y="0"/>
                  </a:lnTo>
                  <a:lnTo>
                    <a:pt x="3042837" y="727333"/>
                  </a:lnTo>
                  <a:lnTo>
                    <a:pt x="0" y="727333"/>
                  </a:lnTo>
                  <a:close/>
                </a:path>
              </a:pathLst>
            </a:custGeom>
            <a:solidFill>
              <a:srgbClr val="16599D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042837" cy="774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rot="8100000">
            <a:off x="13721104" y="8138017"/>
            <a:ext cx="5636927" cy="605970"/>
          </a:xfrm>
          <a:custGeom>
            <a:avLst/>
            <a:gdLst/>
            <a:ahLst/>
            <a:cxnLst/>
            <a:rect l="l" t="t" r="r" b="b"/>
            <a:pathLst>
              <a:path w="5636927" h="605970">
                <a:moveTo>
                  <a:pt x="0" y="0"/>
                </a:moveTo>
                <a:lnTo>
                  <a:pt x="5636926" y="0"/>
                </a:lnTo>
                <a:lnTo>
                  <a:pt x="5636926" y="605970"/>
                </a:lnTo>
                <a:lnTo>
                  <a:pt x="0" y="605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5" name="Group 25"/>
          <p:cNvGrpSpPr/>
          <p:nvPr/>
        </p:nvGrpSpPr>
        <p:grpSpPr>
          <a:xfrm rot="-2700000">
            <a:off x="14773604" y="8138004"/>
            <a:ext cx="5641848" cy="2550578"/>
            <a:chOff x="0" y="0"/>
            <a:chExt cx="1681125" cy="7600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81125" cy="760006"/>
            </a:xfrm>
            <a:custGeom>
              <a:avLst/>
              <a:gdLst/>
              <a:ahLst/>
              <a:cxnLst/>
              <a:rect l="l" t="t" r="r" b="b"/>
              <a:pathLst>
                <a:path w="1681125" h="760006">
                  <a:moveTo>
                    <a:pt x="0" y="0"/>
                  </a:moveTo>
                  <a:lnTo>
                    <a:pt x="1681125" y="0"/>
                  </a:lnTo>
                  <a:lnTo>
                    <a:pt x="1681125" y="760006"/>
                  </a:lnTo>
                  <a:lnTo>
                    <a:pt x="0" y="760006"/>
                  </a:ln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681125" cy="807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1028700" y="5772330"/>
            <a:ext cx="934250" cy="106173"/>
            <a:chOff x="0" y="0"/>
            <a:chExt cx="278383" cy="316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8383" cy="31637"/>
            </a:xfrm>
            <a:custGeom>
              <a:avLst/>
              <a:gdLst/>
              <a:ahLst/>
              <a:cxnLst/>
              <a:rect l="l" t="t" r="r" b="b"/>
              <a:pathLst>
                <a:path w="278383" h="31637">
                  <a:moveTo>
                    <a:pt x="15818" y="0"/>
                  </a:moveTo>
                  <a:lnTo>
                    <a:pt x="262564" y="0"/>
                  </a:lnTo>
                  <a:cubicBezTo>
                    <a:pt x="266759" y="0"/>
                    <a:pt x="270783" y="1667"/>
                    <a:pt x="273749" y="4633"/>
                  </a:cubicBezTo>
                  <a:cubicBezTo>
                    <a:pt x="276716" y="7600"/>
                    <a:pt x="278383" y="11623"/>
                    <a:pt x="278383" y="15818"/>
                  </a:cubicBezTo>
                  <a:lnTo>
                    <a:pt x="278383" y="15818"/>
                  </a:lnTo>
                  <a:cubicBezTo>
                    <a:pt x="278383" y="24555"/>
                    <a:pt x="271300" y="31637"/>
                    <a:pt x="262564" y="31637"/>
                  </a:cubicBezTo>
                  <a:lnTo>
                    <a:pt x="15818" y="31637"/>
                  </a:lnTo>
                  <a:cubicBezTo>
                    <a:pt x="11623" y="31637"/>
                    <a:pt x="7600" y="29970"/>
                    <a:pt x="4633" y="27004"/>
                  </a:cubicBezTo>
                  <a:cubicBezTo>
                    <a:pt x="1667" y="24037"/>
                    <a:pt x="0" y="20014"/>
                    <a:pt x="0" y="15818"/>
                  </a:cubicBezTo>
                  <a:lnTo>
                    <a:pt x="0" y="15818"/>
                  </a:lnTo>
                  <a:cubicBezTo>
                    <a:pt x="0" y="11623"/>
                    <a:pt x="1667" y="7600"/>
                    <a:pt x="4633" y="4633"/>
                  </a:cubicBezTo>
                  <a:cubicBezTo>
                    <a:pt x="7600" y="1667"/>
                    <a:pt x="11623" y="0"/>
                    <a:pt x="15818" y="0"/>
                  </a:cubicBezTo>
                  <a:close/>
                </a:path>
              </a:pathLst>
            </a:custGeom>
            <a:solidFill>
              <a:srgbClr val="2978C8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78383" cy="7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2058200" y="5772330"/>
            <a:ext cx="312889" cy="106173"/>
            <a:chOff x="0" y="0"/>
            <a:chExt cx="93233" cy="316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233" cy="31637"/>
            </a:xfrm>
            <a:custGeom>
              <a:avLst/>
              <a:gdLst/>
              <a:ahLst/>
              <a:cxnLst/>
              <a:rect l="l" t="t" r="r" b="b"/>
              <a:pathLst>
                <a:path w="93233" h="31637">
                  <a:moveTo>
                    <a:pt x="15818" y="0"/>
                  </a:moveTo>
                  <a:lnTo>
                    <a:pt x="77415" y="0"/>
                  </a:lnTo>
                  <a:cubicBezTo>
                    <a:pt x="86151" y="0"/>
                    <a:pt x="93233" y="7082"/>
                    <a:pt x="93233" y="15818"/>
                  </a:cubicBezTo>
                  <a:lnTo>
                    <a:pt x="93233" y="15818"/>
                  </a:lnTo>
                  <a:cubicBezTo>
                    <a:pt x="93233" y="20014"/>
                    <a:pt x="91566" y="24037"/>
                    <a:pt x="88600" y="27004"/>
                  </a:cubicBezTo>
                  <a:cubicBezTo>
                    <a:pt x="85633" y="29970"/>
                    <a:pt x="81610" y="31637"/>
                    <a:pt x="77415" y="31637"/>
                  </a:cubicBezTo>
                  <a:lnTo>
                    <a:pt x="15818" y="31637"/>
                  </a:lnTo>
                  <a:cubicBezTo>
                    <a:pt x="11623" y="31637"/>
                    <a:pt x="7600" y="29970"/>
                    <a:pt x="4633" y="27004"/>
                  </a:cubicBezTo>
                  <a:cubicBezTo>
                    <a:pt x="1667" y="24037"/>
                    <a:pt x="0" y="20014"/>
                    <a:pt x="0" y="15818"/>
                  </a:cubicBezTo>
                  <a:lnTo>
                    <a:pt x="0" y="15818"/>
                  </a:lnTo>
                  <a:cubicBezTo>
                    <a:pt x="0" y="11623"/>
                    <a:pt x="1667" y="7600"/>
                    <a:pt x="4633" y="4633"/>
                  </a:cubicBezTo>
                  <a:cubicBezTo>
                    <a:pt x="7600" y="1667"/>
                    <a:pt x="11623" y="0"/>
                    <a:pt x="15818" y="0"/>
                  </a:cubicBezTo>
                  <a:close/>
                </a:path>
              </a:pathLst>
            </a:custGeom>
            <a:solidFill>
              <a:srgbClr val="292A2B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3233" cy="79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67995" y="3922128"/>
            <a:ext cx="9856281" cy="13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499" b="1">
                <a:solidFill>
                  <a:srgbClr val="16599D"/>
                </a:solidFill>
                <a:latin typeface="Helios Bold"/>
                <a:ea typeface="Helios Bold"/>
                <a:cs typeface="Helios Bold"/>
                <a:sym typeface="Helios Bold"/>
              </a:rPr>
              <a:t>THANK YOU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67995" y="726914"/>
            <a:ext cx="4367092" cy="1290206"/>
            <a:chOff x="0" y="0"/>
            <a:chExt cx="5822789" cy="1720274"/>
          </a:xfrm>
        </p:grpSpPr>
        <p:sp>
          <p:nvSpPr>
            <p:cNvPr id="36" name="Freeform 36"/>
            <p:cNvSpPr/>
            <p:nvPr/>
          </p:nvSpPr>
          <p:spPr>
            <a:xfrm rot="150000">
              <a:off x="186" y="1451"/>
              <a:ext cx="1719902" cy="1717372"/>
            </a:xfrm>
            <a:custGeom>
              <a:avLst/>
              <a:gdLst/>
              <a:ahLst/>
              <a:cxnLst/>
              <a:rect l="l" t="t" r="r" b="b"/>
              <a:pathLst>
                <a:path w="1719902" h="1717372">
                  <a:moveTo>
                    <a:pt x="0" y="881720"/>
                  </a:moveTo>
                  <a:lnTo>
                    <a:pt x="807948" y="0"/>
                  </a:lnTo>
                  <a:lnTo>
                    <a:pt x="1719902" y="835652"/>
                  </a:lnTo>
                  <a:lnTo>
                    <a:pt x="911955" y="1717372"/>
                  </a:lnTo>
                  <a:lnTo>
                    <a:pt x="0" y="881720"/>
                  </a:lnTo>
                  <a:close/>
                </a:path>
              </a:pathLst>
            </a:custGeom>
            <a:blipFill>
              <a:blip r:embed="rId5"/>
              <a:stretch>
                <a:fillRect l="-34648" t="-18859" r="-37863" b="-53907"/>
              </a:stretch>
            </a:blipFill>
          </p:spPr>
          <p:txBody>
            <a:bodyPr/>
            <a:lstStyle/>
            <a:p>
              <a:endParaRPr lang="en-LK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55174" y="641432"/>
              <a:ext cx="4267615" cy="578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Gram Bold"/>
                  <a:ea typeface="Gram Bold"/>
                  <a:cs typeface="Gram Bold"/>
                  <a:sym typeface="Gram Bold"/>
                </a:rPr>
                <a:t>SMART LEARN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2E9A276-F240-4F8F-9C7B-77D4FBCED808}"/>
</file>

<file path=customXml/itemProps2.xml><?xml version="1.0" encoding="utf-8"?>
<ds:datastoreItem xmlns:ds="http://schemas.openxmlformats.org/officeDocument/2006/customXml" ds:itemID="{99E85372-E997-45CA-96CB-8E267326DC89}"/>
</file>

<file path=customXml/itemProps3.xml><?xml version="1.0" encoding="utf-8"?>
<ds:datastoreItem xmlns:ds="http://schemas.openxmlformats.org/officeDocument/2006/customXml" ds:itemID="{42889413-64AA-4919-9101-827BFEA7354C}"/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2701</Words>
  <Application>Microsoft Office PowerPoint</Application>
  <PresentationFormat>Custom</PresentationFormat>
  <Paragraphs>351</Paragraphs>
  <Slides>31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Helios Bold</vt:lpstr>
      <vt:lpstr>Helios</vt:lpstr>
      <vt:lpstr>Calibri</vt:lpstr>
      <vt:lpstr>Arial</vt:lpstr>
      <vt:lpstr>Gram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Learn: An Adaptive Mobile Platform for Neurodevelopmental Learning Disorders</dc:title>
  <dc:creator>DILKI</dc:creator>
  <cp:lastModifiedBy>dilki prabodya</cp:lastModifiedBy>
  <cp:revision>8</cp:revision>
  <dcterms:created xsi:type="dcterms:W3CDTF">2006-08-16T00:00:00Z</dcterms:created>
  <dcterms:modified xsi:type="dcterms:W3CDTF">2026-03-16T04:17:35Z</dcterms:modified>
  <dc:identifier>DAHD_RnTt_U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